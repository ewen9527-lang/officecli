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914400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1280160" cy="6858000"/>
          </a:xfrm>
          <a:prstGeom prst="rect">
            <a:avLst/>
          </a:prstGeom>
          <a:solidFill>
            <a:srgbClr val="274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822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26春 · 七年级英语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L16  词汇综合⑤ + 完形填空 + 听力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CFDDF2"/>
                </a:solidFill>
                <a:latin typeface="微软雅黑"/>
                <a:ea typeface="微软雅黑"/>
                <a:cs typeface="微软雅黑"/>
              </a:rPr>
              <a:t>How+动词 · 频度副词 · 情态动词 · 感官动词 · 完形(记叙文) · 听力(表格填词)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FB5D5"/>
                </a:solidFill>
                <a:latin typeface="微软雅黑"/>
                <a:ea typeface="微软雅黑"/>
                <a:cs typeface="微软雅黑"/>
              </a:rPr>
              <a:t>主讲老师:________        正式课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 / 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今天我们学什么?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137160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0876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Words &amp; Expressions——How+动词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How系列8兄弟 / 频度副词 / 情态动词 / 感官系动词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期末占比 ★★★★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8046720" cy="137160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0896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Cloze——完形填空(记叙文)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认知词汇 + 解题步骤『看·定·读』+ 真题精讲10空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期末占比 ★★★★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8046720" cy="137160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50292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70916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Listening——听力(表格填词)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听前预测法:看表头 → 猜词性 → 预写首字母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期末占比 ★★★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课前热身 · 上讲回顾快问快答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8138160" cy="566928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Q1  100万 / 数百万的人,英语怎么说?</a:t>
            </a:r>
          </a:p>
        </p:txBody>
      </p:sp>
      <p:sp>
        <p:nvSpPr>
          <p:cNvPr id="7" name="click1|fade"/>
          <p:cNvSpPr/>
          <p:nvPr/>
        </p:nvSpPr>
        <p:spPr>
          <a:xfrm>
            <a:off x="1005840" y="2057400"/>
            <a:ext cx="7635240" cy="50292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one 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million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millions of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people(口诀:有数不加s,无数s+of)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15768"/>
            <a:ext cx="8138160" cy="566928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Q2  not only...but also 连接两个主语,谓语和谁一致?</a:t>
            </a:r>
          </a:p>
        </p:txBody>
      </p:sp>
      <p:sp>
        <p:nvSpPr>
          <p:cNvPr id="9" name="click2|fade"/>
          <p:cNvSpPr/>
          <p:nvPr/>
        </p:nvSpPr>
        <p:spPr>
          <a:xfrm>
            <a:off x="1005840" y="3355848"/>
            <a:ext cx="7635240" cy="50292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就近原则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——和靠近谓语的那个主语一致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Q3  『六班』和『三楼』分别用基数词还是序数词?</a:t>
            </a:r>
          </a:p>
        </p:txBody>
      </p:sp>
      <p:sp>
        <p:nvSpPr>
          <p:cNvPr id="11" name="click3|fade"/>
          <p:cNvSpPr/>
          <p:nvPr/>
        </p:nvSpPr>
        <p:spPr>
          <a:xfrm>
            <a:off x="1005840" y="4654296"/>
            <a:ext cx="7635240" cy="50292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编号用基数词 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Class Six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;楼层用序数词 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the third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58384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⏱ 抢答规则:每题10秒,答对+10分!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基础夯实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天津期中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—Excuse me, where is Class ___, Grade Seven?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—It's on the ___ floor.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Six; third</a:t>
            </a:r>
          </a:p>
        </p:txBody>
      </p:sp>
      <p:sp>
        <p:nvSpPr>
          <p:cNvPr id="9" name="click1|fade"/>
          <p:cNvSpPr/>
          <p:nvPr/>
        </p:nvSpPr>
        <p:spPr>
          <a:xfrm>
            <a:off x="512064" y="245059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click1|fade"/>
          <p:cNvSpPr/>
          <p:nvPr/>
        </p:nvSpPr>
        <p:spPr>
          <a:xfrm>
            <a:off x="3977640" y="253288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Sixth; three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Six; three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Sixth; third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82219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A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编号用基数词(Class Six);楼层顺序用序数词(the third floor)。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基数词 vs 序数词:编号 ≠ 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编号</a:t>
            </a:r>
            <a:r>
              <a:rPr sz="18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(第几号,跟在名词后)→ 用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基数词</a:t>
            </a:r>
            <a:r>
              <a:rPr sz="18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;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顺序</a:t>
            </a:r>
            <a:r>
              <a:rPr sz="18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(第几个,带 the)→ 用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序数词</a:t>
            </a:r>
            <a:r>
              <a:rPr sz="18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9928.0"/>
          <a:ext cx="84124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6576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用法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编号(基数词)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名词 + 基数词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Class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Six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Room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301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Lesson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顺序(序数词)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 + 序数词 + 名词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third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floor / the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first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lesson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493008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巧记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名词在前用基数(Class Six);the 打头用序数(the sixth class)。两种说法意思相同!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基础夯实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课后作业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There are about ten ___ people in the city, and ___ of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kilograms of vegetables are needed every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millions; million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million; million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millions; millions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million; millions</a:t>
            </a:r>
          </a:p>
        </p:txBody>
      </p:sp>
      <p:sp>
        <p:nvSpPr>
          <p:cNvPr id="12" name="click1|fade"/>
          <p:cNvSpPr/>
          <p:nvPr/>
        </p:nvSpPr>
        <p:spPr>
          <a:xfrm>
            <a:off x="4672584" y="3236976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3" name="click1|fade"/>
          <p:cNvSpPr/>
          <p:nvPr/>
        </p:nvSpPr>
        <p:spPr>
          <a:xfrm>
            <a:off x="8138160" y="3319272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D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数词+million 不加 s(ten million);millions of+名词复数。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口诀:有数不加s,无数 s+of。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million 的两副面孔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①  数词 +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million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(不加s):ten million people 一千万人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② 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millions of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+ 复数名词(无具体数字):millions of kilograms 数百万千克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9736"/>
            <a:ext cx="8229600" cy="12344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口诀(跟我读三遍!)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有数不加 s,无数 s + of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hundred / thousand / million / billion 全家通用!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136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✏ 快练:三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hundred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students /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thousands of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trees(数千棵树)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基础夯实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___ Jake ___ his mother likes pop songs, and they often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sing them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Not only; but also</a:t>
            </a:r>
          </a:p>
        </p:txBody>
      </p:sp>
      <p:sp>
        <p:nvSpPr>
          <p:cNvPr id="9" name="click1|fade"/>
          <p:cNvSpPr/>
          <p:nvPr/>
        </p:nvSpPr>
        <p:spPr>
          <a:xfrm>
            <a:off x="512064" y="258775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click1|fade"/>
          <p:cNvSpPr/>
          <p:nvPr/>
        </p:nvSpPr>
        <p:spPr>
          <a:xfrm>
            <a:off x="3977640" y="267004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Neither; nor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Both; 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Either; or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A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not only...but also 谓语遵循就近原则:likes 与 his mother 一致;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后文 sing together 说明两人都喜欢 → Neither...nor(都不)语义不符;Both...and 谓语用复数 like。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8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not only...but also 就近原则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229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Not only Jake but also his mother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likes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pop songs.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(谓语就近:跟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his mother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保持一致)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74520.0"/>
          <a:ext cx="8412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谓语原则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本题验证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not only A but also 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就近(跟B)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likes ✓ 语义:两人都喜欢 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neither A nor B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就近(跟B)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语义✗:后文 sing together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both A and 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 like,与 likes 矛盾 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 A or B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就近(跟B)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语义✗:不是二选一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29768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记忆锦囊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就近原则四兄弟:not only...but also / neither...nor / either...or / or——谁靠近谓语听谁的!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228600" cy="32004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Words &amp; Expressions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FDDF2"/>
                </a:solidFill>
                <a:latin typeface="微软雅黑"/>
                <a:ea typeface="微软雅黑"/>
                <a:cs typeface="微软雅黑"/>
              </a:rPr>
              <a:t>词汇综合⑤——How + 动词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How 系列 8 兄弟一网打尽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频度副词温度计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情态动词 must / have to / need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感官系动词 + adj.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家族思维导图(8兄弟)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29184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疑问词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问什么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答语关键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方式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By bike. / On foot.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many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数量(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可数复数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Twenty (cups).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much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数量(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不可数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)/ 价格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little. / 50 yuan.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old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年龄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Thirteen (years old).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long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时间长度 / 物体长度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 two weeks. / 2 meters.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soon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多久以后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(将来)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an hour.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often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频率(多久一次)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Twice a week. / always...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far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距离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Ten kilometers (away).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/ how many / how much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—— 方式『怎么样』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do you go to school?    —By bike. 骑车。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many + 可数名词复数 —— 多少(个)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many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apples do you want?    —Five.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02152"/>
            <a:ext cx="8229600" cy="1316736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much + 不可数名词 —— 多少;还问价格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much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milk is there?    —A little.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much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is the T-shirt?    —It's 50 yuan.(价格)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469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⚠ 易错:paper cups 可数复数→how many;juice/milk/bread 不可数→how much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old / how long / how soon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old —— 年龄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old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is your grandpa?    —He is seventy.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316736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long —— 多长(时间段/物体长度)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long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did you stay there?    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For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two weeks.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long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is the river?    —About 500 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13048"/>
            <a:ext cx="8229600" cy="1316736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soon —— 多久以后(将来时)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soon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will he be back?    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In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an hour.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标志:will / be going to +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in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一段时间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often / how far + 三兄弟大比拼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often —— 频率(多久一次)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often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do you exercise?    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Twice a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far —— 距离(多远)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far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is it from home to school?    —Ten kilometers.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47872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易混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问什么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答语标志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long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持续多长时间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时间段 / two weeks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soon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多久以后(将来)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时间段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often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多久一次(频率)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twice a week / always / often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How 家族 60 秒 · 抢答!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① 问书包多少钱</a:t>
            </a:r>
          </a:p>
        </p:txBody>
      </p:sp>
      <p:sp>
        <p:nvSpPr>
          <p:cNvPr id="7" name="click1|fade"/>
          <p:cNvSpPr/>
          <p:nvPr/>
        </p:nvSpPr>
        <p:spPr>
          <a:xfrm>
            <a:off x="2606040" y="19659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much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463040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② 问家到学校多远</a:t>
            </a:r>
          </a:p>
        </p:txBody>
      </p:sp>
      <p:sp>
        <p:nvSpPr>
          <p:cNvPr id="9" name="click1|fade"/>
          <p:cNvSpPr/>
          <p:nvPr/>
        </p:nvSpPr>
        <p:spPr>
          <a:xfrm>
            <a:off x="6812280" y="19659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far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③ 问他多久以后回来</a:t>
            </a:r>
          </a:p>
        </p:txBody>
      </p:sp>
      <p:sp>
        <p:nvSpPr>
          <p:cNvPr id="11" name="click2|fade"/>
          <p:cNvSpPr/>
          <p:nvPr/>
        </p:nvSpPr>
        <p:spPr>
          <a:xfrm>
            <a:off x="2606040" y="33375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834640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④ 问多久锻炼一次</a:t>
            </a:r>
          </a:p>
        </p:txBody>
      </p:sp>
      <p:sp>
        <p:nvSpPr>
          <p:cNvPr id="13" name="click2|fade"/>
          <p:cNvSpPr/>
          <p:nvPr/>
        </p:nvSpPr>
        <p:spPr>
          <a:xfrm>
            <a:off x="6812280" y="33375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often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⑤ 问在北京待了多久</a:t>
            </a:r>
          </a:p>
        </p:txBody>
      </p:sp>
      <p:sp>
        <p:nvSpPr>
          <p:cNvPr id="15" name="click3|fade"/>
          <p:cNvSpPr/>
          <p:nvPr/>
        </p:nvSpPr>
        <p:spPr>
          <a:xfrm>
            <a:off x="2606040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long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206240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⑥ 问班里有几个学生</a:t>
            </a:r>
          </a:p>
        </p:txBody>
      </p:sp>
      <p:sp>
        <p:nvSpPr>
          <p:cNvPr id="17" name="click3|fade"/>
          <p:cNvSpPr/>
          <p:nvPr/>
        </p:nvSpPr>
        <p:spPr>
          <a:xfrm>
            <a:off x="6812280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⏱ 60秒倒计时:每答对一个+10分,连对3个翻倍!(单击逐行翻牌)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15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云南期中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—___ paper cups do we need for the party?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—Twenty. And ___ juice do we need?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How many; how much</a:t>
            </a:r>
          </a:p>
        </p:txBody>
      </p:sp>
      <p:sp>
        <p:nvSpPr>
          <p:cNvPr id="9" name="click1|fade"/>
          <p:cNvSpPr/>
          <p:nvPr/>
        </p:nvSpPr>
        <p:spPr>
          <a:xfrm>
            <a:off x="512064" y="258775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click1|fade"/>
          <p:cNvSpPr/>
          <p:nvPr/>
        </p:nvSpPr>
        <p:spPr>
          <a:xfrm>
            <a:off x="3977640" y="267004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How much; how many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How many; how many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How much; how much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A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paper cups 可数名词复数 → how many;juice 不可数 → how much。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16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考点① how many vs how much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考点①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many + 可数名词复数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;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much + 不可数名词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(还可问价格)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6829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party 情境复盘: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734056.0"/>
          <a:ext cx="8229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4747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物品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可数?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提问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paper cups 纸杯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可数(复数)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many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paper cups...?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juice 果汁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不可数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much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juice...?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37997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一句话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数得清用 many,数不清用 much!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He spent 50 yuan on this book.(对</a:t>
            </a:r>
            <a:r>
              <a:rPr sz="19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划线部分</a:t>
            </a: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提问)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       ‾‾‾‾‾‾‾</a:t>
            </a:r>
          </a:p>
        </p:txBody>
      </p:sp>
      <p:sp>
        <p:nvSpPr>
          <p:cNvPr id="8" name="click1|fade"/>
          <p:cNvSpPr/>
          <p:nvPr/>
        </p:nvSpPr>
        <p:spPr>
          <a:xfrm>
            <a:off x="548640" y="2532888"/>
            <a:ext cx="804672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2540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答案  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much</a:t>
            </a:r>
            <a:r>
              <a:rPr sz="18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 did he spend on this book?</a:t>
            </a:r>
          </a:p>
        </p:txBody>
      </p:sp>
      <p:sp>
        <p:nvSpPr>
          <p:cNvPr id="9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划线 50 yuan 是价格 → how much;一般过去时还原 did + spend 原形;搭配 spend...on...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18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考点② 价格提问三步走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考点②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much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提问价格;一般过去时疑问句: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did + 动词原形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;搭配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spend...on...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19" y="2368296"/>
          <a:ext cx="8595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80"/>
                <a:gridCol w="38404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定疑问词(50 yuan=价格)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much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第2步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借助动词(过去时)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much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did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he...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第3步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动词还原(spent→spend)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much did he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spend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on this book?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51713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对划线提问口诀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一代(疑问词)二提(助动词)三还原,句尾问号别忘记!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江苏期中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—___ is it from your school to the city library?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—About 15 minutes' ride.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How long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How often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How soon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How far</a:t>
            </a:r>
          </a:p>
        </p:txBody>
      </p:sp>
      <p:sp>
        <p:nvSpPr>
          <p:cNvPr id="12" name="click1|fade"/>
          <p:cNvSpPr/>
          <p:nvPr/>
        </p:nvSpPr>
        <p:spPr>
          <a:xfrm>
            <a:off x="4672584" y="3236976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3" name="click1|fade"/>
          <p:cNvSpPr/>
          <p:nvPr/>
        </p:nvSpPr>
        <p:spPr>
          <a:xfrm>
            <a:off x="8138160" y="3319272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D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from...to... 问两地距离 → how far;答语可以是『时间+ride/walk』(约15分钟车程)。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20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考点③ how far:距离的两种答法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考点③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far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问距离;答语既可用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长度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,也可用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时间 + ride / 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316736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两种标准答语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① It's about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two kilometers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(away).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② It's about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15 minutes' ride / walk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.(15分钟车程/步行)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13048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⚠ 干扰项打叉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看到 15 minutes 就选 How long?✗——问的是 from...to... 两地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距离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,不是做某事持续多久!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—___ do you do sports?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—I ___ play basketball after school, almost every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How long; usually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How often; always</a:t>
            </a:r>
          </a:p>
        </p:txBody>
      </p:sp>
      <p:sp>
        <p:nvSpPr>
          <p:cNvPr id="10" name="click1|fade"/>
          <p:cNvSpPr/>
          <p:nvPr/>
        </p:nvSpPr>
        <p:spPr>
          <a:xfrm>
            <a:off x="4672584" y="258775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1" name="click1|fade"/>
          <p:cNvSpPr/>
          <p:nvPr/>
        </p:nvSpPr>
        <p:spPr>
          <a:xfrm>
            <a:off x="8138160" y="267004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How soon; always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How often; never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B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问频率 → how often;almost every day(几乎每天)→ 频度最高的 always。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22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考点④ how often + 频度副词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考点④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often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问频率,答语常用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频度副词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或 once / twice a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6829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本题逻辑链:almost every day(几乎每天)→ 频率接近100% → </a:t>
            </a: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always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34056"/>
            <a:ext cx="8229600" cy="1316736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频度副词是谁?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always / usually / often / sometimes / seldom / hardly ever / never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——它们的『温度』各是多少?下一页见!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频度副词温度计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07592"/>
            <a:ext cx="6583680" cy="502920"/>
          </a:xfrm>
          <a:prstGeom prst="roundRect">
            <a:avLst>
              <a:gd name="adj" fmla="val 12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always</a:t>
            </a: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总是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6245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56816"/>
            <a:ext cx="5925312" cy="502920"/>
          </a:xfrm>
          <a:prstGeom prst="roundRect">
            <a:avLst>
              <a:gd name="adj" fmla="val 12000"/>
            </a:avLst>
          </a:prstGeom>
          <a:solidFill>
            <a:srgbClr val="FF8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usually</a:t>
            </a: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通常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11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5266944" cy="502920"/>
          </a:xfrm>
          <a:prstGeom prst="roundRect">
            <a:avLst>
              <a:gd name="adj" fmla="val 12000"/>
            </a:avLst>
          </a:prstGeom>
          <a:solidFill>
            <a:srgbClr val="FF9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often</a:t>
            </a: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经常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6090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55264"/>
            <a:ext cx="4608576" cy="502920"/>
          </a:xfrm>
          <a:prstGeom prst="roundRect">
            <a:avLst>
              <a:gd name="adj" fmla="val 12000"/>
            </a:avLst>
          </a:prstGeom>
          <a:solidFill>
            <a:srgbClr val="FF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sometimes</a:t>
            </a: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有时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3101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40%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04488"/>
            <a:ext cx="3950208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seldom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很少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959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53712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hardly ever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几乎不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60857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02936"/>
            <a:ext cx="2633472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never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从不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2578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频度副词的位置 + 频率排排队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位置口诀:</a:t>
            </a:r>
            <a:r>
              <a:rPr sz="22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be 动词后,实义动词前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He </a:t>
            </a: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is always</a:t>
            </a: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late.  /  She </a:t>
            </a: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usually gets</a:t>
            </a: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up at six.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🎮 频率排排队:把打乱的7个词按频率从高到低排序!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sometimes / never / always / often / seldom / usually / hardly ever</a:t>
            </a:r>
          </a:p>
        </p:txBody>
      </p:sp>
      <p:sp>
        <p:nvSpPr>
          <p:cNvPr id="8" name="click1|fade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2540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always &gt; usually &gt; often &gt; sometimes &gt; seldom &gt; hardly ever &gt; never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25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228600" cy="32004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Part 1 · 小节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Modal Verbs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FDDF2"/>
                </a:solidFill>
                <a:latin typeface="微软雅黑"/>
                <a:ea typeface="微软雅黑"/>
                <a:cs typeface="微软雅黑"/>
              </a:rPr>
              <a:t>情态动词——期末高频考点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基础规则三板斧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can / may / must / need / should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must 疑问句的回答(高频!)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need 的双重身份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情态动词基础规则『三板斧』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① 陈述句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主语 +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情态动词 + 动词原形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:He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can swim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② 否定句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情态动词后 +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not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:He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can't(cannot)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swim.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02152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③ 一般疑问句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情态动词提到句首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: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Can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he swim?  —Yes, he can. / No, he can't.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⚠ 情态动词没有人称和数的变化:She 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can</a:t>
            </a:r>
            <a:r>
              <a:rPr sz="1500" b="0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 dance.(不是 cans!)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情态动词家族卡片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84124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8404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情态动词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例句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 / could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能,会;(could更委婉)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swim. /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Could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you help me?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may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可以(许可);可能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May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I come in? / It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may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rain.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必须(主观)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You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must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finish it.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have to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不得不(客观)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has to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stay at home.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You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need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to clean the room.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should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应该(建议)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should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keep quiet.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must 一般疑问句的回答(★期末必考)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316736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肯定回答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 finish my homework now?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—Yes, you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79192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否定回答(两种都对)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—No, you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needn't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.  =  No, you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don't have to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.(不必)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1304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⚠ 红色警报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mustn't = 禁止,不许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(Don't!)≠ needn't(不必)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Must I...? 否定回答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绝不能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 No, you mustn't.(答非所问)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need 的双重身份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身份① 情态动词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need +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动词原形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否定:need not(needn't) + V原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例:You 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needn't come</a:t>
            </a: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early.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(多用于否定句、疑问句)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身份② 实义动词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need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to do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sth.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否定: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don't / doesn't need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to do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例:He 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needs to clean</a:t>
            </a: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the room.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(有人称、时态变化)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00600"/>
            <a:ext cx="8229600" cy="73152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辨别口诀:后面接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to do</a:t>
            </a: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 的是实义动词;直接接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动词原形</a:t>
            </a: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的是情态动词!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北京期中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Tom can't hang out with us because he ___ do his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homework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must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has to</a:t>
            </a:r>
          </a:p>
        </p:txBody>
      </p:sp>
      <p:sp>
        <p:nvSpPr>
          <p:cNvPr id="10" name="click1|fade"/>
          <p:cNvSpPr/>
          <p:nvPr/>
        </p:nvSpPr>
        <p:spPr>
          <a:xfrm>
            <a:off x="4672584" y="258775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1" name="click1|fade"/>
          <p:cNvSpPr/>
          <p:nvPr/>
        </p:nvSpPr>
        <p:spPr>
          <a:xfrm>
            <a:off x="8138160" y="267004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may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should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B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作业没写完没法出去玩 → 客观上『不得不』→ has to;must 强调主观『必须』。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31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考点① must vs have to 语义天平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考点①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主观必须(自己想)  vs 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have to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客观不得不(被迫)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39" y="2368296"/>
          <a:ext cx="80467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329184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must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have to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主观意愿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客观条件所迫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无人称/时态变化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has to / had to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本题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✗(不是他想做)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作业逼的,出不去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407408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判断技巧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看『谁逼的』:自己内心 → must;外部环境/规定 → have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You </a:t>
            </a:r>
            <a:r>
              <a:rPr sz="19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must</a:t>
            </a: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listen to music in the music room.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(变一般疑问句,并作肯定和否定回答)</a:t>
            </a:r>
          </a:p>
        </p:txBody>
      </p:sp>
      <p:sp>
        <p:nvSpPr>
          <p:cNvPr id="8" name="click1|fade"/>
          <p:cNvSpPr/>
          <p:nvPr/>
        </p:nvSpPr>
        <p:spPr>
          <a:xfrm>
            <a:off x="548640" y="2624328"/>
            <a:ext cx="8046720" cy="5486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① 疑问句:</a:t>
            </a: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</a:t>
            </a: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 you listen to music in the music room?</a:t>
            </a:r>
          </a:p>
        </p:txBody>
      </p:sp>
      <p:sp>
        <p:nvSpPr>
          <p:cNvPr id="9" name="click2|fade"/>
          <p:cNvSpPr/>
          <p:nvPr/>
        </p:nvSpPr>
        <p:spPr>
          <a:xfrm>
            <a:off x="548640" y="3300984"/>
            <a:ext cx="8046720" cy="5486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② 肯定:Yes, I </a:t>
            </a: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</a:t>
            </a: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10" name="click3|fade"/>
          <p:cNvSpPr/>
          <p:nvPr/>
        </p:nvSpPr>
        <p:spPr>
          <a:xfrm>
            <a:off x="548640" y="3977640"/>
            <a:ext cx="8046720" cy="5486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③ 否定:No, I </a:t>
            </a: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needn't</a:t>
            </a: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. / No, I </a:t>
            </a: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don't have to</a:t>
            </a:r>
            <a:r>
              <a:rPr sz="17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33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考点② must 疑问句的否定回答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考点②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Must...? 否定回答用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needn't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或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don't have to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(不必)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✗ 错误示范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No, I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mustn't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. ✗✗✗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mustn't = 禁止(不许做)——人家问『必须吗』,你答『不许做』,答非所问!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85032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回答模板(背!)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Yes, 主语 + must.   /   No, 主语 + needn't(don't have to).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广东月考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You ___ make noises in the library. We ___ keep quiet.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needn't; must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mustn't; should</a:t>
            </a:r>
          </a:p>
        </p:txBody>
      </p:sp>
      <p:sp>
        <p:nvSpPr>
          <p:cNvPr id="10" name="click1|fade"/>
          <p:cNvSpPr/>
          <p:nvPr/>
        </p:nvSpPr>
        <p:spPr>
          <a:xfrm>
            <a:off x="4672584" y="245059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1" name="click1|fade"/>
          <p:cNvSpPr/>
          <p:nvPr/>
        </p:nvSpPr>
        <p:spPr>
          <a:xfrm>
            <a:off x="8138160" y="253288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can't; may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shouldn't; can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82219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B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图书馆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禁止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喧哗 → mustn't(表禁止);我们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应该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保持安静 → should。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35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考点③ mustn't 表禁止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考点③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mustn't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= 禁止、千万不要(Don't!) ;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should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= 应该(建议)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55448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场景速记 🏛 图书馆规则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You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mustn't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make noises.(禁止喧哗)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You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should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keep quiet.(应该安静)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You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can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read books here.(可以看书)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50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同款场景:博物馆 mustn't touch / 马路 mustn't play / 考场 mustn't cheat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课后作业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The hotel is only a stone's throw away, you ___ take a bus.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needn't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don't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need not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need not</a:t>
            </a:r>
          </a:p>
        </p:txBody>
      </p:sp>
      <p:sp>
        <p:nvSpPr>
          <p:cNvPr id="12" name="click1|fade"/>
          <p:cNvSpPr/>
          <p:nvPr/>
        </p:nvSpPr>
        <p:spPr>
          <a:xfrm>
            <a:off x="4672584" y="3099816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3" name="click1|fade"/>
          <p:cNvSpPr/>
          <p:nvPr/>
        </p:nvSpPr>
        <p:spPr>
          <a:xfrm>
            <a:off x="8138160" y="3182112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82219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D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情态动词 need 否定式 = need not + 动词原形;A/C 多了 to,B 缺 to,词形全错。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彩蛋:a stone's throw away 一步之遥(扔一块石头就到)。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37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考点④ need 否定式 + 彩蛋短语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考点④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情态动词 need 否定 =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need not(needn't)+ V原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实义动词 need 否定 =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don't need to + V原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39" y="2505456"/>
          <a:ext cx="8046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457200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选项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A. needn't to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情态 needn't 后不加 to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B. don't need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实义否定缺 to(don't need to)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C. need not to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情态 need not 后不加 to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D. need not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need not + take(V原)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74573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🎁 彩蛋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a stone's throw away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一步之遥、近在咫尺:The park is a stone's throw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38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感官系动词五兄弟 + adj.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26974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感官动词
+ 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形容词 adj.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look 看起来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It </a:t>
            </a:r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looks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beautiful.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37160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sound 听起来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It </a:t>
            </a:r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sounds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great.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1605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taste 尝起来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It </a:t>
            </a:r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tastes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good.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1605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smell 闻起来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It </a:t>
            </a:r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smells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nice.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120639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feel 摸起来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It </a:t>
            </a:r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feels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soft.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拓展:smell like + n. / good vs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感官动词 + like + 名词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It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smells like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coffee. 闻起来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像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咖啡。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He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looks like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his father. 长得像爸爸。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551176"/>
          <a:ext cx="84124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47548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词性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用法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good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形容词 adj.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感官动词后:tastes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good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well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副词 adv.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修饰实义动词:sings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well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(例外:身体好 I'm well)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19709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一句话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感官动词后接 adj.;接名词要先搭 like!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The food ___ the apple pie. It smells so 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smells; good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smells like; good</a:t>
            </a:r>
          </a:p>
        </p:txBody>
      </p:sp>
      <p:sp>
        <p:nvSpPr>
          <p:cNvPr id="10" name="click1|fade"/>
          <p:cNvSpPr/>
          <p:nvPr/>
        </p:nvSpPr>
        <p:spPr>
          <a:xfrm>
            <a:off x="4672584" y="245059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1" name="click1|fade"/>
          <p:cNvSpPr/>
          <p:nvPr/>
        </p:nvSpPr>
        <p:spPr>
          <a:xfrm>
            <a:off x="8138160" y="253288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smells like; well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smells; well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82219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B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第一空后接名词 the apple pie → smell 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like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+ n.;第二空感官动词后接形容词 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good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,well 是副词 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41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考点① smell like + n. / +adj.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考点①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接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名词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→ smell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like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+ n.(闻起来像);接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形容词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→ smell + adj.(闻起来…)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68296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194560"/>
                <a:gridCol w="10972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选项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第一空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第二空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A. smells; good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 缺like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B. smells like; good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✓✓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C. smells like; well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 well是副词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D. smells; well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 缺like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 well是副词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经典例题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天津月考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Look at the cookies! They ___ lovely and ___ nice.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sound; look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taste; sound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look; smell</a:t>
            </a:r>
          </a:p>
        </p:txBody>
      </p:sp>
      <p:sp>
        <p:nvSpPr>
          <p:cNvPr id="11" name="click1|fade"/>
          <p:cNvSpPr/>
          <p:nvPr/>
        </p:nvSpPr>
        <p:spPr>
          <a:xfrm>
            <a:off x="512064" y="3099816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2" name="click1|fade"/>
          <p:cNvSpPr/>
          <p:nvPr/>
        </p:nvSpPr>
        <p:spPr>
          <a:xfrm>
            <a:off x="3977640" y="3182112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smell; sound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82219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C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Look at 提示用眼看 → look lovely(看起来可爱);饼干香味 → smell nice。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sound 用于可发声的事物,饼干不发声 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43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考点② 五感配对:让证据说话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考点②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选感官动词,先找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感官证据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:看见?听见?闻到?尝到?摸到?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59" y="2368296"/>
          <a:ext cx="84124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310896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感官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本题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 at...(用眼)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 看起来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They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lovely 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香气(用鼻)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smell 闻起来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smell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nice ✓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饼干不会发声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sound 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A/B/D 含 sound 全排除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407408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口诀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眼 look 耳 sound,鼻 smell 嘴 taste,手一摸是 feel!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真题链接 · 闯关挑战!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35204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第1关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much 应用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20分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12264" y="310896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第2关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how often+频度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20分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3048" y="35204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第3关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must = have to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20分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3832" y="310896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第4关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must 疑问回答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20分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14616" y="35204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第5关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感官系动词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20分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5780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🏆 通关拿满 100 分,冲!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闯关 · 第1关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胡萝卜和鸡蛋(馅)的饺子多少钱?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___ ___ are the dumplings ___ carrot and eggs?</a:t>
            </a:r>
          </a:p>
        </p:txBody>
      </p:sp>
      <p:sp>
        <p:nvSpPr>
          <p:cNvPr id="8" name="click1|fade"/>
          <p:cNvSpPr/>
          <p:nvPr/>
        </p:nvSpPr>
        <p:spPr>
          <a:xfrm>
            <a:off x="548640" y="2624328"/>
            <a:ext cx="804672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2540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答案  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How much</a:t>
            </a:r>
            <a:r>
              <a:rPr sz="18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 are the dumplings 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with</a:t>
            </a:r>
            <a:r>
              <a:rPr sz="18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 carrot and eggs?</a:t>
            </a:r>
          </a:p>
        </p:txBody>
      </p:sp>
      <p:sp>
        <p:nvSpPr>
          <p:cNvPr id="9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how much 问价格;with 表『带有…馅』;dumplings 复数 → are。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46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考点解析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第1关复盘:翻译对照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8412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20116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考点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多少钱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much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are...?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价格提问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带胡萝卜鸡蛋馅的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 dumplings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with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carrot and eggs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with 表伴随/带有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饺子(复数)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dumplings → 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主谓一致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举一反三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How much is the dumpling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with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mutton?(单数用 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闯关 · 第2关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吉林期中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—___ does Sarah play football?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—She likes it best, so she ___ plays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How often; always</a:t>
            </a:r>
          </a:p>
        </p:txBody>
      </p:sp>
      <p:sp>
        <p:nvSpPr>
          <p:cNvPr id="9" name="click1|fade"/>
          <p:cNvSpPr/>
          <p:nvPr/>
        </p:nvSpPr>
        <p:spPr>
          <a:xfrm>
            <a:off x="512064" y="258775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click1|fade"/>
          <p:cNvSpPr/>
          <p:nvPr/>
        </p:nvSpPr>
        <p:spPr>
          <a:xfrm>
            <a:off x="3977640" y="267004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How long; never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How often; seldom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How far; usually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A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问频率 how often;逻辑链:likes it best(最喜欢)→ 频率最高 → always。C 项 seldom 与 likes best 矛盾。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48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闯关 · 第3关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黑龙江月考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We </a:t>
            </a:r>
            <a:r>
              <a:rPr sz="19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must</a:t>
            </a: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wear uniforms.(改为同义句)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We ___ ___ wear uniforms.</a:t>
            </a:r>
          </a:p>
        </p:txBody>
      </p:sp>
      <p:sp>
        <p:nvSpPr>
          <p:cNvPr id="8" name="click1|fade"/>
          <p:cNvSpPr/>
          <p:nvPr/>
        </p:nvSpPr>
        <p:spPr>
          <a:xfrm>
            <a:off x="548640" y="2624328"/>
            <a:ext cx="804672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2540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答案  </a:t>
            </a:r>
            <a:r>
              <a:rPr sz="18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We </a:t>
            </a:r>
            <a:r>
              <a:rPr sz="18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have to</a:t>
            </a:r>
            <a:r>
              <a:rPr sz="18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 wear uniforms.</a:t>
            </a:r>
          </a:p>
        </p:txBody>
      </p:sp>
      <p:sp>
        <p:nvSpPr>
          <p:cNvPr id="9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must = have to(陈述句中同义替换);主语 We → have to(原形)。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49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闯关 · 第4关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广东期中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—Mum, ___ I finish my homework now?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—No, you 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can; mustn't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62432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may; 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need; need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27355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must; needn't</a:t>
            </a:r>
          </a:p>
        </p:txBody>
      </p:sp>
      <p:sp>
        <p:nvSpPr>
          <p:cNvPr id="12" name="click1|fade"/>
          <p:cNvSpPr/>
          <p:nvPr/>
        </p:nvSpPr>
        <p:spPr>
          <a:xfrm>
            <a:off x="4672584" y="3236976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3" name="click1|fade"/>
          <p:cNvSpPr/>
          <p:nvPr/>
        </p:nvSpPr>
        <p:spPr>
          <a:xfrm>
            <a:off x="8138160" y="3319272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95935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D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回扣 P29 规则:Must...? 的否定回答 → No, you needn't.(不必现在写完)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mustn't=禁止,答非所问 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50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闯关 · 第5关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重庆期中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It ___ nice and ___ delicious.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looks; tastes</a:t>
            </a:r>
          </a:p>
        </p:txBody>
      </p:sp>
      <p:sp>
        <p:nvSpPr>
          <p:cNvPr id="9" name="click1|fade"/>
          <p:cNvSpPr/>
          <p:nvPr/>
        </p:nvSpPr>
        <p:spPr>
          <a:xfrm>
            <a:off x="512064" y="2450592"/>
            <a:ext cx="3959352" cy="576072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click1|fade"/>
          <p:cNvSpPr/>
          <p:nvPr/>
        </p:nvSpPr>
        <p:spPr>
          <a:xfrm>
            <a:off x="3977640" y="2532888"/>
            <a:ext cx="411480" cy="411480"/>
          </a:xfrm>
          <a:prstGeom prst="ellipse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487168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B. is looked; is tasted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C. looks; is tasted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136392"/>
            <a:ext cx="3886200" cy="50292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D. look; taste</a:t>
            </a:r>
          </a:p>
        </p:txBody>
      </p:sp>
      <p:sp>
        <p:nvSpPr>
          <p:cNvPr id="14" name="click1|fade"/>
          <p:cNvSpPr/>
          <p:nvPr/>
        </p:nvSpPr>
        <p:spPr>
          <a:xfrm>
            <a:off x="6949440" y="382219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 · A</a:t>
            </a:r>
          </a:p>
        </p:txBody>
      </p:sp>
      <p:sp>
        <p:nvSpPr>
          <p:cNvPr id="15" name="click2|wipe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考点  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感官系动词用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主动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形式(不用被动);主语 It → 三单 looks / tastes。回扣五感口诀!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51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Part 1 知识树 · 一图收纳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79" y="1234440"/>
          <a:ext cx="8778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566160"/>
                <a:gridCol w="29260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板块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易错点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系列(8个)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many可数/much不可数/far距离/often频率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long vs how soon vs how often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频度副词(7级)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always→never 温度计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位置:be后,实义动词前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情态动词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must/have to/mustn't/need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Must...? 否定答 needn't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感官系动词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look/sound/taste/feel/smell + adj.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接名词加 like;good✓ well✗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062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下一站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带着这些词汇武器,进入 Part 2 完形填空!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228600" cy="32004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Cloze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FDDF2"/>
                </a:solidFill>
                <a:latin typeface="微软雅黑"/>
                <a:ea typeface="微软雅黑"/>
                <a:cs typeface="微软雅黑"/>
              </a:rPr>
              <a:t>完形填空(记叙文)——食物与记忆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认知词汇 9 个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解题步骤『看 · 定 · 读』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做题方法:瞻前顾后 + 词性策略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真题精讲 10 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认知词汇① 吃货词包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19" y="12344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47548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音标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词义 + 记忆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/ˈmeməri/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记忆(复数 memories)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mutton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/ˈmʌtn/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羊肉(不可数)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/pɒt/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锅;a pot of... 一锅…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pancake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/ˈpænkeɪk/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薄饼(pan锅 + cake饼 = 锅里的饼)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porridge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/ˈpɒrɪdʒ/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粥,麦片粥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38912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速记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mutton 羊肉 / beef 牛肉 / pork 猪肉 / chicken 鸡肉——肉类多不可数!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认知词汇② + 彩蛋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19" y="1234440"/>
          <a:ext cx="8595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45720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单词/短语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音标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词义 + 记忆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treasure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/ˈtreʒə(r)/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珍宝,财富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menu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/ˈmenjuː/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菜单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plain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/pleɪn/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adj. 清淡的;朴素的(plain rice 白米饭)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bring back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带回;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唤起(回忆)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bring back memories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88620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🎁 彩蛋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八宝粥 =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eight-treasure porridge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(八种『珍宝』熬的粥,直译超可爱!)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语境填词 · 上半场(首字母已给)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1. The old songs can b___ b___ our happy memories.</a:t>
            </a:r>
          </a:p>
        </p:txBody>
      </p:sp>
      <p:sp>
        <p:nvSpPr>
          <p:cNvPr id="7" name="click1|fade"/>
          <p:cNvSpPr/>
          <p:nvPr/>
        </p:nvSpPr>
        <p:spPr>
          <a:xfrm>
            <a:off x="1463040" y="2039112"/>
            <a:ext cx="7178040" cy="45720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bring back(唤起回忆)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2. I'd like some m___ dumplings. I love meat!</a:t>
            </a:r>
          </a:p>
        </p:txBody>
      </p:sp>
      <p:sp>
        <p:nvSpPr>
          <p:cNvPr id="9" name="click2|fade"/>
          <p:cNvSpPr/>
          <p:nvPr/>
        </p:nvSpPr>
        <p:spPr>
          <a:xfrm>
            <a:off x="1463040" y="3319272"/>
            <a:ext cx="7178040" cy="45720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mutton(羊肉饺子)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40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3. Grandma is cooking a p___ of chicken soup.</a:t>
            </a:r>
          </a:p>
        </p:txBody>
      </p:sp>
      <p:sp>
        <p:nvSpPr>
          <p:cNvPr id="11" name="click3|fade"/>
          <p:cNvSpPr/>
          <p:nvPr/>
        </p:nvSpPr>
        <p:spPr>
          <a:xfrm>
            <a:off x="1463040" y="4599432"/>
            <a:ext cx="7178040" cy="45720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pot(一锅鸡汤)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56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语境填词 · 下半场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4. I can s___ the porridge. How nice!</a:t>
            </a:r>
          </a:p>
        </p:txBody>
      </p:sp>
      <p:sp>
        <p:nvSpPr>
          <p:cNvPr id="7" name="click1|fade"/>
          <p:cNvSpPr/>
          <p:nvPr/>
        </p:nvSpPr>
        <p:spPr>
          <a:xfrm>
            <a:off x="1463040" y="2039112"/>
            <a:ext cx="7178040" cy="45720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smell(闻到粥香)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5. We often eat e___-t___ porridge in winter.</a:t>
            </a:r>
          </a:p>
        </p:txBody>
      </p:sp>
      <p:sp>
        <p:nvSpPr>
          <p:cNvPr id="9" name="click2|fade"/>
          <p:cNvSpPr/>
          <p:nvPr/>
        </p:nvSpPr>
        <p:spPr>
          <a:xfrm>
            <a:off x="1463040" y="3319272"/>
            <a:ext cx="7178040" cy="45720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eight-treasure(八宝粥)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40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6. The dishes on the m___ are spicy. I want some p___ rice.</a:t>
            </a:r>
          </a:p>
        </p:txBody>
      </p:sp>
      <p:sp>
        <p:nvSpPr>
          <p:cNvPr id="11" name="click3|fade"/>
          <p:cNvSpPr/>
          <p:nvPr/>
        </p:nvSpPr>
        <p:spPr>
          <a:xfrm>
            <a:off x="1463040" y="4599432"/>
            <a:ext cx="7178040" cy="45720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menu; plain(菜单/清淡的白米饭)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57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完形解题步骤:看 · 定 · 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① 看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看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标题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图片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——10秒抓住文章话题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② 定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定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体裁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:记叙文(故事线)/ 说明文(观点+例子)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02152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③ 读(四步)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首尾句精读 →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略读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全文(跳过空格)→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细读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逐空作答 → 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复读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检查通顺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⚠ 大忌:拿起来就逐空硬填,不看全文!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做题两大法宝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法宝① 瞻前顾后,说人话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答案不在空里,在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上下文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里:往前看一句,往后看一句,选完读一遍像不像人话!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19" y="2414016"/>
          <a:ext cx="85953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选项词性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解题策略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复现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(原词/同义词再次出现)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搭配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(和介词/宾语搭不搭)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形容词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修饰名词,看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感情色彩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(好评/差评)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副词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修饰动词,看程度逻辑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介词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固定搭配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  <a:r>
                        <a:rPr sz="1400" b="1" i="0">
                          <a:solidFill>
                            <a:srgbClr val="FF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逻辑关系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(转折/因果/并列)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完形填空 · 全文通读(限时90秒)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安徽期末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3749039"/>
          </a:xfrm>
          <a:prstGeom prst="roundRect">
            <a:avLst>
              <a:gd name="adj" fmla="val 12000"/>
            </a:avLst>
          </a:prstGeom>
          <a:solidFill>
            <a:srgbClr val="FBFBF6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Food and Memories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The taste and smell of a   1   food often bring back our old memories. What food   2   strong in your memory? For me, it is my mother's cooking. Food builds a strong   3   between my mother and me, and she   4   her love through her dishes. In her hands, a fat   5   can become a pot of delicious chicken soup, and plain rice can become tasty pancakes.   6  , what I like best is her rice porridge. On weekend mornings, I often smell the porridge as soon as I   7  . When I am ill, a bowl of her porridge works better than the other   8  . On any Chinese   9  , you may find many famous dishes, but nothing can take the place of my mother's porridge. It always brings back the   10   old memories.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51663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⏱ 90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8464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任务:只通读,不作答——这篇讲了什么故事?体裁是什么?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1–2 空 · 词义辨析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安徽期末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第1空  The taste and smell of a ___ food often bring back our old memories.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delicious        B. certain        C. strange        D. expensive</a:t>
            </a:r>
          </a:p>
        </p:txBody>
      </p:sp>
      <p:sp>
        <p:nvSpPr>
          <p:cNvPr id="8" name="click1|fade"/>
          <p:cNvSpPr/>
          <p:nvPr/>
        </p:nvSpPr>
        <p:spPr>
          <a:xfrm>
            <a:off x="914400" y="2304288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B. certain   某种的——『某种食物』唤起回忆,不是『所有』食物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第2空  What food ___ strong in your memory?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sounds        B. looks        C. remains        D. gets</a:t>
            </a:r>
          </a:p>
        </p:txBody>
      </p:sp>
      <p:sp>
        <p:nvSpPr>
          <p:cNvPr id="10" name="click2|fade"/>
          <p:cNvSpPr/>
          <p:nvPr/>
        </p:nvSpPr>
        <p:spPr>
          <a:xfrm>
            <a:off x="914400" y="4059936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C. remains   保持——什么食物在记忆里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保持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鲜明?</a:t>
            </a:r>
          </a:p>
        </p:txBody>
      </p:sp>
      <p:sp>
        <p:nvSpPr>
          <p:cNvPr id="11" name="click3|wipe"/>
          <p:cNvSpPr/>
          <p:nvPr/>
        </p:nvSpPr>
        <p:spPr>
          <a:xfrm>
            <a:off x="457200" y="5486400"/>
            <a:ext cx="8229600" cy="841248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策略 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形容词空看语境基调;动词空代入后读一遍,说得通才算数。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61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3–4 空 · 名词复现 + 动词搭配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安徽期末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第3空  Food builds a strong ___ between my mother and me.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difference        B. problem        C. question        D. connection</a:t>
            </a:r>
          </a:p>
        </p:txBody>
      </p:sp>
      <p:sp>
        <p:nvSpPr>
          <p:cNvPr id="8" name="click1|fade"/>
          <p:cNvSpPr/>
          <p:nvPr/>
        </p:nvSpPr>
        <p:spPr>
          <a:xfrm>
            <a:off x="914400" y="2304288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D. connection   联系——build a connection between A and B 固定搭配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第4空  She ___ her love through her dishes.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proves        B. brings        C. takes        D. makes</a:t>
            </a:r>
          </a:p>
        </p:txBody>
      </p:sp>
      <p:sp>
        <p:nvSpPr>
          <p:cNvPr id="10" name="click2|fade"/>
          <p:cNvSpPr/>
          <p:nvPr/>
        </p:nvSpPr>
        <p:spPr>
          <a:xfrm>
            <a:off x="914400" y="4059936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A. proves   证明——用一道道菜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证明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她的爱</a:t>
            </a:r>
          </a:p>
        </p:txBody>
      </p:sp>
      <p:sp>
        <p:nvSpPr>
          <p:cNvPr id="11" name="click3|wipe"/>
          <p:cNvSpPr/>
          <p:nvPr/>
        </p:nvSpPr>
        <p:spPr>
          <a:xfrm>
            <a:off x="457200" y="5486400"/>
            <a:ext cx="8229600" cy="841248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策略 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名词看复现(下文 between...and 提示纽带);动词看搭配和语义。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62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5 空 · 逻辑复现(图示:母鸡 → 鸡汤)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安徽期末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第5空  In her hands, a fat ___ can become a pot of delicious chicken soup.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hen        B. fish        C. duck        D. cow</a:t>
            </a:r>
          </a:p>
        </p:txBody>
      </p:sp>
      <p:sp>
        <p:nvSpPr>
          <p:cNvPr id="8" name="click1|fade"/>
          <p:cNvSpPr/>
          <p:nvPr/>
        </p:nvSpPr>
        <p:spPr>
          <a:xfrm>
            <a:off x="914400" y="2304288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A. hen   母鸡 🐔 → chicken soup 鸡汤!后文 chicken 就是答案的影子</a:t>
            </a:r>
          </a:p>
        </p:txBody>
      </p:sp>
      <p:sp>
        <p:nvSpPr>
          <p:cNvPr id="9" name="click2|wipe"/>
          <p:cNvSpPr/>
          <p:nvPr/>
        </p:nvSpPr>
        <p:spPr>
          <a:xfrm>
            <a:off x="457200" y="5486400"/>
            <a:ext cx="8229600" cy="841248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策略 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逻辑复现:答案常在空格后面『回头看』——hen 变 chicken soup,fish/duck/cow 都变不出鸡汤!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63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6–7 空 · 逻辑转折 + 短语动词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安徽期末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第6空  ___ , what I like best is her rice porridge.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Instead        B. Also        C. However        D. So</a:t>
            </a:r>
          </a:p>
        </p:txBody>
      </p:sp>
      <p:sp>
        <p:nvSpPr>
          <p:cNvPr id="8" name="click1|fade"/>
          <p:cNvSpPr/>
          <p:nvPr/>
        </p:nvSpPr>
        <p:spPr>
          <a:xfrm>
            <a:off x="914400" y="2304288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C. However   转折——上文百般美食 vs 下文最爱的竟是白粥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第7空  I often smell the porridge as soon as I ___ 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go out        B. get off        C. fall asleep        D. wake up</a:t>
            </a:r>
          </a:p>
        </p:txBody>
      </p:sp>
      <p:sp>
        <p:nvSpPr>
          <p:cNvPr id="10" name="click2|fade"/>
          <p:cNvSpPr/>
          <p:nvPr/>
        </p:nvSpPr>
        <p:spPr>
          <a:xfrm>
            <a:off x="914400" y="4059936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D. wake up   醒来——周末早晨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一醒来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就闻到粥香</a:t>
            </a:r>
          </a:p>
        </p:txBody>
      </p:sp>
      <p:sp>
        <p:nvSpPr>
          <p:cNvPr id="11" name="click3|wipe"/>
          <p:cNvSpPr/>
          <p:nvPr/>
        </p:nvSpPr>
        <p:spPr>
          <a:xfrm>
            <a:off x="457200" y="5486400"/>
            <a:ext cx="8229600" cy="841248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策略 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连词空画『逻辑天平』:前后意思反着来 → 转折 However;时间逻辑:早晨+闻到香味 → 刚睡醒。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64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8–9 空 · 生活常识 + 名词复现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安徽期末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第8空  A bowl of her porridge works better than the other ___ 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sweets        B. pills        C. drinks        D. foods</a:t>
            </a:r>
          </a:p>
        </p:txBody>
      </p:sp>
      <p:sp>
        <p:nvSpPr>
          <p:cNvPr id="8" name="click1|fade"/>
          <p:cNvSpPr/>
          <p:nvPr/>
        </p:nvSpPr>
        <p:spPr>
          <a:xfrm>
            <a:off x="914400" y="2304288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B. pills   药片——生病时,一碗粥胜过其他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药片</a:t>
            </a: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(medicine 复现)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第9空  On any Chinese ___ , you may find many famous dishes.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book        B. list        C. menu        D. paper</a:t>
            </a:r>
          </a:p>
        </p:txBody>
      </p:sp>
      <p:sp>
        <p:nvSpPr>
          <p:cNvPr id="10" name="click2|fade"/>
          <p:cNvSpPr/>
          <p:nvPr/>
        </p:nvSpPr>
        <p:spPr>
          <a:xfrm>
            <a:off x="914400" y="4059936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C. menu   菜单——本讲认知词汇,dishes 提示餐厅场景</a:t>
            </a:r>
          </a:p>
        </p:txBody>
      </p:sp>
      <p:sp>
        <p:nvSpPr>
          <p:cNvPr id="11" name="click3|wipe"/>
          <p:cNvSpPr/>
          <p:nvPr/>
        </p:nvSpPr>
        <p:spPr>
          <a:xfrm>
            <a:off x="457200" y="5486400"/>
            <a:ext cx="8229600" cy="841248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策略 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than the other... 比较对象要同类:粥当『药』→ 对比 pills;dishes 出现 → 锁定 menu。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65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10 空 · 感情色彩标尺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安徽期末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第10空  It always brings back the ___ old memories.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A. terrible        B. sweet        C. strange        D. sad</a:t>
            </a:r>
          </a:p>
        </p:txBody>
      </p:sp>
      <p:sp>
        <p:nvSpPr>
          <p:cNvPr id="8" name="click1|fade"/>
          <p:cNvSpPr/>
          <p:nvPr/>
        </p:nvSpPr>
        <p:spPr>
          <a:xfrm>
            <a:off x="914400" y="2304288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✓ B. sweet   甜蜜的——全文怀念妈妈的味道,感情色彩为</a:t>
            </a:r>
            <a:r>
              <a:rPr sz="15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9" name="click2|wipe"/>
          <p:cNvSpPr/>
          <p:nvPr/>
        </p:nvSpPr>
        <p:spPr>
          <a:xfrm>
            <a:off x="457200" y="5486400"/>
            <a:ext cx="8229600" cy="841248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策略  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收尾空看全文基调:满满的爱与怀念 → 选</a:t>
            </a:r>
            <a:r>
              <a:rPr sz="1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正向</a:t>
            </a:r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词;terrible/sad 感情色彩相反,strange 不沾边。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66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完形答案总表 + 错因归类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7A4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19" y="237744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36576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错因类型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对应空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对策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词义辨析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/ 2 / 4 / 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代入读一遍,说人话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逻辑/名词复现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5 / 9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瞻前顾后找影子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逻辑关系(连词)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/ 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前后对比画天平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感情色彩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全文基调定褒贬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228600" cy="32004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Listening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FDDF2"/>
                </a:solidFill>
                <a:latin typeface="微软雅黑"/>
                <a:ea typeface="微软雅黑"/>
                <a:cs typeface="微软雅黑"/>
              </a:rPr>
              <a:t>听力——表格填词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听前预测法三步走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真题演练:Healthy Eating Habits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FD0E8"/>
                </a:solidFill>
                <a:latin typeface="微软雅黑"/>
                <a:ea typeface="微软雅黑"/>
                <a:cs typeface="微软雅黑"/>
              </a:rPr>
              <a:t>·  ⚠ 音频待补充,答案需老师核对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2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听前预测法(拿到题先做三件事)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2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① 看表头猜话题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标题 Healthy Eating Habits → 话题:</a:t>
            </a: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健康饮食习惯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68296"/>
            <a:ext cx="8229600" cy="1234440"/>
          </a:xfrm>
          <a:prstGeom prst="roundRect">
            <a:avLst>
              <a:gd name="adj" fmla="val 12000"/>
            </a:avLst>
          </a:prstGeom>
          <a:solidFill>
            <a:srgbClr val="FFF3E6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② 看空格猜词性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First ___ to have breakfast → 句首动词?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Don't eat too ___ at night → 副词/形容词?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30752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 w="19050">
            <a:solidFill>
              <a:srgbClr val="00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③ 预写首字母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心里默写可能的词:try / late / healthy...——听到瞬间秒确认!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⚠ 填词题注意:大小写、单复数、时态——听对了也别写错!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真题演练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听短文,完成表格(每空一词)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0" y="1234440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▶ 播放音频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</a:tblGrid>
              <a:tr h="54864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Healthy Eating Habits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First</a:t>
                      </a:r>
                    </a:p>
                  </a:txBody>
                  <a:tcPr anchor="ctr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______ to have breakfast every day.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Second</a:t>
                      </a:r>
                    </a:p>
                  </a:txBody>
                  <a:tcPr anchor="ctr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Don't eat too 2. ______ at night.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Eat 3. ______ food.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Third</a:t>
                      </a:r>
                    </a:p>
                  </a:txBody>
                  <a:tcPr anchor="ctr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Don't have too much 4. ______.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Drink 5. ______ water every day.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40680"/>
            <a:ext cx="7863840" cy="5486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⚠ 音频文件待插入(此处为占位符)——讲义未附听力原文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答案核对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听力答案(逐空核对)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3840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安徽期中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12000"/>
            </a:avLst>
          </a:prstGeom>
          <a:solidFill>
            <a:srgbClr val="FFF200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⚠ 听力原文/音频缺失:以下为按常见原文预填的</a:t>
            </a:r>
            <a:r>
              <a:rPr sz="14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参考答案</a:t>
            </a:r>
            <a:r>
              <a:rPr sz="14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,使用前请老师对照音频确认!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1 空</a:t>
            </a:r>
          </a:p>
        </p:txBody>
      </p:sp>
      <p:sp>
        <p:nvSpPr>
          <p:cNvPr id="9" name="click1|fade"/>
          <p:cNvSpPr/>
          <p:nvPr/>
        </p:nvSpPr>
        <p:spPr>
          <a:xfrm>
            <a:off x="2651760" y="2103120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Try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句首动词,大写 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16352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2 空</a:t>
            </a:r>
          </a:p>
        </p:txBody>
      </p:sp>
      <p:sp>
        <p:nvSpPr>
          <p:cNvPr id="11" name="click2|fade"/>
          <p:cNvSpPr/>
          <p:nvPr/>
        </p:nvSpPr>
        <p:spPr>
          <a:xfrm>
            <a:off x="2651760" y="2816352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late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don't eat too late 别吃太晚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9584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3 空</a:t>
            </a:r>
          </a:p>
        </p:txBody>
      </p:sp>
      <p:sp>
        <p:nvSpPr>
          <p:cNvPr id="13" name="click3|fade"/>
          <p:cNvSpPr/>
          <p:nvPr/>
        </p:nvSpPr>
        <p:spPr>
          <a:xfrm>
            <a:off x="2651760" y="3529584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healthy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eat healthy food 吃健康食物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4 空</a:t>
            </a:r>
          </a:p>
        </p:txBody>
      </p:sp>
      <p:sp>
        <p:nvSpPr>
          <p:cNvPr id="15" name="click4|fade"/>
          <p:cNvSpPr/>
          <p:nvPr/>
        </p:nvSpPr>
        <p:spPr>
          <a:xfrm>
            <a:off x="2651760" y="4242816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sugar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too much + 不可数:糖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56048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第 5 空</a:t>
            </a:r>
          </a:p>
        </p:txBody>
      </p:sp>
      <p:sp>
        <p:nvSpPr>
          <p:cNvPr id="17" name="click5|fade"/>
          <p:cNvSpPr/>
          <p:nvPr/>
        </p:nvSpPr>
        <p:spPr>
          <a:xfrm>
            <a:off x="2651760" y="4956048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BD9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enough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drink enough water 喝足量的水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71 /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回家必读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必读句 1 · 食物与记忆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9728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The taste and smell of a certain food can bring back our memories and remain strong for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597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译:某种食物的味道和气味能唤起我们的回忆,并多年保持鲜明。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19" y="2825496.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182880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必背词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词义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必背词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词义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n./v. 味道;尝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bring back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唤起(回忆)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smell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n./v. 气味;闻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记忆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certain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adj. 某种的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remain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v. 保持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回家必读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必读句 2 · 爱的证明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23444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Food builds a strong connection between my mother and me — she proves her love every time she cooks delicious food for 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9689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译:食物在妈妈和我之间建立了牢固的联系——每次她为我做美食,都是爱的证明。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62656.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必背词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用法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 a connection 建立联系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connection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between A and B 在A和B之间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prove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v. 证明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cook sth. for sb.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为某人做某物(= cook sb. sth.)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回家必读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必读句 3 · 一碗粥的魔力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B0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1097280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When I am ill, my mum always makes rice porridge for me — it is a better medicine than any pills.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597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译:我生病时,妈妈总会为我煮白米粥——它比任何药片都更管用。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19" y="2825496.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657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必背词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词义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拓展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ill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adj. 生病的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 ill = be sick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medicine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药(不可数)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take medicine 吃药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pill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n. 药片(可数)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pills 复数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全课总结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一页通 · 今天你带走了什么?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19" y="1234440"/>
          <a:ext cx="85953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板块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带走的武器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How 系列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8兄弟分工:many/much/far/often/long/soon/old + how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频度副词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温度计7级 + 位置口诀(be后实义前)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情态动词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must/have to 天平;Must...? 否定答 needn't;need 双身份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感官系动词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look/sound/taste/feel/smell + adj.(接名词加 like)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完形方法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看·定·读 + 瞻前顾后说人话 + 词性策略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听力方法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听前预测:看表头→猜词性→预写首字母</a:t>
                      </a:r>
                    </a:p>
                  </a:txBody>
                  <a:tcPr anchor="ctr" marL="54864" marR="54864" marT="18288" marB="18288"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47472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2743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Homework(共约 27 分钟)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32688"/>
            <a:ext cx="8503920" cy="27940"/>
          </a:xfrm>
          <a:prstGeom prst="rect">
            <a:avLst/>
          </a:prstGeom>
          <a:solidFill>
            <a:srgbClr val="00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习1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单项选择 · 感官动词 smell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2′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52728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习2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用所给词适当形式填空 · sound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2′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3976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习3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单项选择 · 频度副词 usually/seldom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2′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093976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习4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对划线提问 · How much(bread 不可数)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3′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35224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习5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对划线提问 · How far(距离)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3′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935224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习6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对划线提问 · How often(twice a week)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3′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76472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习7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句型转换 · must 一般疑问句 + 肯否回答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4′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776472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习8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单项选择 · may / mustn't(禁止停车)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2′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17720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习9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单项选择 · Could / can't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2′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617720"/>
            <a:ext cx="4069080" cy="7132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9E4F"/>
                </a:solidFill>
                <a:latin typeface="微软雅黑"/>
                <a:ea typeface="微软雅黑"/>
                <a:cs typeface="微软雅黑"/>
              </a:rPr>
              <a:t>习10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汉译英 · smell + hear sb. do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预计 4′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68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53935"/>
                </a:solidFill>
                <a:latin typeface="微软雅黑"/>
                <a:ea typeface="微软雅黑"/>
                <a:cs typeface="微软雅黑"/>
              </a:rPr>
              <a:t>📌 答案下讲核对——先自己做,不许偷看答案哦!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谢谢观看  Thanks!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840480"/>
            <a:ext cx="6400800" cy="1371600"/>
          </a:xfrm>
          <a:prstGeom prst="roundRect">
            <a:avLst>
              <a:gd name="adj" fmla="val 12000"/>
            </a:avLst>
          </a:prstGeom>
          <a:solidFill>
            <a:srgbClr val="274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7A00"/>
                </a:solidFill>
                <a:latin typeface="微软雅黑"/>
                <a:ea typeface="微软雅黑"/>
                <a:cs typeface="微软雅黑"/>
              </a:rPr>
              <a:t>下讲预告</a:t>
            </a:r>
          </a:p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L17 期末复习①(篇章:语法填空+阅读+完形)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26春 · 七年级英语 · L16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77 / 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