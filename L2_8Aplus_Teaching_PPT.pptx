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2" r:id="rId73"/>
    <p:sldId id="323" r:id="rId74"/>
    <p:sldId id="324" r:id="rId75"/>
    <p:sldId id="325" r:id="rId76"/>
    <p:sldId id="326" r:id="rId77"/>
    <p:sldId id="327" r:id="rId78"/>
    <p:sldId id="328" r:id="rId79"/>
    <p:sldId id="329" r:id="rId80"/>
    <p:sldId id="330" r:id="rId81"/>
    <p:sldId id="331" r:id="rId82"/>
    <p:sldId id="321" r:id="rId7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png"/>
          <p:cNvPicPr>
            <a:picLocks noChangeAspect="1"/>
          </p:cNvPicPr>
          <p:nvPr/>
        </p:nvPicPr>
        <p:blipFill>
          <a:blip r:embed="rId2"/>
          <a:stretch>
            <a:fillRect/>
          </a:stretch>
        </p:blipFill>
        <p:spPr>
          <a:xfrm>
            <a:off x="0" y="0"/>
            <a:ext cx="9144000" cy="6858000"/>
          </a:xfrm>
          <a:prstGeom prst="rect">
            <a:avLst/>
          </a:prstGeom>
        </p:spPr>
      </p:pic>
      <p:sp>
        <p:nvSpPr>
          <p:cNvPr id="3" name="Oval 2"/>
          <p:cNvSpPr/>
          <p:nvPr/>
        </p:nvSpPr>
        <p:spPr>
          <a:xfrm>
            <a:off x="5943600" y="-914400"/>
            <a:ext cx="4572000" cy="4572000"/>
          </a:xfrm>
          <a:prstGeom prst="ellipse">
            <a:avLst/>
          </a:prstGeom>
          <a:solidFill>
            <a:srgbClr val="3D7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3200400" cy="45720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17320"/>
            <a:ext cx="3200400" cy="411480"/>
          </a:xfrm>
          <a:prstGeom prst="rect">
            <a:avLst/>
          </a:prstGeom>
          <a:noFill/>
        </p:spPr>
        <p:txBody>
          <a:bodyPr wrap="square">
            <a:spAutoFit/>
          </a:bodyPr>
          <a:lstStyle/>
          <a:p>
            <a:pPr algn="ctr">
              <a:lnSpc>
                <a:spcPts val="1920"/>
              </a:lnSpc>
              <a:defRPr sz="1600" b="1" i="0">
                <a:solidFill>
                  <a:srgbClr val="FFFFFF"/>
                </a:solidFill>
                <a:latin typeface="微软雅黑"/>
              </a:defRPr>
            </a:pPr>
            <a:r>
              <a:t>2026暑 · 英文素养系统班</a:t>
            </a:r>
          </a:p>
        </p:txBody>
      </p:sp>
      <p:sp>
        <p:nvSpPr>
          <p:cNvPr id="6" name="TextBox 5"/>
          <p:cNvSpPr txBox="1"/>
          <p:nvPr/>
        </p:nvSpPr>
        <p:spPr>
          <a:xfrm>
            <a:off x="731520" y="2103120"/>
            <a:ext cx="7315200" cy="1097280"/>
          </a:xfrm>
          <a:prstGeom prst="rect">
            <a:avLst/>
          </a:prstGeom>
          <a:noFill/>
        </p:spPr>
        <p:txBody>
          <a:bodyPr wrap="square">
            <a:spAutoFit/>
          </a:bodyPr>
          <a:lstStyle/>
          <a:p>
            <a:pPr algn="l">
              <a:lnSpc>
                <a:spcPts val="4560"/>
              </a:lnSpc>
              <a:defRPr sz="3800" b="1" i="0">
                <a:solidFill>
                  <a:srgbClr val="FFFFFF"/>
                </a:solidFill>
                <a:latin typeface="微软雅黑"/>
              </a:defRPr>
            </a:pPr>
            <a:r>
              <a:t>Level 8A+ 专题精讲（一）</a:t>
            </a:r>
          </a:p>
        </p:txBody>
      </p:sp>
      <p:sp>
        <p:nvSpPr>
          <p:cNvPr id="7" name="TextBox 6"/>
          <p:cNvSpPr txBox="1"/>
          <p:nvPr/>
        </p:nvSpPr>
        <p:spPr>
          <a:xfrm>
            <a:off x="731520" y="3200400"/>
            <a:ext cx="7315200" cy="731520"/>
          </a:xfrm>
          <a:prstGeom prst="rect">
            <a:avLst/>
          </a:prstGeom>
          <a:noFill/>
        </p:spPr>
        <p:txBody>
          <a:bodyPr wrap="square">
            <a:spAutoFit/>
          </a:bodyPr>
          <a:lstStyle/>
          <a:p>
            <a:pPr algn="l">
              <a:lnSpc>
                <a:spcPts val="5759"/>
              </a:lnSpc>
              <a:defRPr sz="4800" b="1" i="0">
                <a:solidFill>
                  <a:srgbClr val="F39C12"/>
                </a:solidFill>
                <a:latin typeface="Arial"/>
              </a:defRPr>
            </a:pPr>
            <a:r>
              <a:t>Lesson 2</a:t>
            </a:r>
          </a:p>
        </p:txBody>
      </p:sp>
      <p:sp>
        <p:nvSpPr>
          <p:cNvPr id="8" name="TextBox 7"/>
          <p:cNvSpPr txBox="1"/>
          <p:nvPr/>
        </p:nvSpPr>
        <p:spPr>
          <a:xfrm>
            <a:off x="731520" y="4114800"/>
            <a:ext cx="7315200" cy="731520"/>
          </a:xfrm>
          <a:prstGeom prst="rect">
            <a:avLst/>
          </a:prstGeom>
          <a:noFill/>
        </p:spPr>
        <p:txBody>
          <a:bodyPr wrap="square">
            <a:spAutoFit/>
          </a:bodyPr>
          <a:lstStyle/>
          <a:p>
            <a:pPr algn="l">
              <a:lnSpc>
                <a:spcPts val="2879"/>
              </a:lnSpc>
              <a:defRPr sz="2400" b="0" i="0">
                <a:solidFill>
                  <a:srgbClr val="FFFFFF"/>
                </a:solidFill>
                <a:latin typeface="微软雅黑"/>
              </a:defRPr>
            </a:pPr>
            <a:r>
              <a:t>文章精读② + 指称运用② + 听力训练</a:t>
            </a:r>
          </a:p>
        </p:txBody>
      </p:sp>
      <p:sp>
        <p:nvSpPr>
          <p:cNvPr id="9" name="Rectangle 8"/>
          <p:cNvSpPr/>
          <p:nvPr/>
        </p:nvSpPr>
        <p:spPr>
          <a:xfrm>
            <a:off x="731520" y="3931920"/>
            <a:ext cx="36576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303520"/>
            <a:ext cx="7315200" cy="457200"/>
          </a:xfrm>
          <a:prstGeom prst="rect">
            <a:avLst/>
          </a:prstGeom>
          <a:noFill/>
        </p:spPr>
        <p:txBody>
          <a:bodyPr wrap="square">
            <a:spAutoFit/>
          </a:bodyPr>
          <a:lstStyle/>
          <a:p>
            <a:pPr algn="l">
              <a:lnSpc>
                <a:spcPts val="1920"/>
              </a:lnSpc>
              <a:defRPr sz="1600" b="0" i="0">
                <a:solidFill>
                  <a:srgbClr val="BDC3C7"/>
                </a:solidFill>
                <a:latin typeface="Arial"/>
              </a:defRPr>
            </a:pPr>
            <a:r>
              <a:t>Unit 1 · Cloze / Grammar / Listening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目 录  Contents</a:t>
            </a:r>
          </a:p>
        </p:txBody>
      </p:sp>
      <p:sp>
        <p:nvSpPr>
          <p:cNvPr id="4" name="Rectangle 3"/>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7" name="TextBox 6"/>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2</a:t>
            </a:r>
          </a:p>
        </p:txBody>
      </p:sp>
      <p:sp>
        <p:nvSpPr>
          <p:cNvPr id="8" name="Rounded Rectangle 7"/>
          <p:cNvSpPr/>
          <p:nvPr/>
        </p:nvSpPr>
        <p:spPr>
          <a:xfrm>
            <a:off x="457200" y="1371600"/>
            <a:ext cx="2560320" cy="4114800"/>
          </a:xfrm>
          <a:prstGeom prst="roundRect">
            <a:avLst/>
          </a:prstGeom>
          <a:solidFill>
            <a:srgbClr val="FFFFFF"/>
          </a:solidFill>
          <a:ln w="2540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80160" y="1645920"/>
            <a:ext cx="914400" cy="914400"/>
          </a:xfrm>
          <a:prstGeom prst="ellipse">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1737360"/>
            <a:ext cx="914400" cy="731520"/>
          </a:xfrm>
          <a:prstGeom prst="rect">
            <a:avLst/>
          </a:prstGeom>
          <a:noFill/>
        </p:spPr>
        <p:txBody>
          <a:bodyPr wrap="square">
            <a:spAutoFit/>
          </a:bodyPr>
          <a:lstStyle/>
          <a:p>
            <a:pPr algn="ctr">
              <a:lnSpc>
                <a:spcPts val="3840"/>
              </a:lnSpc>
              <a:defRPr sz="3200" b="1" i="0">
                <a:solidFill>
                  <a:srgbClr val="FFFFFF"/>
                </a:solidFill>
                <a:latin typeface="Arial"/>
              </a:defRPr>
            </a:pPr>
            <a:r>
              <a:t>01</a:t>
            </a:r>
          </a:p>
        </p:txBody>
      </p:sp>
      <p:sp>
        <p:nvSpPr>
          <p:cNvPr id="11" name="TextBox 10"/>
          <p:cNvSpPr txBox="1"/>
          <p:nvPr/>
        </p:nvSpPr>
        <p:spPr>
          <a:xfrm>
            <a:off x="640080" y="2743200"/>
            <a:ext cx="2194560" cy="365760"/>
          </a:xfrm>
          <a:prstGeom prst="rect">
            <a:avLst/>
          </a:prstGeom>
          <a:noFill/>
        </p:spPr>
        <p:txBody>
          <a:bodyPr wrap="square">
            <a:spAutoFit/>
          </a:bodyPr>
          <a:lstStyle/>
          <a:p>
            <a:pPr algn="ctr">
              <a:lnSpc>
                <a:spcPts val="1680"/>
              </a:lnSpc>
              <a:defRPr sz="1400" b="1" i="0">
                <a:solidFill>
                  <a:srgbClr val="2B5797"/>
                </a:solidFill>
                <a:latin typeface="Arial"/>
              </a:defRPr>
            </a:pPr>
            <a:r>
              <a:t>Part 1</a:t>
            </a:r>
          </a:p>
        </p:txBody>
      </p:sp>
      <p:sp>
        <p:nvSpPr>
          <p:cNvPr id="12" name="TextBox 11"/>
          <p:cNvSpPr txBox="1"/>
          <p:nvPr/>
        </p:nvSpPr>
        <p:spPr>
          <a:xfrm>
            <a:off x="640080" y="3108960"/>
            <a:ext cx="2194560" cy="731520"/>
          </a:xfrm>
          <a:prstGeom prst="rect">
            <a:avLst/>
          </a:prstGeom>
          <a:noFill/>
        </p:spPr>
        <p:txBody>
          <a:bodyPr wrap="square">
            <a:spAutoFit/>
          </a:bodyPr>
          <a:lstStyle/>
          <a:p>
            <a:pPr algn="ctr">
              <a:lnSpc>
                <a:spcPts val="1920"/>
              </a:lnSpc>
              <a:defRPr sz="1600" b="1" i="0">
                <a:solidFill>
                  <a:srgbClr val="2C3E50"/>
                </a:solidFill>
                <a:latin typeface="微软雅黑"/>
              </a:defRPr>
            </a:pPr>
            <a:r>
              <a:t>Cloze — 文章精读②</a:t>
            </a:r>
          </a:p>
        </p:txBody>
      </p:sp>
      <p:sp>
        <p:nvSpPr>
          <p:cNvPr id="13" name="TextBox 12"/>
          <p:cNvSpPr txBox="1"/>
          <p:nvPr/>
        </p:nvSpPr>
        <p:spPr>
          <a:xfrm>
            <a:off x="640080" y="3931920"/>
            <a:ext cx="2194560" cy="1097280"/>
          </a:xfrm>
          <a:prstGeom prst="rect">
            <a:avLst/>
          </a:prstGeom>
          <a:noFill/>
        </p:spPr>
        <p:txBody>
          <a:bodyPr wrap="square">
            <a:spAutoFit/>
          </a:bodyPr>
          <a:lstStyle/>
          <a:p>
            <a:pPr algn="ctr">
              <a:lnSpc>
                <a:spcPts val="1560"/>
              </a:lnSpc>
              <a:defRPr sz="1300" b="0" i="0">
                <a:solidFill>
                  <a:srgbClr val="95A5A6"/>
                </a:solidFill>
                <a:latin typeface="微软雅黑"/>
              </a:defRPr>
            </a:pPr>
            <a:r>
              <a:t>完形填空 · 哲理感悟</a:t>
            </a:r>
          </a:p>
        </p:txBody>
      </p:sp>
      <p:sp>
        <p:nvSpPr>
          <p:cNvPr id="14" name="Rounded Rectangle 13"/>
          <p:cNvSpPr/>
          <p:nvPr/>
        </p:nvSpPr>
        <p:spPr>
          <a:xfrm>
            <a:off x="3291840" y="1371600"/>
            <a:ext cx="2560320" cy="4114800"/>
          </a:xfrm>
          <a:prstGeom prst="roundRect">
            <a:avLst/>
          </a:prstGeom>
          <a:solidFill>
            <a:srgbClr val="FFFFFF"/>
          </a:solid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114800" y="1645920"/>
            <a:ext cx="914400" cy="914400"/>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0" y="1737360"/>
            <a:ext cx="914400" cy="731520"/>
          </a:xfrm>
          <a:prstGeom prst="rect">
            <a:avLst/>
          </a:prstGeom>
          <a:noFill/>
        </p:spPr>
        <p:txBody>
          <a:bodyPr wrap="square">
            <a:spAutoFit/>
          </a:bodyPr>
          <a:lstStyle/>
          <a:p>
            <a:pPr algn="ctr">
              <a:lnSpc>
                <a:spcPts val="3840"/>
              </a:lnSpc>
              <a:defRPr sz="3200" b="1" i="0">
                <a:solidFill>
                  <a:srgbClr val="FFFFFF"/>
                </a:solidFill>
                <a:latin typeface="Arial"/>
              </a:defRPr>
            </a:pPr>
            <a:r>
              <a:t>02</a:t>
            </a:r>
          </a:p>
        </p:txBody>
      </p:sp>
      <p:sp>
        <p:nvSpPr>
          <p:cNvPr id="17" name="TextBox 16"/>
          <p:cNvSpPr txBox="1"/>
          <p:nvPr/>
        </p:nvSpPr>
        <p:spPr>
          <a:xfrm>
            <a:off x="3474720" y="2743200"/>
            <a:ext cx="2194560" cy="365760"/>
          </a:xfrm>
          <a:prstGeom prst="rect">
            <a:avLst/>
          </a:prstGeom>
          <a:noFill/>
        </p:spPr>
        <p:txBody>
          <a:bodyPr wrap="square">
            <a:spAutoFit/>
          </a:bodyPr>
          <a:lstStyle/>
          <a:p>
            <a:pPr algn="ctr">
              <a:lnSpc>
                <a:spcPts val="1680"/>
              </a:lnSpc>
              <a:defRPr sz="1400" b="1" i="0">
                <a:solidFill>
                  <a:srgbClr val="8E44AD"/>
                </a:solidFill>
                <a:latin typeface="Arial"/>
              </a:defRPr>
            </a:pPr>
            <a:r>
              <a:t>Part 2</a:t>
            </a:r>
          </a:p>
        </p:txBody>
      </p:sp>
      <p:sp>
        <p:nvSpPr>
          <p:cNvPr id="18" name="TextBox 17"/>
          <p:cNvSpPr txBox="1"/>
          <p:nvPr/>
        </p:nvSpPr>
        <p:spPr>
          <a:xfrm>
            <a:off x="3474720" y="3108960"/>
            <a:ext cx="2194560" cy="731520"/>
          </a:xfrm>
          <a:prstGeom prst="rect">
            <a:avLst/>
          </a:prstGeom>
          <a:noFill/>
        </p:spPr>
        <p:txBody>
          <a:bodyPr wrap="square">
            <a:spAutoFit/>
          </a:bodyPr>
          <a:lstStyle/>
          <a:p>
            <a:pPr algn="ctr">
              <a:lnSpc>
                <a:spcPts val="1920"/>
              </a:lnSpc>
              <a:defRPr sz="1600" b="1" i="0">
                <a:solidFill>
                  <a:srgbClr val="2C3E50"/>
                </a:solidFill>
                <a:latin typeface="微软雅黑"/>
              </a:defRPr>
            </a:pPr>
            <a:r>
              <a:t>Grammar — 指称运用②</a:t>
            </a:r>
          </a:p>
        </p:txBody>
      </p:sp>
      <p:sp>
        <p:nvSpPr>
          <p:cNvPr id="19" name="TextBox 18"/>
          <p:cNvSpPr txBox="1"/>
          <p:nvPr/>
        </p:nvSpPr>
        <p:spPr>
          <a:xfrm>
            <a:off x="3474720" y="3931920"/>
            <a:ext cx="2194560" cy="1097280"/>
          </a:xfrm>
          <a:prstGeom prst="rect">
            <a:avLst/>
          </a:prstGeom>
          <a:noFill/>
        </p:spPr>
        <p:txBody>
          <a:bodyPr wrap="square">
            <a:spAutoFit/>
          </a:bodyPr>
          <a:lstStyle/>
          <a:p>
            <a:pPr algn="ctr">
              <a:lnSpc>
                <a:spcPts val="1560"/>
              </a:lnSpc>
              <a:defRPr sz="1300" b="0" i="0">
                <a:solidFill>
                  <a:srgbClr val="95A5A6"/>
                </a:solidFill>
                <a:latin typeface="微软雅黑"/>
              </a:defRPr>
            </a:pPr>
            <a:r>
              <a:t>不定代词 · 22 PK 33 · other系列</a:t>
            </a:r>
          </a:p>
        </p:txBody>
      </p:sp>
      <p:sp>
        <p:nvSpPr>
          <p:cNvPr id="20" name="Rounded Rectangle 19"/>
          <p:cNvSpPr/>
          <p:nvPr/>
        </p:nvSpPr>
        <p:spPr>
          <a:xfrm>
            <a:off x="6126480" y="1371600"/>
            <a:ext cx="2560320" cy="4114800"/>
          </a:xfrm>
          <a:prstGeom prst="round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949440" y="1645920"/>
            <a:ext cx="914400" cy="9144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0" y="1737360"/>
            <a:ext cx="914400" cy="731520"/>
          </a:xfrm>
          <a:prstGeom prst="rect">
            <a:avLst/>
          </a:prstGeom>
          <a:noFill/>
        </p:spPr>
        <p:txBody>
          <a:bodyPr wrap="square">
            <a:spAutoFit/>
          </a:bodyPr>
          <a:lstStyle/>
          <a:p>
            <a:pPr algn="ctr">
              <a:lnSpc>
                <a:spcPts val="3840"/>
              </a:lnSpc>
              <a:defRPr sz="3200" b="1" i="0">
                <a:solidFill>
                  <a:srgbClr val="FFFFFF"/>
                </a:solidFill>
                <a:latin typeface="Arial"/>
              </a:defRPr>
            </a:pPr>
            <a:r>
              <a:t>03</a:t>
            </a:r>
          </a:p>
        </p:txBody>
      </p:sp>
      <p:sp>
        <p:nvSpPr>
          <p:cNvPr id="23" name="TextBox 22"/>
          <p:cNvSpPr txBox="1"/>
          <p:nvPr/>
        </p:nvSpPr>
        <p:spPr>
          <a:xfrm>
            <a:off x="6309360" y="2743200"/>
            <a:ext cx="2194560" cy="365760"/>
          </a:xfrm>
          <a:prstGeom prst="rect">
            <a:avLst/>
          </a:prstGeom>
          <a:noFill/>
        </p:spPr>
        <p:txBody>
          <a:bodyPr wrap="square">
            <a:spAutoFit/>
          </a:bodyPr>
          <a:lstStyle/>
          <a:p>
            <a:pPr algn="ctr">
              <a:lnSpc>
                <a:spcPts val="1680"/>
              </a:lnSpc>
              <a:defRPr sz="1400" b="1" i="0">
                <a:solidFill>
                  <a:srgbClr val="27AE60"/>
                </a:solidFill>
                <a:latin typeface="Arial"/>
              </a:defRPr>
            </a:pPr>
            <a:r>
              <a:t>Part 3</a:t>
            </a:r>
          </a:p>
        </p:txBody>
      </p:sp>
      <p:sp>
        <p:nvSpPr>
          <p:cNvPr id="24" name="TextBox 23"/>
          <p:cNvSpPr txBox="1"/>
          <p:nvPr/>
        </p:nvSpPr>
        <p:spPr>
          <a:xfrm>
            <a:off x="6309360" y="3108960"/>
            <a:ext cx="2194560" cy="731520"/>
          </a:xfrm>
          <a:prstGeom prst="rect">
            <a:avLst/>
          </a:prstGeom>
          <a:noFill/>
        </p:spPr>
        <p:txBody>
          <a:bodyPr wrap="square">
            <a:spAutoFit/>
          </a:bodyPr>
          <a:lstStyle/>
          <a:p>
            <a:pPr algn="ctr">
              <a:lnSpc>
                <a:spcPts val="1920"/>
              </a:lnSpc>
              <a:defRPr sz="1600" b="1" i="0">
                <a:solidFill>
                  <a:srgbClr val="2C3E50"/>
                </a:solidFill>
                <a:latin typeface="微软雅黑"/>
              </a:defRPr>
            </a:pPr>
            <a:r>
              <a:t>Listening — 听力训练</a:t>
            </a:r>
          </a:p>
        </p:txBody>
      </p:sp>
      <p:sp>
        <p:nvSpPr>
          <p:cNvPr id="25" name="TextBox 24"/>
          <p:cNvSpPr txBox="1"/>
          <p:nvPr/>
        </p:nvSpPr>
        <p:spPr>
          <a:xfrm>
            <a:off x="6309360" y="3931920"/>
            <a:ext cx="2194560" cy="1097280"/>
          </a:xfrm>
          <a:prstGeom prst="rect">
            <a:avLst/>
          </a:prstGeom>
          <a:noFill/>
        </p:spPr>
        <p:txBody>
          <a:bodyPr wrap="square">
            <a:spAutoFit/>
          </a:bodyPr>
          <a:lstStyle/>
          <a:p>
            <a:pPr algn="ctr">
              <a:lnSpc>
                <a:spcPts val="1560"/>
              </a:lnSpc>
              <a:defRPr sz="1300" b="0" i="0">
                <a:solidFill>
                  <a:srgbClr val="95A5A6"/>
                </a:solidFill>
                <a:latin typeface="微软雅黑"/>
              </a:defRPr>
            </a:pPr>
            <a:r>
              <a:t>数字计算类 · 短对话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教学目标  Learning Objectives</a:t>
            </a:r>
          </a:p>
        </p:txBody>
      </p:sp>
      <p:sp>
        <p:nvSpPr>
          <p:cNvPr id="4" name="Rectangle 3"/>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7" name="TextBox 6"/>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3</a:t>
            </a:r>
          </a:p>
        </p:txBody>
      </p:sp>
      <p:sp>
        <p:nvSpPr>
          <p:cNvPr id="8" name="Rounded Rectangle 7"/>
          <p:cNvSpPr/>
          <p:nvPr/>
        </p:nvSpPr>
        <p:spPr>
          <a:xfrm>
            <a:off x="457200" y="1188720"/>
            <a:ext cx="1371600" cy="36576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207008"/>
            <a:ext cx="1371600" cy="329184"/>
          </a:xfrm>
          <a:prstGeom prst="rect">
            <a:avLst/>
          </a:prstGeom>
          <a:noFill/>
        </p:spPr>
        <p:txBody>
          <a:bodyPr wrap="square">
            <a:spAutoFit/>
          </a:bodyPr>
          <a:lstStyle/>
          <a:p>
            <a:pPr algn="ctr">
              <a:lnSpc>
                <a:spcPts val="1680"/>
              </a:lnSpc>
              <a:defRPr sz="1400" b="1" i="0">
                <a:solidFill>
                  <a:srgbClr val="FFFFFF"/>
                </a:solidFill>
                <a:latin typeface="微软雅黑"/>
              </a:defRPr>
            </a:pPr>
            <a:r>
              <a:t>知识目标</a:t>
            </a:r>
          </a:p>
        </p:txBody>
      </p:sp>
      <p:sp>
        <p:nvSpPr>
          <p:cNvPr id="10" name="TextBox 9"/>
          <p:cNvSpPr txBox="1"/>
          <p:nvPr/>
        </p:nvSpPr>
        <p:spPr>
          <a:xfrm>
            <a:off x="2103120" y="1097280"/>
            <a:ext cx="6400800" cy="1645920"/>
          </a:xfrm>
          <a:prstGeom prst="rect">
            <a:avLst/>
          </a:prstGeom>
          <a:noFill/>
        </p:spPr>
        <p:txBody>
          <a:bodyPr wrap="square">
            <a:spAutoFit/>
          </a:bodyPr>
          <a:lstStyle/>
          <a:p>
            <a:pPr>
              <a:lnSpc>
                <a:spcPts val="1820"/>
              </a:lnSpc>
            </a:pPr>
            <a:r>
              <a:rPr sz="1400" b="1">
                <a:solidFill>
                  <a:srgbClr val="2B5797"/>
                </a:solidFill>
                <a:latin typeface="Arial"/>
              </a:rPr>
              <a:t>● </a:t>
            </a:r>
            <a:r>
              <a:rPr sz="1400">
                <a:solidFill>
                  <a:srgbClr val="2C3E50"/>
                </a:solidFill>
                <a:latin typeface="微软雅黑"/>
              </a:rPr>
              <a:t>掌握完形填空解题技巧，理解议论文的篇章结构</a:t>
            </a:r>
          </a:p>
          <a:p>
            <a:pPr>
              <a:lnSpc>
                <a:spcPts val="1820"/>
              </a:lnSpc>
            </a:pPr>
            <a:r>
              <a:rPr sz="1400" b="1">
                <a:solidFill>
                  <a:srgbClr val="2B5797"/>
                </a:solidFill>
                <a:latin typeface="Arial"/>
              </a:rPr>
              <a:t>● </a:t>
            </a:r>
            <a:r>
              <a:rPr sz="1400">
                <a:solidFill>
                  <a:srgbClr val="2C3E50"/>
                </a:solidFill>
                <a:latin typeface="微软雅黑"/>
              </a:rPr>
              <a:t>掌握不定代词22组和33组的用法区别</a:t>
            </a:r>
          </a:p>
          <a:p>
            <a:pPr>
              <a:lnSpc>
                <a:spcPts val="1820"/>
              </a:lnSpc>
            </a:pPr>
            <a:r>
              <a:rPr sz="1400" b="1">
                <a:solidFill>
                  <a:srgbClr val="2B5797"/>
                </a:solidFill>
                <a:latin typeface="Arial"/>
              </a:rPr>
              <a:t>● </a:t>
            </a:r>
            <a:r>
              <a:rPr sz="1400">
                <a:solidFill>
                  <a:srgbClr val="2C3E50"/>
                </a:solidFill>
                <a:latin typeface="微软雅黑"/>
              </a:rPr>
              <a:t>掌握other系列五胞胎的正确使用</a:t>
            </a:r>
          </a:p>
          <a:p>
            <a:pPr>
              <a:lnSpc>
                <a:spcPts val="1820"/>
              </a:lnSpc>
            </a:pPr>
            <a:r>
              <a:rPr sz="1400" b="1">
                <a:solidFill>
                  <a:srgbClr val="2B5797"/>
                </a:solidFill>
                <a:latin typeface="Arial"/>
              </a:rPr>
              <a:t>● </a:t>
            </a:r>
            <a:r>
              <a:rPr sz="1400">
                <a:solidFill>
                  <a:srgbClr val="2C3E50"/>
                </a:solidFill>
                <a:latin typeface="微软雅黑"/>
              </a:rPr>
              <a:t>掌握no-类不定代词的区分方法</a:t>
            </a:r>
          </a:p>
        </p:txBody>
      </p:sp>
      <p:sp>
        <p:nvSpPr>
          <p:cNvPr id="11" name="Rounded Rectangle 10"/>
          <p:cNvSpPr/>
          <p:nvPr/>
        </p:nvSpPr>
        <p:spPr>
          <a:xfrm>
            <a:off x="457200" y="3017520"/>
            <a:ext cx="1371600" cy="36576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035808"/>
            <a:ext cx="1371600" cy="329184"/>
          </a:xfrm>
          <a:prstGeom prst="rect">
            <a:avLst/>
          </a:prstGeom>
          <a:noFill/>
        </p:spPr>
        <p:txBody>
          <a:bodyPr wrap="square">
            <a:spAutoFit/>
          </a:bodyPr>
          <a:lstStyle/>
          <a:p>
            <a:pPr algn="ctr">
              <a:lnSpc>
                <a:spcPts val="1680"/>
              </a:lnSpc>
              <a:defRPr sz="1400" b="1" i="0">
                <a:solidFill>
                  <a:srgbClr val="FFFFFF"/>
                </a:solidFill>
                <a:latin typeface="微软雅黑"/>
              </a:defRPr>
            </a:pPr>
            <a:r>
              <a:t>能力目标</a:t>
            </a:r>
          </a:p>
        </p:txBody>
      </p:sp>
      <p:sp>
        <p:nvSpPr>
          <p:cNvPr id="13" name="TextBox 12"/>
          <p:cNvSpPr txBox="1"/>
          <p:nvPr/>
        </p:nvSpPr>
        <p:spPr>
          <a:xfrm>
            <a:off x="2103120" y="2926080"/>
            <a:ext cx="6400800" cy="1645920"/>
          </a:xfrm>
          <a:prstGeom prst="rect">
            <a:avLst/>
          </a:prstGeom>
          <a:noFill/>
        </p:spPr>
        <p:txBody>
          <a:bodyPr wrap="square">
            <a:spAutoFit/>
          </a:bodyPr>
          <a:lstStyle/>
          <a:p>
            <a:pPr>
              <a:lnSpc>
                <a:spcPts val="1820"/>
              </a:lnSpc>
            </a:pPr>
            <a:r>
              <a:rPr sz="1400" b="1">
                <a:solidFill>
                  <a:srgbClr val="27AE60"/>
                </a:solidFill>
                <a:latin typeface="Arial"/>
              </a:rPr>
              <a:t>● </a:t>
            </a:r>
            <a:r>
              <a:rPr sz="1400">
                <a:solidFill>
                  <a:srgbClr val="2C3E50"/>
                </a:solidFill>
                <a:latin typeface="微软雅黑"/>
              </a:rPr>
              <a:t>能够运用长难句分析方法理解复杂句型</a:t>
            </a:r>
          </a:p>
          <a:p>
            <a:pPr>
              <a:lnSpc>
                <a:spcPts val="1820"/>
              </a:lnSpc>
            </a:pPr>
            <a:r>
              <a:rPr sz="1400" b="1">
                <a:solidFill>
                  <a:srgbClr val="27AE60"/>
                </a:solidFill>
                <a:latin typeface="Arial"/>
              </a:rPr>
              <a:t>● </a:t>
            </a:r>
            <a:r>
              <a:rPr sz="1400">
                <a:solidFill>
                  <a:srgbClr val="2C3E50"/>
                </a:solidFill>
                <a:latin typeface="微软雅黑"/>
              </a:rPr>
              <a:t>能够在写作中正确使用不定代词和other系列</a:t>
            </a:r>
          </a:p>
          <a:p>
            <a:pPr>
              <a:lnSpc>
                <a:spcPts val="1820"/>
              </a:lnSpc>
            </a:pPr>
            <a:r>
              <a:rPr sz="1400" b="1">
                <a:solidFill>
                  <a:srgbClr val="27AE60"/>
                </a:solidFill>
                <a:latin typeface="Arial"/>
              </a:rPr>
              <a:t>● </a:t>
            </a:r>
            <a:r>
              <a:rPr sz="1400">
                <a:solidFill>
                  <a:srgbClr val="2C3E50"/>
                </a:solidFill>
                <a:latin typeface="微软雅黑"/>
              </a:rPr>
              <a:t>能够在听力中准确捕捉数字信息并进行计算</a:t>
            </a:r>
          </a:p>
        </p:txBody>
      </p:sp>
      <p:sp>
        <p:nvSpPr>
          <p:cNvPr id="14" name="Rounded Rectangle 13"/>
          <p:cNvSpPr/>
          <p:nvPr/>
        </p:nvSpPr>
        <p:spPr>
          <a:xfrm>
            <a:off x="457200" y="4846320"/>
            <a:ext cx="1371600" cy="36576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864608"/>
            <a:ext cx="1371600" cy="329184"/>
          </a:xfrm>
          <a:prstGeom prst="rect">
            <a:avLst/>
          </a:prstGeom>
          <a:noFill/>
        </p:spPr>
        <p:txBody>
          <a:bodyPr wrap="square">
            <a:spAutoFit/>
          </a:bodyPr>
          <a:lstStyle/>
          <a:p>
            <a:pPr algn="ctr">
              <a:lnSpc>
                <a:spcPts val="1680"/>
              </a:lnSpc>
              <a:defRPr sz="1400" b="1" i="0">
                <a:solidFill>
                  <a:srgbClr val="FFFFFF"/>
                </a:solidFill>
                <a:latin typeface="微软雅黑"/>
              </a:defRPr>
            </a:pPr>
            <a:r>
              <a:t>情感目标</a:t>
            </a:r>
          </a:p>
        </p:txBody>
      </p:sp>
      <p:sp>
        <p:nvSpPr>
          <p:cNvPr id="16" name="TextBox 15"/>
          <p:cNvSpPr txBox="1"/>
          <p:nvPr/>
        </p:nvSpPr>
        <p:spPr>
          <a:xfrm>
            <a:off x="2103120" y="4754880"/>
            <a:ext cx="6400800" cy="1645920"/>
          </a:xfrm>
          <a:prstGeom prst="rect">
            <a:avLst/>
          </a:prstGeom>
          <a:noFill/>
        </p:spPr>
        <p:txBody>
          <a:bodyPr wrap="square">
            <a:spAutoFit/>
          </a:bodyPr>
          <a:lstStyle/>
          <a:p>
            <a:pPr>
              <a:lnSpc>
                <a:spcPts val="1820"/>
              </a:lnSpc>
            </a:pPr>
            <a:r>
              <a:rPr sz="1400" b="1">
                <a:solidFill>
                  <a:srgbClr val="E74C3C"/>
                </a:solidFill>
                <a:latin typeface="Arial"/>
              </a:rPr>
              <a:t>● </a:t>
            </a:r>
            <a:r>
              <a:rPr sz="1400">
                <a:solidFill>
                  <a:srgbClr val="2C3E50"/>
                </a:solidFill>
                <a:latin typeface="微软雅黑"/>
              </a:rPr>
              <a:t>感悟'放慢脚步，享受生活'的人生哲理</a:t>
            </a:r>
          </a:p>
          <a:p>
            <a:pPr>
              <a:lnSpc>
                <a:spcPts val="1820"/>
              </a:lnSpc>
            </a:pPr>
            <a:r>
              <a:rPr sz="1400" b="1">
                <a:solidFill>
                  <a:srgbClr val="E74C3C"/>
                </a:solidFill>
                <a:latin typeface="Arial"/>
              </a:rPr>
              <a:t>● </a:t>
            </a:r>
            <a:r>
              <a:rPr sz="1400">
                <a:solidFill>
                  <a:srgbClr val="2C3E50"/>
                </a:solidFill>
                <a:latin typeface="微软雅黑"/>
              </a:rPr>
              <a:t>培养细心审题、注意细节的学习习惯</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14400" y="1828800"/>
            <a:ext cx="7315200" cy="914400"/>
          </a:xfrm>
          <a:prstGeom prst="rect">
            <a:avLst/>
          </a:prstGeom>
          <a:noFill/>
        </p:spPr>
        <p:txBody>
          <a:bodyPr wrap="square">
            <a:spAutoFit/>
          </a:bodyPr>
          <a:lstStyle/>
          <a:p>
            <a:pPr algn="l">
              <a:lnSpc>
                <a:spcPts val="6240"/>
              </a:lnSpc>
              <a:defRPr sz="5200" b="1" i="0">
                <a:solidFill>
                  <a:srgbClr val="FFFFFF"/>
                </a:solidFill>
                <a:latin typeface="Arial"/>
              </a:defRPr>
            </a:pPr>
            <a:r>
              <a:t>Warm-up</a:t>
            </a:r>
          </a:p>
        </p:txBody>
      </p:sp>
      <p:sp>
        <p:nvSpPr>
          <p:cNvPr id="4" name="TextBox 3"/>
          <p:cNvSpPr txBox="1"/>
          <p:nvPr/>
        </p:nvSpPr>
        <p:spPr>
          <a:xfrm>
            <a:off x="914400" y="2926080"/>
            <a:ext cx="7315200" cy="548640"/>
          </a:xfrm>
          <a:prstGeom prst="rect">
            <a:avLst/>
          </a:prstGeom>
          <a:noFill/>
        </p:spPr>
        <p:txBody>
          <a:bodyPr wrap="square">
            <a:spAutoFit/>
          </a:bodyPr>
          <a:lstStyle/>
          <a:p>
            <a:pPr algn="l">
              <a:lnSpc>
                <a:spcPts val="2879"/>
              </a:lnSpc>
              <a:defRPr sz="2400" b="0" i="0">
                <a:solidFill>
                  <a:srgbClr val="F39C12"/>
                </a:solidFill>
                <a:latin typeface="微软雅黑"/>
              </a:defRPr>
            </a:pPr>
            <a:r>
              <a:t>课前热身 · 不定代词复习</a:t>
            </a:r>
          </a:p>
        </p:txBody>
      </p:sp>
      <p:sp>
        <p:nvSpPr>
          <p:cNvPr id="5" name="Rectangle 4"/>
          <p:cNvSpPr/>
          <p:nvPr/>
        </p:nvSpPr>
        <p:spPr>
          <a:xfrm>
            <a:off x="914400" y="2743200"/>
            <a:ext cx="27432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840480"/>
            <a:ext cx="7315200" cy="548640"/>
          </a:xfrm>
          <a:prstGeom prst="rect">
            <a:avLst/>
          </a:prstGeom>
          <a:noFill/>
        </p:spPr>
        <p:txBody>
          <a:bodyPr wrap="square">
            <a:spAutoFit/>
          </a:bodyPr>
          <a:lstStyle/>
          <a:p>
            <a:pPr algn="l">
              <a:lnSpc>
                <a:spcPts val="2160"/>
              </a:lnSpc>
              <a:defRPr sz="1800" b="0" i="0">
                <a:solidFill>
                  <a:srgbClr val="FFFFFF"/>
                </a:solidFill>
                <a:latin typeface="微软雅黑"/>
              </a:defRPr>
            </a:pPr>
            <a:r>
              <a:t>回顾L1所学，挑战以下3道真题！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Warm-up · 热身练习 1</a:t>
            </a:r>
          </a:p>
        </p:txBody>
      </p:sp>
      <p:sp>
        <p:nvSpPr>
          <p:cNvPr id="4" name="Rectangle 3"/>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7" name="TextBox 6"/>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5</a:t>
            </a:r>
          </a:p>
        </p:txBody>
      </p:sp>
      <p:sp>
        <p:nvSpPr>
          <p:cNvPr id="8" name="Rounded Rectangle 7"/>
          <p:cNvSpPr/>
          <p:nvPr/>
        </p:nvSpPr>
        <p:spPr>
          <a:xfrm>
            <a:off x="457200" y="1097280"/>
            <a:ext cx="1371600" cy="3200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115568"/>
            <a:ext cx="1371600" cy="301752"/>
          </a:xfrm>
          <a:prstGeom prst="rect">
            <a:avLst/>
          </a:prstGeom>
          <a:noFill/>
        </p:spPr>
        <p:txBody>
          <a:bodyPr wrap="square">
            <a:spAutoFit/>
          </a:bodyPr>
          <a:lstStyle/>
          <a:p>
            <a:pPr algn="ctr">
              <a:lnSpc>
                <a:spcPts val="1439"/>
              </a:lnSpc>
              <a:defRPr sz="1200" b="1" i="0">
                <a:solidFill>
                  <a:srgbClr val="FFFFFF"/>
                </a:solidFill>
                <a:latin typeface="微软雅黑"/>
              </a:defRPr>
            </a:pPr>
            <a:r>
              <a:t>安徽期末</a:t>
            </a:r>
          </a:p>
        </p:txBody>
      </p:sp>
      <p:sp>
        <p:nvSpPr>
          <p:cNvPr id="10" name="Oval 9"/>
          <p:cNvSpPr/>
          <p:nvPr/>
        </p:nvSpPr>
        <p:spPr>
          <a:xfrm>
            <a:off x="457200" y="1645920"/>
            <a:ext cx="731520" cy="7315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737360"/>
            <a:ext cx="731520" cy="548640"/>
          </a:xfrm>
          <a:prstGeom prst="rect">
            <a:avLst/>
          </a:prstGeom>
          <a:noFill/>
        </p:spPr>
        <p:txBody>
          <a:bodyPr wrap="square">
            <a:spAutoFit/>
          </a:bodyPr>
          <a:lstStyle/>
          <a:p>
            <a:pPr algn="ctr">
              <a:lnSpc>
                <a:spcPts val="2640"/>
              </a:lnSpc>
              <a:defRPr sz="2200" b="1" i="0">
                <a:solidFill>
                  <a:srgbClr val="FFFFFF"/>
                </a:solidFill>
                <a:latin typeface="Arial"/>
              </a:defRPr>
            </a:pPr>
            <a:r>
              <a:t>Q1</a:t>
            </a:r>
          </a:p>
        </p:txBody>
      </p:sp>
      <p:sp>
        <p:nvSpPr>
          <p:cNvPr id="12" name="Rounded Rectangle 11"/>
          <p:cNvSpPr/>
          <p:nvPr/>
        </p:nvSpPr>
        <p:spPr>
          <a:xfrm>
            <a:off x="1371600" y="1645920"/>
            <a:ext cx="7315200" cy="1645920"/>
          </a:xfrm>
          <a:prstGeom prst="roundRect">
            <a:avLst/>
          </a:prstGeom>
          <a:solidFill>
            <a:srgbClr val="EBF5FB"/>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800" b="0">
                <a:solidFill>
                  <a:srgbClr val="2C3E50"/>
                </a:solidFill>
                <a:latin typeface="微软雅黑"/>
              </a:defRPr>
            </a:pPr>
            <a:r>
              <a:t>—To have a nice future, we should work hard every day.</a:t>
            </a:r>
            <a:br/>
            <a:r>
              <a:t>—You're right. ________ can stop us from realizing our dreams.</a:t>
            </a:r>
          </a:p>
        </p:txBody>
      </p:sp>
      <p:sp>
        <p:nvSpPr>
          <p:cNvPr id="13" name="TextBox 12"/>
          <p:cNvSpPr txBox="1"/>
          <p:nvPr/>
        </p:nvSpPr>
        <p:spPr>
          <a:xfrm>
            <a:off x="1371600" y="3657600"/>
            <a:ext cx="7315200" cy="1371600"/>
          </a:xfrm>
          <a:prstGeom prst="rect">
            <a:avLst/>
          </a:prstGeom>
          <a:noFill/>
        </p:spPr>
        <p:txBody>
          <a:bodyPr wrap="square">
            <a:spAutoFit/>
          </a:bodyPr>
          <a:lstStyle/>
          <a:p>
            <a:pPr algn="l">
              <a:lnSpc>
                <a:spcPts val="3060"/>
              </a:lnSpc>
              <a:defRPr sz="1700" b="0" i="0">
                <a:solidFill>
                  <a:srgbClr val="2C3E50"/>
                </a:solidFill>
                <a:latin typeface="微软雅黑"/>
              </a:defRPr>
            </a:pPr>
            <a:r>
              <a:t>A. Something    B. Anything    C. Everything    D. Nothing</a:t>
            </a:r>
          </a:p>
        </p:txBody>
      </p:sp>
      <p:sp>
        <p:nvSpPr>
          <p:cNvPr id="14" name="Rounded Rectangle 13"/>
          <p:cNvSpPr/>
          <p:nvPr/>
        </p:nvSpPr>
        <p:spPr>
          <a:xfrm>
            <a:off x="2743200" y="5303520"/>
            <a:ext cx="3657600" cy="5486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0" y="5349240"/>
            <a:ext cx="3657600" cy="457200"/>
          </a:xfrm>
          <a:prstGeom prst="rect">
            <a:avLst/>
          </a:prstGeom>
          <a:noFill/>
        </p:spPr>
        <p:txBody>
          <a:bodyPr wrap="square">
            <a:spAutoFit/>
          </a:bodyPr>
          <a:lstStyle/>
          <a:p>
            <a:pPr algn="ctr">
              <a:lnSpc>
                <a:spcPts val="1920"/>
              </a:lnSpc>
              <a:defRPr sz="1600" b="1" i="0">
                <a:solidFill>
                  <a:srgbClr val="FFFFFF"/>
                </a:solidFill>
                <a:latin typeface="微软雅黑"/>
              </a:defRPr>
            </a:pPr>
            <a:r>
              <a:t>Think &amp; Answer! 请思考...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Warm-up · 答案解析 1</a:t>
            </a:r>
          </a:p>
        </p:txBody>
      </p:sp>
      <p:sp>
        <p:nvSpPr>
          <p:cNvPr id="4" name="Rectangle 3"/>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7" name="TextBox 6"/>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6</a:t>
            </a:r>
          </a:p>
        </p:txBody>
      </p:sp>
      <p:sp>
        <p:nvSpPr>
          <p:cNvPr id="8" name="Rounded Rectangle 7"/>
          <p:cNvSpPr/>
          <p:nvPr/>
        </p:nvSpPr>
        <p:spPr>
          <a:xfrm>
            <a:off x="457200" y="1097280"/>
            <a:ext cx="2286000" cy="73152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143000"/>
            <a:ext cx="2286000" cy="640080"/>
          </a:xfrm>
          <a:prstGeom prst="rect">
            <a:avLst/>
          </a:prstGeom>
          <a:noFill/>
        </p:spPr>
        <p:txBody>
          <a:bodyPr wrap="square">
            <a:spAutoFit/>
          </a:bodyPr>
          <a:lstStyle/>
          <a:p>
            <a:pPr algn="ctr">
              <a:lnSpc>
                <a:spcPts val="2640"/>
              </a:lnSpc>
              <a:defRPr sz="2200" b="1" i="0">
                <a:solidFill>
                  <a:srgbClr val="FFFFFF"/>
                </a:solidFill>
                <a:latin typeface="Arial"/>
              </a:defRPr>
            </a:pPr>
            <a:r>
              <a:t>Answer: D. Nothing</a:t>
            </a:r>
          </a:p>
        </p:txBody>
      </p:sp>
      <p:sp>
        <p:nvSpPr>
          <p:cNvPr id="10" name="Rounded Rectangle 9"/>
          <p:cNvSpPr/>
          <p:nvPr/>
        </p:nvSpPr>
        <p:spPr>
          <a:xfrm>
            <a:off x="457200" y="2103120"/>
            <a:ext cx="8229600" cy="2286000"/>
          </a:xfrm>
          <a:prstGeom prst="roundRect">
            <a:avLst/>
          </a:prstGeom>
          <a:solidFill>
            <a:srgbClr val="FDF2E9"/>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0">
                <a:solidFill>
                  <a:srgbClr val="2C3E50"/>
                </a:solidFill>
                <a:latin typeface="微软雅黑"/>
              </a:defRPr>
            </a:pPr>
            <a:r>
              <a:t>句意："为了拥有美好的未来，我们应该每天努力学习。" "你说得对。没有什么能阻止我们实现梦想。"</a:t>
            </a:r>
            <a:br/>
            <a:br/>
            <a:r>
              <a:t>Nothing = 没有什么，用于否定含义的肯定句中，表示"没有任何东西能阻止"。</a:t>
            </a:r>
          </a:p>
        </p:txBody>
      </p:sp>
      <p:sp>
        <p:nvSpPr>
          <p:cNvPr id="11" name="Rounded Rectangle 10"/>
          <p:cNvSpPr/>
          <p:nvPr/>
        </p:nvSpPr>
        <p:spPr>
          <a:xfrm>
            <a:off x="457200" y="4754880"/>
            <a:ext cx="8229600" cy="1097280"/>
          </a:xfrm>
          <a:prstGeom prst="roundRect">
            <a:avLst/>
          </a:prstGeom>
          <a:solidFill>
            <a:srgbClr val="E8F8EE"/>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846320"/>
            <a:ext cx="7863840" cy="914400"/>
          </a:xfrm>
          <a:prstGeom prst="rect">
            <a:avLst/>
          </a:prstGeom>
          <a:noFill/>
        </p:spPr>
        <p:txBody>
          <a:bodyPr wrap="square">
            <a:spAutoFit/>
          </a:bodyPr>
          <a:lstStyle/>
          <a:p>
            <a:pPr algn="l">
              <a:lnSpc>
                <a:spcPts val="2080"/>
              </a:lnSpc>
            </a:pPr>
            <a:r>
              <a:rPr sz="1600" b="1" i="0">
                <a:solidFill>
                  <a:srgbClr val="27AE60"/>
                </a:solidFill>
                <a:latin typeface="Arial"/>
              </a:rPr>
              <a:t>💡 </a:t>
            </a:r>
            <a:r>
              <a:rPr sz="1400" b="1" i="0">
                <a:solidFill>
                  <a:srgbClr val="27AE60"/>
                </a:solidFill>
                <a:latin typeface="Arial"/>
              </a:rPr>
              <a:t>Teacher's Tip: </a:t>
            </a:r>
            <a:r>
              <a:rPr sz="1400" b="0" i="0">
                <a:solidFill>
                  <a:srgbClr val="2C3E50"/>
                </a:solidFill>
                <a:latin typeface="微软雅黑"/>
              </a:rPr>
              <a:t>Nothing 在肯定句中表达否定含义，强调"没有任何事物"。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Warm-up · 热身练习 2</a:t>
            </a:r>
          </a:p>
        </p:txBody>
      </p:sp>
      <p:sp>
        <p:nvSpPr>
          <p:cNvPr id="4" name="Rectangle 3"/>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7" name="TextBox 6"/>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7</a:t>
            </a:r>
          </a:p>
        </p:txBody>
      </p:sp>
      <p:sp>
        <p:nvSpPr>
          <p:cNvPr id="8" name="Rounded Rectangle 7"/>
          <p:cNvSpPr/>
          <p:nvPr/>
        </p:nvSpPr>
        <p:spPr>
          <a:xfrm>
            <a:off x="457200" y="1097280"/>
            <a:ext cx="1371600" cy="3200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115568"/>
            <a:ext cx="1371600" cy="301752"/>
          </a:xfrm>
          <a:prstGeom prst="rect">
            <a:avLst/>
          </a:prstGeom>
          <a:noFill/>
        </p:spPr>
        <p:txBody>
          <a:bodyPr wrap="square">
            <a:spAutoFit/>
          </a:bodyPr>
          <a:lstStyle/>
          <a:p>
            <a:pPr algn="ctr">
              <a:lnSpc>
                <a:spcPts val="1439"/>
              </a:lnSpc>
              <a:defRPr sz="1200" b="1" i="0">
                <a:solidFill>
                  <a:srgbClr val="FFFFFF"/>
                </a:solidFill>
                <a:latin typeface="微软雅黑"/>
              </a:defRPr>
            </a:pPr>
            <a:r>
              <a:t>安徽期末</a:t>
            </a:r>
          </a:p>
        </p:txBody>
      </p:sp>
      <p:sp>
        <p:nvSpPr>
          <p:cNvPr id="10" name="Oval 9"/>
          <p:cNvSpPr/>
          <p:nvPr/>
        </p:nvSpPr>
        <p:spPr>
          <a:xfrm>
            <a:off x="457200" y="1645920"/>
            <a:ext cx="731520" cy="7315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737360"/>
            <a:ext cx="731520" cy="548640"/>
          </a:xfrm>
          <a:prstGeom prst="rect">
            <a:avLst/>
          </a:prstGeom>
          <a:noFill/>
        </p:spPr>
        <p:txBody>
          <a:bodyPr wrap="square">
            <a:spAutoFit/>
          </a:bodyPr>
          <a:lstStyle/>
          <a:p>
            <a:pPr algn="ctr">
              <a:lnSpc>
                <a:spcPts val="2640"/>
              </a:lnSpc>
              <a:defRPr sz="2200" b="1" i="0">
                <a:solidFill>
                  <a:srgbClr val="FFFFFF"/>
                </a:solidFill>
                <a:latin typeface="Arial"/>
              </a:defRPr>
            </a:pPr>
            <a:r>
              <a:t>Q2</a:t>
            </a:r>
          </a:p>
        </p:txBody>
      </p:sp>
      <p:sp>
        <p:nvSpPr>
          <p:cNvPr id="12" name="Rounded Rectangle 11"/>
          <p:cNvSpPr/>
          <p:nvPr/>
        </p:nvSpPr>
        <p:spPr>
          <a:xfrm>
            <a:off x="1371600" y="1645920"/>
            <a:ext cx="7315200" cy="1645920"/>
          </a:xfrm>
          <a:prstGeom prst="roundRect">
            <a:avLst/>
          </a:prstGeom>
          <a:solidFill>
            <a:srgbClr val="EBF5FB"/>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800" b="0">
                <a:solidFill>
                  <a:srgbClr val="2C3E50"/>
                </a:solidFill>
                <a:latin typeface="微软雅黑"/>
              </a:defRPr>
            </a:pPr>
            <a:r>
              <a:t>You can ask anyone for help. Everyone ________ help you.</a:t>
            </a:r>
          </a:p>
        </p:txBody>
      </p:sp>
      <p:sp>
        <p:nvSpPr>
          <p:cNvPr id="13" name="TextBox 12"/>
          <p:cNvSpPr txBox="1"/>
          <p:nvPr/>
        </p:nvSpPr>
        <p:spPr>
          <a:xfrm>
            <a:off x="1371600" y="3657600"/>
            <a:ext cx="7315200" cy="1371600"/>
          </a:xfrm>
          <a:prstGeom prst="rect">
            <a:avLst/>
          </a:prstGeom>
          <a:noFill/>
        </p:spPr>
        <p:txBody>
          <a:bodyPr wrap="square">
            <a:spAutoFit/>
          </a:bodyPr>
          <a:lstStyle/>
          <a:p>
            <a:pPr algn="l">
              <a:lnSpc>
                <a:spcPts val="3060"/>
              </a:lnSpc>
              <a:defRPr sz="1700" b="0" i="0">
                <a:solidFill>
                  <a:srgbClr val="2C3E50"/>
                </a:solidFill>
                <a:latin typeface="微软雅黑"/>
              </a:defRPr>
            </a:pPr>
            <a:r>
              <a:t>A. are ready for    B. are ready to    C. is ready for    D. is ready to</a:t>
            </a:r>
          </a:p>
        </p:txBody>
      </p:sp>
      <p:sp>
        <p:nvSpPr>
          <p:cNvPr id="14" name="Rounded Rectangle 13"/>
          <p:cNvSpPr/>
          <p:nvPr/>
        </p:nvSpPr>
        <p:spPr>
          <a:xfrm>
            <a:off x="2743200" y="5303520"/>
            <a:ext cx="3657600" cy="5486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0" y="5349240"/>
            <a:ext cx="3657600" cy="457200"/>
          </a:xfrm>
          <a:prstGeom prst="rect">
            <a:avLst/>
          </a:prstGeom>
          <a:noFill/>
        </p:spPr>
        <p:txBody>
          <a:bodyPr wrap="square">
            <a:spAutoFit/>
          </a:bodyPr>
          <a:lstStyle/>
          <a:p>
            <a:pPr algn="ctr">
              <a:lnSpc>
                <a:spcPts val="1920"/>
              </a:lnSpc>
              <a:defRPr sz="1600" b="1" i="0">
                <a:solidFill>
                  <a:srgbClr val="FFFFFF"/>
                </a:solidFill>
                <a:latin typeface="微软雅黑"/>
              </a:defRPr>
            </a:pPr>
            <a:r>
              <a:t>Think &amp; Answer! 请思考...</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Warm-up · 答案解析 2</a:t>
            </a:r>
          </a:p>
        </p:txBody>
      </p:sp>
      <p:sp>
        <p:nvSpPr>
          <p:cNvPr id="4" name="Rectangle 3"/>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7" name="TextBox 6"/>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8</a:t>
            </a:r>
          </a:p>
        </p:txBody>
      </p:sp>
      <p:sp>
        <p:nvSpPr>
          <p:cNvPr id="8" name="Rounded Rectangle 7"/>
          <p:cNvSpPr/>
          <p:nvPr/>
        </p:nvSpPr>
        <p:spPr>
          <a:xfrm>
            <a:off x="457200" y="1097280"/>
            <a:ext cx="2286000" cy="73152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143000"/>
            <a:ext cx="2286000" cy="640080"/>
          </a:xfrm>
          <a:prstGeom prst="rect">
            <a:avLst/>
          </a:prstGeom>
          <a:noFill/>
        </p:spPr>
        <p:txBody>
          <a:bodyPr wrap="square">
            <a:spAutoFit/>
          </a:bodyPr>
          <a:lstStyle/>
          <a:p>
            <a:pPr algn="ctr">
              <a:lnSpc>
                <a:spcPts val="2640"/>
              </a:lnSpc>
              <a:defRPr sz="2200" b="1" i="0">
                <a:solidFill>
                  <a:srgbClr val="FFFFFF"/>
                </a:solidFill>
                <a:latin typeface="Arial"/>
              </a:defRPr>
            </a:pPr>
            <a:r>
              <a:t>Answer: D. is ready to</a:t>
            </a:r>
          </a:p>
        </p:txBody>
      </p:sp>
      <p:sp>
        <p:nvSpPr>
          <p:cNvPr id="10" name="Rounded Rectangle 9"/>
          <p:cNvSpPr/>
          <p:nvPr/>
        </p:nvSpPr>
        <p:spPr>
          <a:xfrm>
            <a:off x="457200" y="2103120"/>
            <a:ext cx="8229600" cy="2286000"/>
          </a:xfrm>
          <a:prstGeom prst="roundRect">
            <a:avLst/>
          </a:prstGeom>
          <a:solidFill>
            <a:srgbClr val="FDF2E9"/>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0">
                <a:solidFill>
                  <a:srgbClr val="2C3E50"/>
                </a:solidFill>
                <a:latin typeface="微软雅黑"/>
              </a:defRPr>
            </a:pPr>
            <a:r>
              <a:t>句意："你可以向任何人寻求帮助。每个人都准备好帮助你了。"</a:t>
            </a:r>
            <a:br/>
            <a:br/>
            <a:r>
              <a:t>① Everyone 是单数 → 谓语用 is（排除A、B）</a:t>
            </a:r>
            <a:br/>
            <a:r>
              <a:t>② be ready to do sth. 准备好做某事（排除C）</a:t>
            </a:r>
          </a:p>
        </p:txBody>
      </p:sp>
      <p:sp>
        <p:nvSpPr>
          <p:cNvPr id="11" name="Rounded Rectangle 10"/>
          <p:cNvSpPr/>
          <p:nvPr/>
        </p:nvSpPr>
        <p:spPr>
          <a:xfrm>
            <a:off x="457200" y="4754880"/>
            <a:ext cx="8229600" cy="1097280"/>
          </a:xfrm>
          <a:prstGeom prst="roundRect">
            <a:avLst/>
          </a:prstGeom>
          <a:solidFill>
            <a:srgbClr val="E8F8EE"/>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846320"/>
            <a:ext cx="7863840" cy="914400"/>
          </a:xfrm>
          <a:prstGeom prst="rect">
            <a:avLst/>
          </a:prstGeom>
          <a:noFill/>
        </p:spPr>
        <p:txBody>
          <a:bodyPr wrap="square">
            <a:spAutoFit/>
          </a:bodyPr>
          <a:lstStyle/>
          <a:p>
            <a:pPr algn="l">
              <a:lnSpc>
                <a:spcPts val="2080"/>
              </a:lnSpc>
            </a:pPr>
            <a:r>
              <a:rPr sz="1600" b="1" i="0">
                <a:solidFill>
                  <a:srgbClr val="27AE60"/>
                </a:solidFill>
                <a:latin typeface="Arial"/>
              </a:rPr>
              <a:t>💡 </a:t>
            </a:r>
            <a:r>
              <a:rPr sz="1400" b="1" i="0">
                <a:solidFill>
                  <a:srgbClr val="27AE60"/>
                </a:solidFill>
                <a:latin typeface="Arial"/>
              </a:rPr>
              <a:t>Teacher's Tip: </a:t>
            </a:r>
            <a:r>
              <a:rPr sz="1400" b="0" i="0">
                <a:solidFill>
                  <a:srgbClr val="2C3E50"/>
                </a:solidFill>
                <a:latin typeface="微软雅黑"/>
              </a:rPr>
              <a:t>Everyone/Everybody + 单数谓语 是固定搭配！be ready to do vs be ready for sth 注意区分。</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Warm-up · 热身练习 3</a:t>
            </a:r>
          </a:p>
        </p:txBody>
      </p:sp>
      <p:sp>
        <p:nvSpPr>
          <p:cNvPr id="4" name="Rectangle 3"/>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7" name="TextBox 6"/>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9</a:t>
            </a:r>
          </a:p>
        </p:txBody>
      </p:sp>
      <p:sp>
        <p:nvSpPr>
          <p:cNvPr id="8" name="Rounded Rectangle 7"/>
          <p:cNvSpPr/>
          <p:nvPr/>
        </p:nvSpPr>
        <p:spPr>
          <a:xfrm>
            <a:off x="457200" y="1097280"/>
            <a:ext cx="1371600" cy="3200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115568"/>
            <a:ext cx="1371600" cy="301752"/>
          </a:xfrm>
          <a:prstGeom prst="rect">
            <a:avLst/>
          </a:prstGeom>
          <a:noFill/>
        </p:spPr>
        <p:txBody>
          <a:bodyPr wrap="square">
            <a:spAutoFit/>
          </a:bodyPr>
          <a:lstStyle/>
          <a:p>
            <a:pPr algn="ctr">
              <a:lnSpc>
                <a:spcPts val="1439"/>
              </a:lnSpc>
              <a:defRPr sz="1200" b="1" i="0">
                <a:solidFill>
                  <a:srgbClr val="FFFFFF"/>
                </a:solidFill>
                <a:latin typeface="微软雅黑"/>
              </a:defRPr>
            </a:pPr>
            <a:r>
              <a:t>安徽期末</a:t>
            </a:r>
          </a:p>
        </p:txBody>
      </p:sp>
      <p:sp>
        <p:nvSpPr>
          <p:cNvPr id="10" name="Oval 9"/>
          <p:cNvSpPr/>
          <p:nvPr/>
        </p:nvSpPr>
        <p:spPr>
          <a:xfrm>
            <a:off x="457200" y="1645920"/>
            <a:ext cx="731520" cy="7315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737360"/>
            <a:ext cx="731520" cy="548640"/>
          </a:xfrm>
          <a:prstGeom prst="rect">
            <a:avLst/>
          </a:prstGeom>
          <a:noFill/>
        </p:spPr>
        <p:txBody>
          <a:bodyPr wrap="square">
            <a:spAutoFit/>
          </a:bodyPr>
          <a:lstStyle/>
          <a:p>
            <a:pPr algn="ctr">
              <a:lnSpc>
                <a:spcPts val="2640"/>
              </a:lnSpc>
              <a:defRPr sz="2200" b="1" i="0">
                <a:solidFill>
                  <a:srgbClr val="FFFFFF"/>
                </a:solidFill>
                <a:latin typeface="Arial"/>
              </a:defRPr>
            </a:pPr>
            <a:r>
              <a:t>Q3</a:t>
            </a:r>
          </a:p>
        </p:txBody>
      </p:sp>
      <p:sp>
        <p:nvSpPr>
          <p:cNvPr id="12" name="Rounded Rectangle 11"/>
          <p:cNvSpPr/>
          <p:nvPr/>
        </p:nvSpPr>
        <p:spPr>
          <a:xfrm>
            <a:off x="1371600" y="1645920"/>
            <a:ext cx="7315200" cy="1645920"/>
          </a:xfrm>
          <a:prstGeom prst="roundRect">
            <a:avLst/>
          </a:prstGeom>
          <a:solidFill>
            <a:srgbClr val="EBF5FB"/>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800" b="0">
                <a:solidFill>
                  <a:srgbClr val="2C3E50"/>
                </a:solidFill>
                <a:latin typeface="微软雅黑"/>
              </a:defRPr>
            </a:pPr>
            <a:r>
              <a:t>There is ________ in these boring stories, so I can't learn ________ from them.</a:t>
            </a:r>
          </a:p>
        </p:txBody>
      </p:sp>
      <p:sp>
        <p:nvSpPr>
          <p:cNvPr id="13" name="TextBox 12"/>
          <p:cNvSpPr txBox="1"/>
          <p:nvPr/>
        </p:nvSpPr>
        <p:spPr>
          <a:xfrm>
            <a:off x="1371600" y="3657600"/>
            <a:ext cx="7315200" cy="1371600"/>
          </a:xfrm>
          <a:prstGeom prst="rect">
            <a:avLst/>
          </a:prstGeom>
          <a:noFill/>
        </p:spPr>
        <p:txBody>
          <a:bodyPr wrap="square">
            <a:spAutoFit/>
          </a:bodyPr>
          <a:lstStyle/>
          <a:p>
            <a:pPr algn="l">
              <a:lnSpc>
                <a:spcPts val="3060"/>
              </a:lnSpc>
              <a:defRPr sz="1700" b="0" i="0">
                <a:solidFill>
                  <a:srgbClr val="2C3E50"/>
                </a:solidFill>
                <a:latin typeface="微软雅黑"/>
              </a:defRPr>
            </a:pPr>
            <a:r>
              <a:t>A. something meaningful; everything</a:t>
            </a:r>
            <a:br/>
            <a:r>
              <a:t>B. meaningful something; anything</a:t>
            </a:r>
            <a:br/>
            <a:r>
              <a:t>C. nothing meaningful; anything</a:t>
            </a:r>
            <a:br/>
            <a:r>
              <a:t>D. meaningful nothing; anything</a:t>
            </a:r>
          </a:p>
        </p:txBody>
      </p:sp>
      <p:sp>
        <p:nvSpPr>
          <p:cNvPr id="14" name="Rounded Rectangle 13"/>
          <p:cNvSpPr/>
          <p:nvPr/>
        </p:nvSpPr>
        <p:spPr>
          <a:xfrm>
            <a:off x="2743200" y="5303520"/>
            <a:ext cx="3657600" cy="5486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0" y="5349240"/>
            <a:ext cx="3657600" cy="457200"/>
          </a:xfrm>
          <a:prstGeom prst="rect">
            <a:avLst/>
          </a:prstGeom>
          <a:noFill/>
        </p:spPr>
        <p:txBody>
          <a:bodyPr wrap="square">
            <a:spAutoFit/>
          </a:bodyPr>
          <a:lstStyle/>
          <a:p>
            <a:pPr algn="ctr">
              <a:lnSpc>
                <a:spcPts val="1920"/>
              </a:lnSpc>
              <a:defRPr sz="1600" b="1" i="0">
                <a:solidFill>
                  <a:srgbClr val="FFFFFF"/>
                </a:solidFill>
                <a:latin typeface="微软雅黑"/>
              </a:defRPr>
            </a:pPr>
            <a:r>
              <a:t>Think &amp; Answer! 请思考...</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Warm-up · 答案解析 3</a:t>
            </a:r>
          </a:p>
        </p:txBody>
      </p:sp>
      <p:sp>
        <p:nvSpPr>
          <p:cNvPr id="4" name="Rectangle 3"/>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7" name="TextBox 6"/>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10</a:t>
            </a:r>
          </a:p>
        </p:txBody>
      </p:sp>
      <p:sp>
        <p:nvSpPr>
          <p:cNvPr id="8" name="Rounded Rectangle 7"/>
          <p:cNvSpPr/>
          <p:nvPr/>
        </p:nvSpPr>
        <p:spPr>
          <a:xfrm>
            <a:off x="457200" y="1097280"/>
            <a:ext cx="2286000" cy="73152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143000"/>
            <a:ext cx="2286000" cy="640080"/>
          </a:xfrm>
          <a:prstGeom prst="rect">
            <a:avLst/>
          </a:prstGeom>
          <a:noFill/>
        </p:spPr>
        <p:txBody>
          <a:bodyPr wrap="square">
            <a:spAutoFit/>
          </a:bodyPr>
          <a:lstStyle/>
          <a:p>
            <a:pPr algn="ctr">
              <a:lnSpc>
                <a:spcPts val="2640"/>
              </a:lnSpc>
              <a:defRPr sz="2200" b="1" i="0">
                <a:solidFill>
                  <a:srgbClr val="FFFFFF"/>
                </a:solidFill>
                <a:latin typeface="Arial"/>
              </a:defRPr>
            </a:pPr>
            <a:r>
              <a:t>Answer: C. nothing meaningful; anything</a:t>
            </a:r>
          </a:p>
        </p:txBody>
      </p:sp>
      <p:sp>
        <p:nvSpPr>
          <p:cNvPr id="10" name="Rounded Rectangle 9"/>
          <p:cNvSpPr/>
          <p:nvPr/>
        </p:nvSpPr>
        <p:spPr>
          <a:xfrm>
            <a:off x="457200" y="2103120"/>
            <a:ext cx="8229600" cy="2286000"/>
          </a:xfrm>
          <a:prstGeom prst="roundRect">
            <a:avLst/>
          </a:prstGeom>
          <a:solidFill>
            <a:srgbClr val="FDF2E9"/>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0">
                <a:solidFill>
                  <a:srgbClr val="2C3E50"/>
                </a:solidFill>
                <a:latin typeface="微软雅黑"/>
              </a:defRPr>
            </a:pPr>
            <a:r>
              <a:t>句意："这些无聊的故事里没有什么有意义的东西，所以我不能从中学到任何东西。"</a:t>
            </a:r>
            <a:br/>
            <a:br/>
            <a:r>
              <a:t>① 形容词修饰不定代词时要后置：nothing meaningful（排除B、D）</a:t>
            </a:r>
            <a:br/>
            <a:r>
              <a:t>② 否定句中用 anything 表示"任何东西"（排除A）</a:t>
            </a:r>
          </a:p>
        </p:txBody>
      </p:sp>
      <p:sp>
        <p:nvSpPr>
          <p:cNvPr id="11" name="Rounded Rectangle 10"/>
          <p:cNvSpPr/>
          <p:nvPr/>
        </p:nvSpPr>
        <p:spPr>
          <a:xfrm>
            <a:off x="457200" y="4754880"/>
            <a:ext cx="8229600" cy="1097280"/>
          </a:xfrm>
          <a:prstGeom prst="roundRect">
            <a:avLst/>
          </a:prstGeom>
          <a:solidFill>
            <a:srgbClr val="E8F8EE"/>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846320"/>
            <a:ext cx="7863840" cy="914400"/>
          </a:xfrm>
          <a:prstGeom prst="rect">
            <a:avLst/>
          </a:prstGeom>
          <a:noFill/>
        </p:spPr>
        <p:txBody>
          <a:bodyPr wrap="square">
            <a:spAutoFit/>
          </a:bodyPr>
          <a:lstStyle/>
          <a:p>
            <a:pPr algn="l">
              <a:lnSpc>
                <a:spcPts val="2080"/>
              </a:lnSpc>
            </a:pPr>
            <a:r>
              <a:rPr sz="1600" b="1" i="0">
                <a:solidFill>
                  <a:srgbClr val="27AE60"/>
                </a:solidFill>
                <a:latin typeface="Arial"/>
              </a:rPr>
              <a:t>💡 </a:t>
            </a:r>
            <a:r>
              <a:rPr sz="1400" b="1" i="0">
                <a:solidFill>
                  <a:srgbClr val="27AE60"/>
                </a:solidFill>
                <a:latin typeface="Arial"/>
              </a:rPr>
              <a:t>Teacher's Tip: </a:t>
            </a:r>
            <a:r>
              <a:rPr sz="1400" b="0" i="0">
                <a:solidFill>
                  <a:srgbClr val="2C3E50"/>
                </a:solidFill>
                <a:latin typeface="微软雅黑"/>
              </a:rPr>
              <a:t>【核心考点】形容词 + 不定代词 → 必须后置！something special, nothing wrong, anything else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14400" y="731520"/>
            <a:ext cx="1828800" cy="457200"/>
          </a:xfrm>
          <a:prstGeom prst="rect">
            <a:avLst/>
          </a:prstGeom>
          <a:noFill/>
        </p:spPr>
        <p:txBody>
          <a:bodyPr wrap="square">
            <a:spAutoFit/>
          </a:bodyPr>
          <a:lstStyle/>
          <a:p>
            <a:pPr algn="l">
              <a:lnSpc>
                <a:spcPts val="2160"/>
              </a:lnSpc>
              <a:defRPr sz="1800" b="1" i="0">
                <a:solidFill>
                  <a:srgbClr val="F39C12"/>
                </a:solidFill>
                <a:latin typeface="Arial"/>
              </a:defRPr>
            </a:pPr>
            <a:r>
              <a:t>PART 1</a:t>
            </a:r>
          </a:p>
        </p:txBody>
      </p:sp>
      <p:sp>
        <p:nvSpPr>
          <p:cNvPr id="4" name="Rectangle 3"/>
          <p:cNvSpPr/>
          <p:nvPr/>
        </p:nvSpPr>
        <p:spPr>
          <a:xfrm>
            <a:off x="914400" y="1188720"/>
            <a:ext cx="18288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7315200" cy="1097280"/>
          </a:xfrm>
          <a:prstGeom prst="rect">
            <a:avLst/>
          </a:prstGeom>
          <a:noFill/>
        </p:spPr>
        <p:txBody>
          <a:bodyPr wrap="square">
            <a:spAutoFit/>
          </a:bodyPr>
          <a:lstStyle/>
          <a:p>
            <a:pPr algn="l">
              <a:lnSpc>
                <a:spcPts val="5280"/>
              </a:lnSpc>
              <a:defRPr sz="4400" b="1" i="0">
                <a:solidFill>
                  <a:srgbClr val="FFFFFF"/>
                </a:solidFill>
                <a:latin typeface="微软雅黑"/>
              </a:defRPr>
            </a:pPr>
            <a:r>
              <a:t>Cloze — 文章精读②</a:t>
            </a:r>
          </a:p>
        </p:txBody>
      </p:sp>
      <p:sp>
        <p:nvSpPr>
          <p:cNvPr id="6" name="TextBox 5"/>
          <p:cNvSpPr txBox="1"/>
          <p:nvPr/>
        </p:nvSpPr>
        <p:spPr>
          <a:xfrm>
            <a:off x="914400" y="2743200"/>
            <a:ext cx="7315200" cy="548640"/>
          </a:xfrm>
          <a:prstGeom prst="rect">
            <a:avLst/>
          </a:prstGeom>
          <a:noFill/>
        </p:spPr>
        <p:txBody>
          <a:bodyPr wrap="square">
            <a:spAutoFit/>
          </a:bodyPr>
          <a:lstStyle/>
          <a:p>
            <a:pPr algn="l">
              <a:lnSpc>
                <a:spcPts val="2160"/>
              </a:lnSpc>
              <a:defRPr sz="1800" b="0" i="0">
                <a:solidFill>
                  <a:srgbClr val="F39C12"/>
                </a:solidFill>
                <a:latin typeface="微软雅黑"/>
              </a:defRPr>
            </a:pPr>
            <a:r>
              <a:t>体裁：议论文  |  话题：哲理感悟  |  字数：330</a:t>
            </a:r>
          </a:p>
        </p:txBody>
      </p:sp>
      <p:pic>
        <p:nvPicPr>
          <p:cNvPr id="7" name="Picture 6" descr="relax.png"/>
          <p:cNvPicPr>
            <a:picLocks noChangeAspect="1"/>
          </p:cNvPicPr>
          <p:nvPr/>
        </p:nvPicPr>
        <p:blipFill>
          <a:blip r:embed="rId3"/>
          <a:stretch>
            <a:fillRect/>
          </a:stretch>
        </p:blipFill>
        <p:spPr>
          <a:xfrm>
            <a:off x="5943600" y="3657600"/>
            <a:ext cx="2743200" cy="2103120"/>
          </a:xfrm>
          <a:prstGeom prst="rect">
            <a:avLst/>
          </a:prstGeom>
        </p:spPr>
      </p:pic>
      <p:sp>
        <p:nvSpPr>
          <p:cNvPr id="8" name="TextBox 7"/>
          <p:cNvSpPr txBox="1"/>
          <p:nvPr/>
        </p:nvSpPr>
        <p:spPr>
          <a:xfrm>
            <a:off x="914400" y="4114800"/>
            <a:ext cx="4572000" cy="1371600"/>
          </a:xfrm>
          <a:prstGeom prst="rect">
            <a:avLst/>
          </a:prstGeom>
          <a:noFill/>
        </p:spPr>
        <p:txBody>
          <a:bodyPr wrap="square">
            <a:spAutoFit/>
          </a:bodyPr>
          <a:lstStyle/>
          <a:p>
            <a:pPr algn="l">
              <a:lnSpc>
                <a:spcPts val="2400"/>
              </a:lnSpc>
              <a:defRPr sz="2000" b="0" i="0">
                <a:solidFill>
                  <a:srgbClr val="FFFFFF"/>
                </a:solidFill>
                <a:latin typeface="微软雅黑"/>
              </a:defRPr>
            </a:pPr>
            <a:r>
              <a:t>主题：Slow Down &amp; Enjoy Life</a:t>
            </a:r>
            <a:br/>
            <a:r>
              <a:t>放慢脚步，享受生活</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Pre-reading · 阅读前导入</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Cloze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12</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640"/>
              </a:lnSpc>
              <a:defRPr sz="2200" b="1" i="0">
                <a:solidFill>
                  <a:srgbClr val="1B3A5C"/>
                </a:solidFill>
                <a:latin typeface="微软雅黑"/>
              </a:defRPr>
            </a:pPr>
            <a:r>
              <a:t>Brain-storming 头脑风暴</a:t>
            </a:r>
          </a:p>
        </p:txBody>
      </p:sp>
      <p:sp>
        <p:nvSpPr>
          <p:cNvPr id="10" name="Rectangle 9"/>
          <p:cNvSpPr/>
          <p:nvPr/>
        </p:nvSpPr>
        <p:spPr>
          <a:xfrm>
            <a:off x="457200" y="1554480"/>
            <a:ext cx="1828800" cy="457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828800"/>
            <a:ext cx="7772400" cy="2286000"/>
          </a:xfrm>
          <a:prstGeom prst="rect">
            <a:avLst/>
          </a:prstGeom>
          <a:noFill/>
        </p:spPr>
        <p:txBody>
          <a:bodyPr wrap="square">
            <a:spAutoFit/>
          </a:bodyPr>
          <a:lstStyle/>
          <a:p>
            <a:pPr>
              <a:lnSpc>
                <a:spcPts val="3600"/>
              </a:lnSpc>
            </a:pPr>
            <a:r>
              <a:rPr sz="1800" b="1">
                <a:solidFill>
                  <a:srgbClr val="F39C12"/>
                </a:solidFill>
                <a:latin typeface="Arial"/>
              </a:rPr>
              <a:t>● </a:t>
            </a:r>
            <a:r>
              <a:rPr sz="1800">
                <a:solidFill>
                  <a:srgbClr val="2C3E50"/>
                </a:solidFill>
                <a:latin typeface="微软雅黑"/>
              </a:rPr>
              <a:t>Do you think our life is too fast? Why?</a:t>
            </a:r>
          </a:p>
          <a:p>
            <a:pPr>
              <a:lnSpc>
                <a:spcPts val="3600"/>
              </a:lnSpc>
            </a:pPr>
            <a:r>
              <a:rPr sz="1800" b="1">
                <a:solidFill>
                  <a:srgbClr val="F39C12"/>
                </a:solidFill>
                <a:latin typeface="Arial"/>
              </a:rPr>
              <a:t>● </a:t>
            </a:r>
            <a:r>
              <a:rPr sz="1800">
                <a:solidFill>
                  <a:srgbClr val="2C3E50"/>
                </a:solidFill>
                <a:latin typeface="微软雅黑"/>
              </a:rPr>
              <a:t>What do you usually do to relax on weekends?</a:t>
            </a:r>
          </a:p>
          <a:p>
            <a:pPr>
              <a:lnSpc>
                <a:spcPts val="3600"/>
              </a:lnSpc>
            </a:pPr>
            <a:r>
              <a:rPr sz="1800" b="1">
                <a:solidFill>
                  <a:srgbClr val="F39C12"/>
                </a:solidFill>
                <a:latin typeface="Arial"/>
              </a:rPr>
              <a:t>● </a:t>
            </a:r>
            <a:r>
              <a:rPr sz="1800">
                <a:solidFill>
                  <a:srgbClr val="2C3E50"/>
                </a:solidFill>
                <a:latin typeface="微软雅黑"/>
              </a:rPr>
              <a:t>Is it important to slow down sometimes? Why?</a:t>
            </a:r>
          </a:p>
        </p:txBody>
      </p:sp>
      <p:sp>
        <p:nvSpPr>
          <p:cNvPr id="12" name="Rounded Rectangle 11"/>
          <p:cNvSpPr/>
          <p:nvPr/>
        </p:nvSpPr>
        <p:spPr>
          <a:xfrm>
            <a:off x="457200" y="4389120"/>
            <a:ext cx="8229600" cy="1371600"/>
          </a:xfrm>
          <a:prstGeom prst="roundRect">
            <a:avLst/>
          </a:prstGeom>
          <a:solidFill>
            <a:srgbClr val="EBF5FB"/>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0">
                <a:solidFill>
                  <a:srgbClr val="2C3E50"/>
                </a:solidFill>
                <a:latin typeface="微软雅黑"/>
              </a:defRPr>
            </a:pPr>
            <a:r>
              <a:t>文章信息</a:t>
            </a:r>
            <a:br/>
            <a:r>
              <a:t>体裁：夹叙夹议类议论文  |  话题：哲理感悟  |  字数：330</a:t>
            </a:r>
            <a:br/>
            <a:r>
              <a:t>预计用时：15分钟  |  满分：10题</a:t>
            </a:r>
          </a:p>
        </p:txBody>
      </p:sp>
      <p:pic>
        <p:nvPicPr>
          <p:cNvPr id="13" name="Picture 12" descr="forest.png"/>
          <p:cNvPicPr>
            <a:picLocks noChangeAspect="1"/>
          </p:cNvPicPr>
          <p:nvPr/>
        </p:nvPicPr>
        <p:blipFill>
          <a:blip r:embed="rId2"/>
          <a:stretch>
            <a:fillRect/>
          </a:stretch>
        </p:blipFill>
        <p:spPr>
          <a:xfrm>
            <a:off x="6400800" y="1097280"/>
            <a:ext cx="2286000" cy="17373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Cloze — 文章精读② (1/2)</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Cloze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13</a:t>
            </a:r>
          </a:p>
        </p:txBody>
      </p:sp>
      <p:sp>
        <p:nvSpPr>
          <p:cNvPr id="9" name="Rounded Rectangle 8"/>
          <p:cNvSpPr/>
          <p:nvPr/>
        </p:nvSpPr>
        <p:spPr>
          <a:xfrm>
            <a:off x="365760" y="1097280"/>
            <a:ext cx="8412480" cy="5029200"/>
          </a:xfrm>
          <a:prstGeom prst="roundRect">
            <a:avLst/>
          </a:prstGeom>
          <a:solidFill>
            <a:srgbClr val="FFFFFF"/>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600" b="0">
                <a:solidFill>
                  <a:srgbClr val="2C3E50"/>
                </a:solidFill>
                <a:latin typeface="微软雅黑"/>
              </a:defRPr>
            </a:pPr>
            <a:r>
              <a:t>Nowadays, we are living a fast life. It seems that everything has to be fast, such as fast food, fast Internet, fast roads and fast money. Every day we try to get something down (1)________, but there are some moments that we have to (2)________ and enjoy our lives.</a:t>
            </a:r>
            <a:br/>
            <a:br/>
            <a:r>
              <a:t>I am always (3)________ every day. I have to work eight hours or more a day at my full-time job. When I get home, it's always over seven o'clock. I make an effort to (4)________ something. I try to find a little time for my hobby—writing. I hardly ever write or work (5)________ weekends. Those are my days to try to rest and reduce the stress from my 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Cloze — 文章精读② (2/2)</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Cloze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14</a:t>
            </a:r>
          </a:p>
        </p:txBody>
      </p:sp>
      <p:sp>
        <p:nvSpPr>
          <p:cNvPr id="9" name="Rounded Rectangle 8"/>
          <p:cNvSpPr/>
          <p:nvPr/>
        </p:nvSpPr>
        <p:spPr>
          <a:xfrm>
            <a:off x="365760" y="1097280"/>
            <a:ext cx="8412480" cy="5029200"/>
          </a:xfrm>
          <a:prstGeom prst="roundRect">
            <a:avLst/>
          </a:prstGeom>
          <a:solidFill>
            <a:srgbClr val="FFFFFF"/>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600" b="0">
                <a:solidFill>
                  <a:srgbClr val="2C3E50"/>
                </a:solidFill>
                <a:latin typeface="微软雅黑"/>
              </a:defRPr>
            </a:pPr>
            <a:r>
              <a:t>I sleep on the sofa during the day, (6)________ some beer in the open air or go out for a picnic if the weather is nice. What I'm trying to say is: if you don't take some time to slow down once in a while and (7)________ your life, it will pass you by. You can be unhealthy in both body and mind if you don't take the time to relax. So this weekend, don't make any (8)________.</a:t>
            </a:r>
            <a:br/>
            <a:br/>
            <a:r>
              <a:t>Just get up on Saturday morning (9)________ your body says it's time to get up. Make some coffee, step outside and get some fresh morning air, (10)________ the radio and prepare yourself for nothing.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Cloze 解题 · 第1-2题</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Cloze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15</a:t>
            </a:r>
          </a:p>
        </p:txBody>
      </p:sp>
      <p:sp>
        <p:nvSpPr>
          <p:cNvPr id="9" name="Oval 8"/>
          <p:cNvSpPr/>
          <p:nvPr/>
        </p:nvSpPr>
        <p:spPr>
          <a:xfrm>
            <a:off x="365760" y="118872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280160"/>
            <a:ext cx="640080" cy="457200"/>
          </a:xfrm>
          <a:prstGeom prst="rect">
            <a:avLst/>
          </a:prstGeom>
          <a:noFill/>
        </p:spPr>
        <p:txBody>
          <a:bodyPr wrap="square">
            <a:spAutoFit/>
          </a:bodyPr>
          <a:lstStyle/>
          <a:p>
            <a:pPr algn="ctr">
              <a:lnSpc>
                <a:spcPts val="1920"/>
              </a:lnSpc>
              <a:defRPr sz="1600" b="1" i="0">
                <a:solidFill>
                  <a:srgbClr val="FFFFFF"/>
                </a:solidFill>
                <a:latin typeface="Arial"/>
              </a:defRPr>
            </a:pPr>
            <a:r>
              <a:t>(1)</a:t>
            </a:r>
          </a:p>
        </p:txBody>
      </p:sp>
      <p:sp>
        <p:nvSpPr>
          <p:cNvPr id="11" name="TextBox 10"/>
          <p:cNvSpPr txBox="1"/>
          <p:nvPr/>
        </p:nvSpPr>
        <p:spPr>
          <a:xfrm>
            <a:off x="1188720" y="1280160"/>
            <a:ext cx="7315200" cy="457200"/>
          </a:xfrm>
          <a:prstGeom prst="rect">
            <a:avLst/>
          </a:prstGeom>
          <a:noFill/>
        </p:spPr>
        <p:txBody>
          <a:bodyPr wrap="square">
            <a:spAutoFit/>
          </a:bodyPr>
          <a:lstStyle/>
          <a:p>
            <a:pPr algn="l">
              <a:lnSpc>
                <a:spcPts val="1920"/>
              </a:lnSpc>
              <a:defRPr sz="1600" b="0" i="0">
                <a:solidFill>
                  <a:srgbClr val="2C3E50"/>
                </a:solidFill>
                <a:latin typeface="微软雅黑"/>
              </a:defRPr>
            </a:pPr>
            <a:r>
              <a:t>A. slowly    B. seriously    C. easily    D. quickly</a:t>
            </a:r>
          </a:p>
        </p:txBody>
      </p:sp>
      <p:sp>
        <p:nvSpPr>
          <p:cNvPr id="12" name="Rounded Rectangle 11"/>
          <p:cNvSpPr/>
          <p:nvPr/>
        </p:nvSpPr>
        <p:spPr>
          <a:xfrm>
            <a:off x="1188720" y="1828800"/>
            <a:ext cx="7315200" cy="1371600"/>
          </a:xfrm>
          <a:prstGeom prst="roundRect">
            <a:avLst/>
          </a:prstGeom>
          <a:solidFill>
            <a:srgbClr val="FDF2E9"/>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1920240"/>
            <a:ext cx="6949440" cy="1188720"/>
          </a:xfrm>
          <a:prstGeom prst="rect">
            <a:avLst/>
          </a:prstGeom>
          <a:noFill/>
        </p:spPr>
        <p:txBody>
          <a:bodyPr wrap="square">
            <a:spAutoFit/>
          </a:bodyPr>
          <a:lstStyle/>
          <a:p>
            <a:pPr algn="l">
              <a:lnSpc>
                <a:spcPts val="1950"/>
              </a:lnSpc>
            </a:pPr>
            <a:r>
              <a:rPr sz="1500" b="1" i="0">
                <a:solidFill>
                  <a:srgbClr val="E74C3C"/>
                </a:solidFill>
                <a:latin typeface="Arial"/>
              </a:rPr>
              <a:t>Answer: </a:t>
            </a:r>
            <a:r>
              <a:rPr sz="1500" b="1" i="0">
                <a:solidFill>
                  <a:srgbClr val="E74C3C"/>
                </a:solidFill>
                <a:latin typeface="微软雅黑"/>
              </a:rPr>
              <a:t>D. quickly</a:t>
            </a:r>
          </a:p>
          <a:p>
            <a:pPr algn="l">
              <a:lnSpc>
                <a:spcPts val="1040"/>
              </a:lnSpc>
            </a:pPr>
            <a:r>
              <a:rPr sz="800" b="0" i="0">
                <a:solidFill>
                  <a:srgbClr val="2C3E50"/>
                </a:solidFill>
                <a:latin typeface="微软雅黑"/>
              </a:rPr>
              <a:t/>
            </a:r>
          </a:p>
          <a:p>
            <a:pPr algn="l">
              <a:lnSpc>
                <a:spcPts val="1690"/>
              </a:lnSpc>
            </a:pPr>
            <a:r>
              <a:rPr sz="1300" b="0" i="0">
                <a:solidFill>
                  <a:srgbClr val="2C3E50"/>
                </a:solidFill>
                <a:latin typeface="微软雅黑"/>
              </a:rPr>
              <a:t>文章开头讲到 fast life，every day we try to get something down ____. 与 fast 对应，选 quickly（快速地）。</a:t>
            </a:r>
          </a:p>
        </p:txBody>
      </p:sp>
      <p:sp>
        <p:nvSpPr>
          <p:cNvPr id="14" name="Oval 13"/>
          <p:cNvSpPr/>
          <p:nvPr/>
        </p:nvSpPr>
        <p:spPr>
          <a:xfrm>
            <a:off x="365760" y="3749039"/>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840479"/>
            <a:ext cx="640080" cy="457200"/>
          </a:xfrm>
          <a:prstGeom prst="rect">
            <a:avLst/>
          </a:prstGeom>
          <a:noFill/>
        </p:spPr>
        <p:txBody>
          <a:bodyPr wrap="square">
            <a:spAutoFit/>
          </a:bodyPr>
          <a:lstStyle/>
          <a:p>
            <a:pPr algn="ctr">
              <a:lnSpc>
                <a:spcPts val="1920"/>
              </a:lnSpc>
              <a:defRPr sz="1600" b="1" i="0">
                <a:solidFill>
                  <a:srgbClr val="FFFFFF"/>
                </a:solidFill>
                <a:latin typeface="Arial"/>
              </a:defRPr>
            </a:pPr>
            <a:r>
              <a:t>(2)</a:t>
            </a:r>
          </a:p>
        </p:txBody>
      </p:sp>
      <p:sp>
        <p:nvSpPr>
          <p:cNvPr id="16" name="TextBox 15"/>
          <p:cNvSpPr txBox="1"/>
          <p:nvPr/>
        </p:nvSpPr>
        <p:spPr>
          <a:xfrm>
            <a:off x="1188720" y="3840479"/>
            <a:ext cx="7315200" cy="457200"/>
          </a:xfrm>
          <a:prstGeom prst="rect">
            <a:avLst/>
          </a:prstGeom>
          <a:noFill/>
        </p:spPr>
        <p:txBody>
          <a:bodyPr wrap="square">
            <a:spAutoFit/>
          </a:bodyPr>
          <a:lstStyle/>
          <a:p>
            <a:pPr algn="l">
              <a:lnSpc>
                <a:spcPts val="1920"/>
              </a:lnSpc>
              <a:defRPr sz="1600" b="0" i="0">
                <a:solidFill>
                  <a:srgbClr val="2C3E50"/>
                </a:solidFill>
                <a:latin typeface="微软雅黑"/>
              </a:defRPr>
            </a:pPr>
            <a:r>
              <a:t>A. cut down    B. slow down    C. write down    D. look down</a:t>
            </a:r>
          </a:p>
        </p:txBody>
      </p:sp>
      <p:sp>
        <p:nvSpPr>
          <p:cNvPr id="17" name="Rounded Rectangle 16"/>
          <p:cNvSpPr/>
          <p:nvPr/>
        </p:nvSpPr>
        <p:spPr>
          <a:xfrm>
            <a:off x="1188720" y="4389119"/>
            <a:ext cx="7315200" cy="1371600"/>
          </a:xfrm>
          <a:prstGeom prst="roundRect">
            <a:avLst/>
          </a:prstGeom>
          <a:solidFill>
            <a:srgbClr val="FDF2E9"/>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4480559"/>
            <a:ext cx="6949440" cy="1188720"/>
          </a:xfrm>
          <a:prstGeom prst="rect">
            <a:avLst/>
          </a:prstGeom>
          <a:noFill/>
        </p:spPr>
        <p:txBody>
          <a:bodyPr wrap="square">
            <a:spAutoFit/>
          </a:bodyPr>
          <a:lstStyle/>
          <a:p>
            <a:pPr algn="l">
              <a:lnSpc>
                <a:spcPts val="1950"/>
              </a:lnSpc>
            </a:pPr>
            <a:r>
              <a:rPr sz="1500" b="1" i="0">
                <a:solidFill>
                  <a:srgbClr val="E74C3C"/>
                </a:solidFill>
                <a:latin typeface="Arial"/>
              </a:rPr>
              <a:t>Answer: </a:t>
            </a:r>
            <a:r>
              <a:rPr sz="1500" b="1" i="0">
                <a:solidFill>
                  <a:srgbClr val="E74C3C"/>
                </a:solidFill>
                <a:latin typeface="微软雅黑"/>
              </a:rPr>
              <a:t>B. slow down</a:t>
            </a:r>
          </a:p>
          <a:p>
            <a:pPr algn="l">
              <a:lnSpc>
                <a:spcPts val="1040"/>
              </a:lnSpc>
            </a:pPr>
            <a:r>
              <a:rPr sz="800" b="0" i="0">
                <a:solidFill>
                  <a:srgbClr val="2C3E50"/>
                </a:solidFill>
                <a:latin typeface="微软雅黑"/>
              </a:rPr>
              <a:t/>
            </a:r>
          </a:p>
          <a:p>
            <a:pPr algn="l">
              <a:lnSpc>
                <a:spcPts val="1690"/>
              </a:lnSpc>
            </a:pPr>
            <a:r>
              <a:rPr sz="1300" b="0" i="0">
                <a:solidFill>
                  <a:srgbClr val="2C3E50"/>
                </a:solidFill>
                <a:latin typeface="微软雅黑"/>
              </a:rPr>
              <a:t>but 转折，与 quickly 相反。前文讲追求快节奏，转折后应该是"放慢脚步"。slow down 放慢速度。</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Cloze 解题 · 第3-4题</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Cloze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16</a:t>
            </a:r>
          </a:p>
        </p:txBody>
      </p:sp>
      <p:sp>
        <p:nvSpPr>
          <p:cNvPr id="9" name="Oval 8"/>
          <p:cNvSpPr/>
          <p:nvPr/>
        </p:nvSpPr>
        <p:spPr>
          <a:xfrm>
            <a:off x="365760" y="118872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280160"/>
            <a:ext cx="640080" cy="457200"/>
          </a:xfrm>
          <a:prstGeom prst="rect">
            <a:avLst/>
          </a:prstGeom>
          <a:noFill/>
        </p:spPr>
        <p:txBody>
          <a:bodyPr wrap="square">
            <a:spAutoFit/>
          </a:bodyPr>
          <a:lstStyle/>
          <a:p>
            <a:pPr algn="ctr">
              <a:lnSpc>
                <a:spcPts val="1920"/>
              </a:lnSpc>
              <a:defRPr sz="1600" b="1" i="0">
                <a:solidFill>
                  <a:srgbClr val="FFFFFF"/>
                </a:solidFill>
                <a:latin typeface="Arial"/>
              </a:defRPr>
            </a:pPr>
            <a:r>
              <a:t>(3)</a:t>
            </a:r>
          </a:p>
        </p:txBody>
      </p:sp>
      <p:sp>
        <p:nvSpPr>
          <p:cNvPr id="11" name="TextBox 10"/>
          <p:cNvSpPr txBox="1"/>
          <p:nvPr/>
        </p:nvSpPr>
        <p:spPr>
          <a:xfrm>
            <a:off x="1188720" y="1280160"/>
            <a:ext cx="7315200" cy="457200"/>
          </a:xfrm>
          <a:prstGeom prst="rect">
            <a:avLst/>
          </a:prstGeom>
          <a:noFill/>
        </p:spPr>
        <p:txBody>
          <a:bodyPr wrap="square">
            <a:spAutoFit/>
          </a:bodyPr>
          <a:lstStyle/>
          <a:p>
            <a:pPr algn="l">
              <a:lnSpc>
                <a:spcPts val="1920"/>
              </a:lnSpc>
              <a:defRPr sz="1600" b="0" i="0">
                <a:solidFill>
                  <a:srgbClr val="2C3E50"/>
                </a:solidFill>
                <a:latin typeface="微软雅黑"/>
              </a:defRPr>
            </a:pPr>
            <a:r>
              <a:t>A. busy    B. happy    C. free    D. sad</a:t>
            </a:r>
          </a:p>
        </p:txBody>
      </p:sp>
      <p:sp>
        <p:nvSpPr>
          <p:cNvPr id="12" name="Rounded Rectangle 11"/>
          <p:cNvSpPr/>
          <p:nvPr/>
        </p:nvSpPr>
        <p:spPr>
          <a:xfrm>
            <a:off x="1188720" y="1828800"/>
            <a:ext cx="7315200" cy="1371600"/>
          </a:xfrm>
          <a:prstGeom prst="roundRect">
            <a:avLst/>
          </a:prstGeom>
          <a:solidFill>
            <a:srgbClr val="FDF2E9"/>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1920240"/>
            <a:ext cx="6949440" cy="1188720"/>
          </a:xfrm>
          <a:prstGeom prst="rect">
            <a:avLst/>
          </a:prstGeom>
          <a:noFill/>
        </p:spPr>
        <p:txBody>
          <a:bodyPr wrap="square">
            <a:spAutoFit/>
          </a:bodyPr>
          <a:lstStyle/>
          <a:p>
            <a:pPr algn="l">
              <a:lnSpc>
                <a:spcPts val="1950"/>
              </a:lnSpc>
            </a:pPr>
            <a:r>
              <a:rPr sz="1500" b="1" i="0">
                <a:solidFill>
                  <a:srgbClr val="E74C3C"/>
                </a:solidFill>
                <a:latin typeface="Arial"/>
              </a:rPr>
              <a:t>Answer: </a:t>
            </a:r>
            <a:r>
              <a:rPr sz="1500" b="1" i="0">
                <a:solidFill>
                  <a:srgbClr val="E74C3C"/>
                </a:solidFill>
                <a:latin typeface="微软雅黑"/>
              </a:rPr>
              <a:t>A. busy</a:t>
            </a:r>
          </a:p>
          <a:p>
            <a:pPr algn="l">
              <a:lnSpc>
                <a:spcPts val="1040"/>
              </a:lnSpc>
            </a:pPr>
            <a:r>
              <a:rPr sz="800" b="0" i="0">
                <a:solidFill>
                  <a:srgbClr val="2C3E50"/>
                </a:solidFill>
                <a:latin typeface="微软雅黑"/>
              </a:rPr>
              <a:t/>
            </a:r>
          </a:p>
          <a:p>
            <a:pPr algn="l">
              <a:lnSpc>
                <a:spcPts val="1690"/>
              </a:lnSpc>
            </a:pPr>
            <a:r>
              <a:rPr sz="1300" b="0" i="0">
                <a:solidFill>
                  <a:srgbClr val="2C3E50"/>
                </a:solidFill>
                <a:latin typeface="微软雅黑"/>
              </a:rPr>
              <a:t>后文说 work eight hours or more, 一回家就过7点，说明作者总是很繁忙(busy)。</a:t>
            </a:r>
          </a:p>
        </p:txBody>
      </p:sp>
      <p:sp>
        <p:nvSpPr>
          <p:cNvPr id="14" name="Oval 13"/>
          <p:cNvSpPr/>
          <p:nvPr/>
        </p:nvSpPr>
        <p:spPr>
          <a:xfrm>
            <a:off x="365760" y="3749039"/>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840479"/>
            <a:ext cx="640080" cy="457200"/>
          </a:xfrm>
          <a:prstGeom prst="rect">
            <a:avLst/>
          </a:prstGeom>
          <a:noFill/>
        </p:spPr>
        <p:txBody>
          <a:bodyPr wrap="square">
            <a:spAutoFit/>
          </a:bodyPr>
          <a:lstStyle/>
          <a:p>
            <a:pPr algn="ctr">
              <a:lnSpc>
                <a:spcPts val="1920"/>
              </a:lnSpc>
              <a:defRPr sz="1600" b="1" i="0">
                <a:solidFill>
                  <a:srgbClr val="FFFFFF"/>
                </a:solidFill>
                <a:latin typeface="Arial"/>
              </a:defRPr>
            </a:pPr>
            <a:r>
              <a:t>(4)</a:t>
            </a:r>
          </a:p>
        </p:txBody>
      </p:sp>
      <p:sp>
        <p:nvSpPr>
          <p:cNvPr id="16" name="TextBox 15"/>
          <p:cNvSpPr txBox="1"/>
          <p:nvPr/>
        </p:nvSpPr>
        <p:spPr>
          <a:xfrm>
            <a:off x="1188720" y="3840479"/>
            <a:ext cx="7315200" cy="457200"/>
          </a:xfrm>
          <a:prstGeom prst="rect">
            <a:avLst/>
          </a:prstGeom>
          <a:noFill/>
        </p:spPr>
        <p:txBody>
          <a:bodyPr wrap="square">
            <a:spAutoFit/>
          </a:bodyPr>
          <a:lstStyle/>
          <a:p>
            <a:pPr algn="l">
              <a:lnSpc>
                <a:spcPts val="1920"/>
              </a:lnSpc>
              <a:defRPr sz="1600" b="0" i="0">
                <a:solidFill>
                  <a:srgbClr val="2C3E50"/>
                </a:solidFill>
                <a:latin typeface="微软雅黑"/>
              </a:defRPr>
            </a:pPr>
            <a:r>
              <a:t>A. drink    B. buy    C. write    D. say</a:t>
            </a:r>
          </a:p>
        </p:txBody>
      </p:sp>
      <p:sp>
        <p:nvSpPr>
          <p:cNvPr id="17" name="Rounded Rectangle 16"/>
          <p:cNvSpPr/>
          <p:nvPr/>
        </p:nvSpPr>
        <p:spPr>
          <a:xfrm>
            <a:off x="1188720" y="4389119"/>
            <a:ext cx="7315200" cy="1371600"/>
          </a:xfrm>
          <a:prstGeom prst="roundRect">
            <a:avLst/>
          </a:prstGeom>
          <a:solidFill>
            <a:srgbClr val="FDF2E9"/>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4480559"/>
            <a:ext cx="6949440" cy="1188720"/>
          </a:xfrm>
          <a:prstGeom prst="rect">
            <a:avLst/>
          </a:prstGeom>
          <a:noFill/>
        </p:spPr>
        <p:txBody>
          <a:bodyPr wrap="square">
            <a:spAutoFit/>
          </a:bodyPr>
          <a:lstStyle/>
          <a:p>
            <a:pPr algn="l">
              <a:lnSpc>
                <a:spcPts val="1950"/>
              </a:lnSpc>
            </a:pPr>
            <a:r>
              <a:rPr sz="1500" b="1" i="0">
                <a:solidFill>
                  <a:srgbClr val="E74C3C"/>
                </a:solidFill>
                <a:latin typeface="Arial"/>
              </a:rPr>
              <a:t>Answer: </a:t>
            </a:r>
            <a:r>
              <a:rPr sz="1500" b="1" i="0">
                <a:solidFill>
                  <a:srgbClr val="E74C3C"/>
                </a:solidFill>
                <a:latin typeface="微软雅黑"/>
              </a:rPr>
              <a:t>C. write</a:t>
            </a:r>
          </a:p>
          <a:p>
            <a:pPr algn="l">
              <a:lnSpc>
                <a:spcPts val="1040"/>
              </a:lnSpc>
            </a:pPr>
            <a:r>
              <a:rPr sz="800" b="0" i="0">
                <a:solidFill>
                  <a:srgbClr val="2C3E50"/>
                </a:solidFill>
                <a:latin typeface="微软雅黑"/>
              </a:rPr>
              <a:t/>
            </a:r>
          </a:p>
          <a:p>
            <a:pPr algn="l">
              <a:lnSpc>
                <a:spcPts val="1690"/>
              </a:lnSpc>
            </a:pPr>
            <a:r>
              <a:rPr sz="1300" b="0" i="0">
                <a:solidFill>
                  <a:srgbClr val="2C3E50"/>
                </a:solidFill>
                <a:latin typeface="微软雅黑"/>
              </a:rPr>
              <a:t>后文提到 my hobby—writing, 所以这里是 make an effort to write something。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Cloze 解题 · 第5-6题</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Cloze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17</a:t>
            </a:r>
          </a:p>
        </p:txBody>
      </p:sp>
      <p:sp>
        <p:nvSpPr>
          <p:cNvPr id="9" name="Oval 8"/>
          <p:cNvSpPr/>
          <p:nvPr/>
        </p:nvSpPr>
        <p:spPr>
          <a:xfrm>
            <a:off x="365760" y="118872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280160"/>
            <a:ext cx="640080" cy="457200"/>
          </a:xfrm>
          <a:prstGeom prst="rect">
            <a:avLst/>
          </a:prstGeom>
          <a:noFill/>
        </p:spPr>
        <p:txBody>
          <a:bodyPr wrap="square">
            <a:spAutoFit/>
          </a:bodyPr>
          <a:lstStyle/>
          <a:p>
            <a:pPr algn="ctr">
              <a:lnSpc>
                <a:spcPts val="1920"/>
              </a:lnSpc>
              <a:defRPr sz="1600" b="1" i="0">
                <a:solidFill>
                  <a:srgbClr val="FFFFFF"/>
                </a:solidFill>
                <a:latin typeface="Arial"/>
              </a:defRPr>
            </a:pPr>
            <a:r>
              <a:t>(5)</a:t>
            </a:r>
          </a:p>
        </p:txBody>
      </p:sp>
      <p:sp>
        <p:nvSpPr>
          <p:cNvPr id="11" name="TextBox 10"/>
          <p:cNvSpPr txBox="1"/>
          <p:nvPr/>
        </p:nvSpPr>
        <p:spPr>
          <a:xfrm>
            <a:off x="1188720" y="1280160"/>
            <a:ext cx="7315200" cy="457200"/>
          </a:xfrm>
          <a:prstGeom prst="rect">
            <a:avLst/>
          </a:prstGeom>
          <a:noFill/>
        </p:spPr>
        <p:txBody>
          <a:bodyPr wrap="square">
            <a:spAutoFit/>
          </a:bodyPr>
          <a:lstStyle/>
          <a:p>
            <a:pPr algn="l">
              <a:lnSpc>
                <a:spcPts val="1920"/>
              </a:lnSpc>
              <a:defRPr sz="1600" b="0" i="0">
                <a:solidFill>
                  <a:srgbClr val="2C3E50"/>
                </a:solidFill>
                <a:latin typeface="微软雅黑"/>
              </a:defRPr>
            </a:pPr>
            <a:r>
              <a:t>A. with    B. except    C. in    D. on</a:t>
            </a:r>
          </a:p>
        </p:txBody>
      </p:sp>
      <p:sp>
        <p:nvSpPr>
          <p:cNvPr id="12" name="Rounded Rectangle 11"/>
          <p:cNvSpPr/>
          <p:nvPr/>
        </p:nvSpPr>
        <p:spPr>
          <a:xfrm>
            <a:off x="1188720" y="1828800"/>
            <a:ext cx="7315200" cy="1371600"/>
          </a:xfrm>
          <a:prstGeom prst="roundRect">
            <a:avLst/>
          </a:prstGeom>
          <a:solidFill>
            <a:srgbClr val="FDF2E9"/>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1920240"/>
            <a:ext cx="6949440" cy="1188720"/>
          </a:xfrm>
          <a:prstGeom prst="rect">
            <a:avLst/>
          </a:prstGeom>
          <a:noFill/>
        </p:spPr>
        <p:txBody>
          <a:bodyPr wrap="square">
            <a:spAutoFit/>
          </a:bodyPr>
          <a:lstStyle/>
          <a:p>
            <a:pPr algn="l">
              <a:lnSpc>
                <a:spcPts val="1950"/>
              </a:lnSpc>
            </a:pPr>
            <a:r>
              <a:rPr sz="1500" b="1" i="0">
                <a:solidFill>
                  <a:srgbClr val="E74C3C"/>
                </a:solidFill>
                <a:latin typeface="Arial"/>
              </a:rPr>
              <a:t>Answer: </a:t>
            </a:r>
            <a:r>
              <a:rPr sz="1500" b="1" i="0">
                <a:solidFill>
                  <a:srgbClr val="E74C3C"/>
                </a:solidFill>
                <a:latin typeface="微软雅黑"/>
              </a:rPr>
              <a:t>D. on</a:t>
            </a:r>
          </a:p>
          <a:p>
            <a:pPr algn="l">
              <a:lnSpc>
                <a:spcPts val="1040"/>
              </a:lnSpc>
            </a:pPr>
            <a:r>
              <a:rPr sz="800" b="0" i="0">
                <a:solidFill>
                  <a:srgbClr val="2C3E50"/>
                </a:solidFill>
                <a:latin typeface="微软雅黑"/>
              </a:rPr>
              <a:t/>
            </a:r>
          </a:p>
          <a:p>
            <a:pPr algn="l">
              <a:lnSpc>
                <a:spcPts val="1690"/>
              </a:lnSpc>
            </a:pPr>
            <a:r>
              <a:rPr sz="1300" b="0" i="0">
                <a:solidFill>
                  <a:srgbClr val="2C3E50"/>
                </a:solidFill>
                <a:latin typeface="微软雅黑"/>
              </a:rPr>
              <a:t>on weekends 在周末，固定搭配。</a:t>
            </a:r>
          </a:p>
        </p:txBody>
      </p:sp>
      <p:sp>
        <p:nvSpPr>
          <p:cNvPr id="14" name="Oval 13"/>
          <p:cNvSpPr/>
          <p:nvPr/>
        </p:nvSpPr>
        <p:spPr>
          <a:xfrm>
            <a:off x="365760" y="3749039"/>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840479"/>
            <a:ext cx="640080" cy="457200"/>
          </a:xfrm>
          <a:prstGeom prst="rect">
            <a:avLst/>
          </a:prstGeom>
          <a:noFill/>
        </p:spPr>
        <p:txBody>
          <a:bodyPr wrap="square">
            <a:spAutoFit/>
          </a:bodyPr>
          <a:lstStyle/>
          <a:p>
            <a:pPr algn="ctr">
              <a:lnSpc>
                <a:spcPts val="1920"/>
              </a:lnSpc>
              <a:defRPr sz="1600" b="1" i="0">
                <a:solidFill>
                  <a:srgbClr val="FFFFFF"/>
                </a:solidFill>
                <a:latin typeface="Arial"/>
              </a:defRPr>
            </a:pPr>
            <a:r>
              <a:t>(6)</a:t>
            </a:r>
          </a:p>
        </p:txBody>
      </p:sp>
      <p:sp>
        <p:nvSpPr>
          <p:cNvPr id="16" name="TextBox 15"/>
          <p:cNvSpPr txBox="1"/>
          <p:nvPr/>
        </p:nvSpPr>
        <p:spPr>
          <a:xfrm>
            <a:off x="1188720" y="3840479"/>
            <a:ext cx="7315200" cy="457200"/>
          </a:xfrm>
          <a:prstGeom prst="rect">
            <a:avLst/>
          </a:prstGeom>
          <a:noFill/>
        </p:spPr>
        <p:txBody>
          <a:bodyPr wrap="square">
            <a:spAutoFit/>
          </a:bodyPr>
          <a:lstStyle/>
          <a:p>
            <a:pPr algn="l">
              <a:lnSpc>
                <a:spcPts val="1920"/>
              </a:lnSpc>
              <a:defRPr sz="1600" b="0" i="0">
                <a:solidFill>
                  <a:srgbClr val="2C3E50"/>
                </a:solidFill>
                <a:latin typeface="微软雅黑"/>
              </a:defRPr>
            </a:pPr>
            <a:r>
              <a:t>A. eat    B. drink    C. take    D. get</a:t>
            </a:r>
          </a:p>
        </p:txBody>
      </p:sp>
      <p:sp>
        <p:nvSpPr>
          <p:cNvPr id="17" name="Rounded Rectangle 16"/>
          <p:cNvSpPr/>
          <p:nvPr/>
        </p:nvSpPr>
        <p:spPr>
          <a:xfrm>
            <a:off x="1188720" y="4389119"/>
            <a:ext cx="7315200" cy="1371600"/>
          </a:xfrm>
          <a:prstGeom prst="roundRect">
            <a:avLst/>
          </a:prstGeom>
          <a:solidFill>
            <a:srgbClr val="FDF2E9"/>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4480559"/>
            <a:ext cx="6949440" cy="1188720"/>
          </a:xfrm>
          <a:prstGeom prst="rect">
            <a:avLst/>
          </a:prstGeom>
          <a:noFill/>
        </p:spPr>
        <p:txBody>
          <a:bodyPr wrap="square">
            <a:spAutoFit/>
          </a:bodyPr>
          <a:lstStyle/>
          <a:p>
            <a:pPr algn="l">
              <a:lnSpc>
                <a:spcPts val="1950"/>
              </a:lnSpc>
            </a:pPr>
            <a:r>
              <a:rPr sz="1500" b="1" i="0">
                <a:solidFill>
                  <a:srgbClr val="E74C3C"/>
                </a:solidFill>
                <a:latin typeface="Arial"/>
              </a:rPr>
              <a:t>Answer: </a:t>
            </a:r>
            <a:r>
              <a:rPr sz="1500" b="1" i="0">
                <a:solidFill>
                  <a:srgbClr val="E74C3C"/>
                </a:solidFill>
                <a:latin typeface="微软雅黑"/>
              </a:rPr>
              <a:t>B. drink</a:t>
            </a:r>
          </a:p>
          <a:p>
            <a:pPr algn="l">
              <a:lnSpc>
                <a:spcPts val="1040"/>
              </a:lnSpc>
            </a:pPr>
            <a:r>
              <a:rPr sz="800" b="0" i="0">
                <a:solidFill>
                  <a:srgbClr val="2C3E50"/>
                </a:solidFill>
                <a:latin typeface="微软雅黑"/>
              </a:rPr>
              <a:t/>
            </a:r>
          </a:p>
          <a:p>
            <a:pPr algn="l">
              <a:lnSpc>
                <a:spcPts val="1690"/>
              </a:lnSpc>
            </a:pPr>
            <a:r>
              <a:rPr sz="1300" b="0" i="0">
                <a:solidFill>
                  <a:srgbClr val="2C3E50"/>
                </a:solidFill>
                <a:latin typeface="微软雅黑"/>
              </a:rPr>
              <a:t>drink some beer 喝一些啤酒，固定搭配。eat 是吃，不搭配 beer。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Cloze 解题 · 第7-8题</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Cloze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18</a:t>
            </a:r>
          </a:p>
        </p:txBody>
      </p:sp>
      <p:sp>
        <p:nvSpPr>
          <p:cNvPr id="9" name="Oval 8"/>
          <p:cNvSpPr/>
          <p:nvPr/>
        </p:nvSpPr>
        <p:spPr>
          <a:xfrm>
            <a:off x="365760" y="118872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280160"/>
            <a:ext cx="640080" cy="457200"/>
          </a:xfrm>
          <a:prstGeom prst="rect">
            <a:avLst/>
          </a:prstGeom>
          <a:noFill/>
        </p:spPr>
        <p:txBody>
          <a:bodyPr wrap="square">
            <a:spAutoFit/>
          </a:bodyPr>
          <a:lstStyle/>
          <a:p>
            <a:pPr algn="ctr">
              <a:lnSpc>
                <a:spcPts val="1920"/>
              </a:lnSpc>
              <a:defRPr sz="1600" b="1" i="0">
                <a:solidFill>
                  <a:srgbClr val="FFFFFF"/>
                </a:solidFill>
                <a:latin typeface="Arial"/>
              </a:defRPr>
            </a:pPr>
            <a:r>
              <a:t>(7)</a:t>
            </a:r>
          </a:p>
        </p:txBody>
      </p:sp>
      <p:sp>
        <p:nvSpPr>
          <p:cNvPr id="11" name="TextBox 10"/>
          <p:cNvSpPr txBox="1"/>
          <p:nvPr/>
        </p:nvSpPr>
        <p:spPr>
          <a:xfrm>
            <a:off x="1188720" y="1280160"/>
            <a:ext cx="7315200" cy="457200"/>
          </a:xfrm>
          <a:prstGeom prst="rect">
            <a:avLst/>
          </a:prstGeom>
          <a:noFill/>
        </p:spPr>
        <p:txBody>
          <a:bodyPr wrap="square">
            <a:spAutoFit/>
          </a:bodyPr>
          <a:lstStyle/>
          <a:p>
            <a:pPr algn="l">
              <a:lnSpc>
                <a:spcPts val="1920"/>
              </a:lnSpc>
              <a:defRPr sz="1600" b="0" i="0">
                <a:solidFill>
                  <a:srgbClr val="2C3E50"/>
                </a:solidFill>
                <a:latin typeface="微软雅黑"/>
              </a:defRPr>
            </a:pPr>
            <a:r>
              <a:t>A. spend    B. share    C. enjoy    D. relax</a:t>
            </a:r>
          </a:p>
        </p:txBody>
      </p:sp>
      <p:sp>
        <p:nvSpPr>
          <p:cNvPr id="12" name="Rounded Rectangle 11"/>
          <p:cNvSpPr/>
          <p:nvPr/>
        </p:nvSpPr>
        <p:spPr>
          <a:xfrm>
            <a:off x="1188720" y="1828800"/>
            <a:ext cx="7315200" cy="1371600"/>
          </a:xfrm>
          <a:prstGeom prst="roundRect">
            <a:avLst/>
          </a:prstGeom>
          <a:solidFill>
            <a:srgbClr val="FDF2E9"/>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1920240"/>
            <a:ext cx="6949440" cy="1188720"/>
          </a:xfrm>
          <a:prstGeom prst="rect">
            <a:avLst/>
          </a:prstGeom>
          <a:noFill/>
        </p:spPr>
        <p:txBody>
          <a:bodyPr wrap="square">
            <a:spAutoFit/>
          </a:bodyPr>
          <a:lstStyle/>
          <a:p>
            <a:pPr algn="l">
              <a:lnSpc>
                <a:spcPts val="1950"/>
              </a:lnSpc>
            </a:pPr>
            <a:r>
              <a:rPr sz="1500" b="1" i="0">
                <a:solidFill>
                  <a:srgbClr val="E74C3C"/>
                </a:solidFill>
                <a:latin typeface="Arial"/>
              </a:rPr>
              <a:t>Answer: </a:t>
            </a:r>
            <a:r>
              <a:rPr sz="1500" b="1" i="0">
                <a:solidFill>
                  <a:srgbClr val="E74C3C"/>
                </a:solidFill>
                <a:latin typeface="微软雅黑"/>
              </a:rPr>
              <a:t>C. enjoy</a:t>
            </a:r>
          </a:p>
          <a:p>
            <a:pPr algn="l">
              <a:lnSpc>
                <a:spcPts val="1040"/>
              </a:lnSpc>
            </a:pPr>
            <a:r>
              <a:rPr sz="800" b="0" i="0">
                <a:solidFill>
                  <a:srgbClr val="2C3E50"/>
                </a:solidFill>
                <a:latin typeface="微软雅黑"/>
              </a:rPr>
              <a:t/>
            </a:r>
          </a:p>
          <a:p>
            <a:pPr algn="l">
              <a:lnSpc>
                <a:spcPts val="1690"/>
              </a:lnSpc>
            </a:pPr>
            <a:r>
              <a:rPr sz="1300" b="0" i="0">
                <a:solidFill>
                  <a:srgbClr val="2C3E50"/>
                </a:solidFill>
                <a:latin typeface="微软雅黑"/>
              </a:rPr>
              <a:t>enjoy your life 享受你的生活。与前文 slow down 并列，呼应文章主旨。</a:t>
            </a:r>
          </a:p>
        </p:txBody>
      </p:sp>
      <p:sp>
        <p:nvSpPr>
          <p:cNvPr id="14" name="Oval 13"/>
          <p:cNvSpPr/>
          <p:nvPr/>
        </p:nvSpPr>
        <p:spPr>
          <a:xfrm>
            <a:off x="365760" y="3749039"/>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840479"/>
            <a:ext cx="640080" cy="457200"/>
          </a:xfrm>
          <a:prstGeom prst="rect">
            <a:avLst/>
          </a:prstGeom>
          <a:noFill/>
        </p:spPr>
        <p:txBody>
          <a:bodyPr wrap="square">
            <a:spAutoFit/>
          </a:bodyPr>
          <a:lstStyle/>
          <a:p>
            <a:pPr algn="ctr">
              <a:lnSpc>
                <a:spcPts val="1920"/>
              </a:lnSpc>
              <a:defRPr sz="1600" b="1" i="0">
                <a:solidFill>
                  <a:srgbClr val="FFFFFF"/>
                </a:solidFill>
                <a:latin typeface="Arial"/>
              </a:defRPr>
            </a:pPr>
            <a:r>
              <a:t>(8)</a:t>
            </a:r>
          </a:p>
        </p:txBody>
      </p:sp>
      <p:sp>
        <p:nvSpPr>
          <p:cNvPr id="16" name="TextBox 15"/>
          <p:cNvSpPr txBox="1"/>
          <p:nvPr/>
        </p:nvSpPr>
        <p:spPr>
          <a:xfrm>
            <a:off x="1188720" y="3840479"/>
            <a:ext cx="7315200" cy="457200"/>
          </a:xfrm>
          <a:prstGeom prst="rect">
            <a:avLst/>
          </a:prstGeom>
          <a:noFill/>
        </p:spPr>
        <p:txBody>
          <a:bodyPr wrap="square">
            <a:spAutoFit/>
          </a:bodyPr>
          <a:lstStyle/>
          <a:p>
            <a:pPr algn="l">
              <a:lnSpc>
                <a:spcPts val="1920"/>
              </a:lnSpc>
              <a:defRPr sz="1600" b="0" i="0">
                <a:solidFill>
                  <a:srgbClr val="2C3E50"/>
                </a:solidFill>
                <a:latin typeface="微软雅黑"/>
              </a:defRPr>
            </a:pPr>
            <a:r>
              <a:t>A. plans    B. mistakes    C. noises    D. sentences</a:t>
            </a:r>
          </a:p>
        </p:txBody>
      </p:sp>
      <p:sp>
        <p:nvSpPr>
          <p:cNvPr id="17" name="Rounded Rectangle 16"/>
          <p:cNvSpPr/>
          <p:nvPr/>
        </p:nvSpPr>
        <p:spPr>
          <a:xfrm>
            <a:off x="1188720" y="4389119"/>
            <a:ext cx="7315200" cy="1371600"/>
          </a:xfrm>
          <a:prstGeom prst="roundRect">
            <a:avLst/>
          </a:prstGeom>
          <a:solidFill>
            <a:srgbClr val="FDF2E9"/>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4480559"/>
            <a:ext cx="6949440" cy="1188720"/>
          </a:xfrm>
          <a:prstGeom prst="rect">
            <a:avLst/>
          </a:prstGeom>
          <a:noFill/>
        </p:spPr>
        <p:txBody>
          <a:bodyPr wrap="square">
            <a:spAutoFit/>
          </a:bodyPr>
          <a:lstStyle/>
          <a:p>
            <a:pPr algn="l">
              <a:lnSpc>
                <a:spcPts val="1950"/>
              </a:lnSpc>
            </a:pPr>
            <a:r>
              <a:rPr sz="1500" b="1" i="0">
                <a:solidFill>
                  <a:srgbClr val="E74C3C"/>
                </a:solidFill>
                <a:latin typeface="Arial"/>
              </a:rPr>
              <a:t>Answer: </a:t>
            </a:r>
            <a:r>
              <a:rPr sz="1500" b="1" i="0">
                <a:solidFill>
                  <a:srgbClr val="E74C3C"/>
                </a:solidFill>
                <a:latin typeface="微软雅黑"/>
              </a:rPr>
              <a:t>A. plans</a:t>
            </a:r>
          </a:p>
          <a:p>
            <a:pPr algn="l">
              <a:lnSpc>
                <a:spcPts val="1040"/>
              </a:lnSpc>
            </a:pPr>
            <a:r>
              <a:rPr sz="800" b="0" i="0">
                <a:solidFill>
                  <a:srgbClr val="2C3E50"/>
                </a:solidFill>
                <a:latin typeface="微软雅黑"/>
              </a:rPr>
              <a:t/>
            </a:r>
          </a:p>
          <a:p>
            <a:pPr algn="l">
              <a:lnSpc>
                <a:spcPts val="1690"/>
              </a:lnSpc>
            </a:pPr>
            <a:r>
              <a:rPr sz="1300" b="0" i="0">
                <a:solidFill>
                  <a:srgbClr val="2C3E50"/>
                </a:solidFill>
                <a:latin typeface="微软雅黑"/>
              </a:rPr>
              <a:t>don't make any plans 不要做任何计划。周末应该什么都不安排，尽情放松。</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Cloze 解题 · 第9-10题</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Cloze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19</a:t>
            </a:r>
          </a:p>
        </p:txBody>
      </p:sp>
      <p:sp>
        <p:nvSpPr>
          <p:cNvPr id="9" name="Oval 8"/>
          <p:cNvSpPr/>
          <p:nvPr/>
        </p:nvSpPr>
        <p:spPr>
          <a:xfrm>
            <a:off x="365760" y="118872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280160"/>
            <a:ext cx="640080" cy="457200"/>
          </a:xfrm>
          <a:prstGeom prst="rect">
            <a:avLst/>
          </a:prstGeom>
          <a:noFill/>
        </p:spPr>
        <p:txBody>
          <a:bodyPr wrap="square">
            <a:spAutoFit/>
          </a:bodyPr>
          <a:lstStyle/>
          <a:p>
            <a:pPr algn="ctr">
              <a:lnSpc>
                <a:spcPts val="1920"/>
              </a:lnSpc>
              <a:defRPr sz="1600" b="1" i="0">
                <a:solidFill>
                  <a:srgbClr val="FFFFFF"/>
                </a:solidFill>
                <a:latin typeface="Arial"/>
              </a:defRPr>
            </a:pPr>
            <a:r>
              <a:t>(9)</a:t>
            </a:r>
          </a:p>
        </p:txBody>
      </p:sp>
      <p:sp>
        <p:nvSpPr>
          <p:cNvPr id="11" name="TextBox 10"/>
          <p:cNvSpPr txBox="1"/>
          <p:nvPr/>
        </p:nvSpPr>
        <p:spPr>
          <a:xfrm>
            <a:off x="1188720" y="1280160"/>
            <a:ext cx="7315200" cy="457200"/>
          </a:xfrm>
          <a:prstGeom prst="rect">
            <a:avLst/>
          </a:prstGeom>
          <a:noFill/>
        </p:spPr>
        <p:txBody>
          <a:bodyPr wrap="square">
            <a:spAutoFit/>
          </a:bodyPr>
          <a:lstStyle/>
          <a:p>
            <a:pPr algn="l">
              <a:lnSpc>
                <a:spcPts val="1920"/>
              </a:lnSpc>
              <a:defRPr sz="1600" b="0" i="0">
                <a:solidFill>
                  <a:srgbClr val="2C3E50"/>
                </a:solidFill>
                <a:latin typeface="微软雅黑"/>
              </a:defRPr>
            </a:pPr>
            <a:r>
              <a:t>A. but    B. when    C. though    D. so</a:t>
            </a:r>
          </a:p>
        </p:txBody>
      </p:sp>
      <p:sp>
        <p:nvSpPr>
          <p:cNvPr id="12" name="Rounded Rectangle 11"/>
          <p:cNvSpPr/>
          <p:nvPr/>
        </p:nvSpPr>
        <p:spPr>
          <a:xfrm>
            <a:off x="1188720" y="1828800"/>
            <a:ext cx="7315200" cy="1371600"/>
          </a:xfrm>
          <a:prstGeom prst="roundRect">
            <a:avLst/>
          </a:prstGeom>
          <a:solidFill>
            <a:srgbClr val="FDF2E9"/>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1920240"/>
            <a:ext cx="6949440" cy="1188720"/>
          </a:xfrm>
          <a:prstGeom prst="rect">
            <a:avLst/>
          </a:prstGeom>
          <a:noFill/>
        </p:spPr>
        <p:txBody>
          <a:bodyPr wrap="square">
            <a:spAutoFit/>
          </a:bodyPr>
          <a:lstStyle/>
          <a:p>
            <a:pPr algn="l">
              <a:lnSpc>
                <a:spcPts val="1950"/>
              </a:lnSpc>
            </a:pPr>
            <a:r>
              <a:rPr sz="1500" b="1" i="0">
                <a:solidFill>
                  <a:srgbClr val="E74C3C"/>
                </a:solidFill>
                <a:latin typeface="Arial"/>
              </a:rPr>
              <a:t>Answer: </a:t>
            </a:r>
            <a:r>
              <a:rPr sz="1500" b="1" i="0">
                <a:solidFill>
                  <a:srgbClr val="E74C3C"/>
                </a:solidFill>
                <a:latin typeface="微软雅黑"/>
              </a:rPr>
              <a:t>B. when</a:t>
            </a:r>
          </a:p>
          <a:p>
            <a:pPr algn="l">
              <a:lnSpc>
                <a:spcPts val="1040"/>
              </a:lnSpc>
            </a:pPr>
            <a:r>
              <a:rPr sz="800" b="0" i="0">
                <a:solidFill>
                  <a:srgbClr val="2C3E50"/>
                </a:solidFill>
                <a:latin typeface="微软雅黑"/>
              </a:rPr>
              <a:t/>
            </a:r>
          </a:p>
          <a:p>
            <a:pPr algn="l">
              <a:lnSpc>
                <a:spcPts val="1690"/>
              </a:lnSpc>
            </a:pPr>
            <a:r>
              <a:rPr sz="1300" b="0" i="0">
                <a:solidFill>
                  <a:srgbClr val="2C3E50"/>
                </a:solidFill>
                <a:latin typeface="微软雅黑"/>
              </a:rPr>
              <a:t>when 引导时间状语从句：当你的身体告诉你该起床的时候再起床。</a:t>
            </a:r>
          </a:p>
        </p:txBody>
      </p:sp>
      <p:sp>
        <p:nvSpPr>
          <p:cNvPr id="14" name="Oval 13"/>
          <p:cNvSpPr/>
          <p:nvPr/>
        </p:nvSpPr>
        <p:spPr>
          <a:xfrm>
            <a:off x="365760" y="3749039"/>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840479"/>
            <a:ext cx="640080" cy="457200"/>
          </a:xfrm>
          <a:prstGeom prst="rect">
            <a:avLst/>
          </a:prstGeom>
          <a:noFill/>
        </p:spPr>
        <p:txBody>
          <a:bodyPr wrap="square">
            <a:spAutoFit/>
          </a:bodyPr>
          <a:lstStyle/>
          <a:p>
            <a:pPr algn="ctr">
              <a:lnSpc>
                <a:spcPts val="1920"/>
              </a:lnSpc>
              <a:defRPr sz="1600" b="1" i="0">
                <a:solidFill>
                  <a:srgbClr val="FFFFFF"/>
                </a:solidFill>
                <a:latin typeface="Arial"/>
              </a:defRPr>
            </a:pPr>
            <a:r>
              <a:t>(10)</a:t>
            </a:r>
          </a:p>
        </p:txBody>
      </p:sp>
      <p:sp>
        <p:nvSpPr>
          <p:cNvPr id="16" name="TextBox 15"/>
          <p:cNvSpPr txBox="1"/>
          <p:nvPr/>
        </p:nvSpPr>
        <p:spPr>
          <a:xfrm>
            <a:off x="1188720" y="3840479"/>
            <a:ext cx="7315200" cy="457200"/>
          </a:xfrm>
          <a:prstGeom prst="rect">
            <a:avLst/>
          </a:prstGeom>
          <a:noFill/>
        </p:spPr>
        <p:txBody>
          <a:bodyPr wrap="square">
            <a:spAutoFit/>
          </a:bodyPr>
          <a:lstStyle/>
          <a:p>
            <a:pPr algn="l">
              <a:lnSpc>
                <a:spcPts val="1920"/>
              </a:lnSpc>
              <a:defRPr sz="1600" b="0" i="0">
                <a:solidFill>
                  <a:srgbClr val="2C3E50"/>
                </a:solidFill>
                <a:latin typeface="微软雅黑"/>
              </a:defRPr>
            </a:pPr>
            <a:r>
              <a:t>A. stand up    B. give away    C. turn on    D. take out</a:t>
            </a:r>
          </a:p>
        </p:txBody>
      </p:sp>
      <p:sp>
        <p:nvSpPr>
          <p:cNvPr id="17" name="Rounded Rectangle 16"/>
          <p:cNvSpPr/>
          <p:nvPr/>
        </p:nvSpPr>
        <p:spPr>
          <a:xfrm>
            <a:off x="1188720" y="4389119"/>
            <a:ext cx="7315200" cy="1371600"/>
          </a:xfrm>
          <a:prstGeom prst="roundRect">
            <a:avLst/>
          </a:prstGeom>
          <a:solidFill>
            <a:srgbClr val="FDF2E9"/>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4480559"/>
            <a:ext cx="6949440" cy="1188720"/>
          </a:xfrm>
          <a:prstGeom prst="rect">
            <a:avLst/>
          </a:prstGeom>
          <a:noFill/>
        </p:spPr>
        <p:txBody>
          <a:bodyPr wrap="square">
            <a:spAutoFit/>
          </a:bodyPr>
          <a:lstStyle/>
          <a:p>
            <a:pPr algn="l">
              <a:lnSpc>
                <a:spcPts val="1950"/>
              </a:lnSpc>
            </a:pPr>
            <a:r>
              <a:rPr sz="1500" b="1" i="0">
                <a:solidFill>
                  <a:srgbClr val="E74C3C"/>
                </a:solidFill>
                <a:latin typeface="Arial"/>
              </a:rPr>
              <a:t>Answer: </a:t>
            </a:r>
            <a:r>
              <a:rPr sz="1500" b="1" i="0">
                <a:solidFill>
                  <a:srgbClr val="E74C3C"/>
                </a:solidFill>
                <a:latin typeface="微软雅黑"/>
              </a:rPr>
              <a:t>C. turn on</a:t>
            </a:r>
          </a:p>
          <a:p>
            <a:pPr algn="l">
              <a:lnSpc>
                <a:spcPts val="1040"/>
              </a:lnSpc>
            </a:pPr>
            <a:r>
              <a:rPr sz="800" b="0" i="0">
                <a:solidFill>
                  <a:srgbClr val="2C3E50"/>
                </a:solidFill>
                <a:latin typeface="微软雅黑"/>
              </a:rPr>
              <a:t/>
            </a:r>
          </a:p>
          <a:p>
            <a:pPr algn="l">
              <a:lnSpc>
                <a:spcPts val="1690"/>
              </a:lnSpc>
            </a:pPr>
            <a:r>
              <a:rPr sz="1300" b="0" i="0">
                <a:solidFill>
                  <a:srgbClr val="2C3E50"/>
                </a:solidFill>
                <a:latin typeface="微软雅黑"/>
              </a:rPr>
              <a:t>turn on the radio 打开收音机。与前面的 step outside, get fresh air 构成祈使句并列。</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Words &amp; Expressions (1/2)</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Vocabulary</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20</a:t>
            </a:r>
          </a:p>
        </p:txBody>
      </p:sp>
      <p:graphicFrame>
        <p:nvGraphicFramePr>
          <p:cNvPr id="9" name="Table 8"/>
          <p:cNvGraphicFramePr>
            <a:graphicFrameLocks noGrp="1"/>
          </p:cNvGraphicFramePr>
          <p:nvPr/>
        </p:nvGraphicFramePr>
        <p:xfrm>
          <a:off x="457200" y="1188720"/>
          <a:ext cx="8229600" cy="4114800"/>
        </p:xfrm>
        <a:graphic>
          <a:graphicData uri="http://schemas.openxmlformats.org/drawingml/2006/table">
            <a:tbl>
              <a:tblPr firstRow="1" bandRow="1">
                <a:tableStyleId>{5C22544A-7EE6-4342-B048-85BDC9FD1C3A}</a:tableStyleId>
              </a:tblPr>
              <a:tblGrid>
                <a:gridCol w="2057400"/>
                <a:gridCol w="2057400"/>
                <a:gridCol w="2057400"/>
                <a:gridCol w="2057400"/>
              </a:tblGrid>
              <a:tr h="685800">
                <a:tc>
                  <a:txBody>
                    <a:bodyPr/>
                    <a:lstStyle/>
                    <a:p>
                      <a:pPr algn="ctr">
                        <a:defRPr sz="1400" b="1">
                          <a:solidFill>
                            <a:srgbClr val="FFFFFF"/>
                          </a:solidFill>
                          <a:latin typeface="微软雅黑"/>
                        </a:defRPr>
                      </a:pPr>
                      <a:r>
                        <a:t>序号</a:t>
                      </a:r>
                    </a:p>
                  </a:txBody>
                  <a:tcPr>
                    <a:solidFill>
                      <a:srgbClr val="2B5797"/>
                    </a:solidFill>
                  </a:tcPr>
                </a:tc>
                <a:tc>
                  <a:txBody>
                    <a:bodyPr/>
                    <a:lstStyle/>
                    <a:p>
                      <a:pPr algn="ctr">
                        <a:defRPr sz="1400" b="1">
                          <a:solidFill>
                            <a:srgbClr val="FFFFFF"/>
                          </a:solidFill>
                          <a:latin typeface="微软雅黑"/>
                        </a:defRPr>
                      </a:pPr>
                      <a:r>
                        <a:t>单词/短语</a:t>
                      </a:r>
                    </a:p>
                  </a:txBody>
                  <a:tcPr>
                    <a:solidFill>
                      <a:srgbClr val="2B5797"/>
                    </a:solidFill>
                  </a:tcPr>
                </a:tc>
                <a:tc>
                  <a:txBody>
                    <a:bodyPr/>
                    <a:lstStyle/>
                    <a:p>
                      <a:pPr algn="ctr">
                        <a:defRPr sz="1400" b="1">
                          <a:solidFill>
                            <a:srgbClr val="FFFFFF"/>
                          </a:solidFill>
                          <a:latin typeface="微软雅黑"/>
                        </a:defRPr>
                      </a:pPr>
                      <a:r>
                        <a:t>音标</a:t>
                      </a:r>
                    </a:p>
                  </a:txBody>
                  <a:tcPr>
                    <a:solidFill>
                      <a:srgbClr val="2B5797"/>
                    </a:solidFill>
                  </a:tcPr>
                </a:tc>
                <a:tc>
                  <a:txBody>
                    <a:bodyPr/>
                    <a:lstStyle/>
                    <a:p>
                      <a:pPr algn="ctr">
                        <a:defRPr sz="1400" b="1">
                          <a:solidFill>
                            <a:srgbClr val="FFFFFF"/>
                          </a:solidFill>
                          <a:latin typeface="微软雅黑"/>
                        </a:defRPr>
                      </a:pPr>
                      <a:r>
                        <a:t>含义</a:t>
                      </a:r>
                    </a:p>
                  </a:txBody>
                  <a:tcPr>
                    <a:solidFill>
                      <a:srgbClr val="2B5797"/>
                    </a:solidFill>
                  </a:tcPr>
                </a:tc>
              </a:tr>
              <a:tr h="685800">
                <a:tc>
                  <a:txBody>
                    <a:bodyPr/>
                    <a:lstStyle/>
                    <a:p>
                      <a:pPr algn="ctr">
                        <a:defRPr sz="1300">
                          <a:solidFill>
                            <a:srgbClr val="2C3E50"/>
                          </a:solidFill>
                          <a:latin typeface="微软雅黑"/>
                        </a:defRPr>
                      </a:pPr>
                      <a:r>
                        <a:t>1</a:t>
                      </a:r>
                    </a:p>
                  </a:txBody>
                  <a:tcPr>
                    <a:solidFill>
                      <a:srgbClr val="FFFFFF"/>
                    </a:solidFill>
                  </a:tcPr>
                </a:tc>
                <a:tc>
                  <a:txBody>
                    <a:bodyPr/>
                    <a:lstStyle/>
                    <a:p>
                      <a:pPr algn="ctr">
                        <a:defRPr sz="1300">
                          <a:solidFill>
                            <a:srgbClr val="2C3E50"/>
                          </a:solidFill>
                          <a:latin typeface="微软雅黑"/>
                        </a:defRPr>
                      </a:pPr>
                      <a:r>
                        <a:t>seem</a:t>
                      </a:r>
                    </a:p>
                  </a:txBody>
                  <a:tcPr>
                    <a:solidFill>
                      <a:srgbClr val="FFFFFF"/>
                    </a:solidFill>
                  </a:tcPr>
                </a:tc>
                <a:tc>
                  <a:txBody>
                    <a:bodyPr/>
                    <a:lstStyle/>
                    <a:p>
                      <a:pPr algn="ctr">
                        <a:defRPr sz="1300">
                          <a:solidFill>
                            <a:srgbClr val="2C3E50"/>
                          </a:solidFill>
                          <a:latin typeface="微软雅黑"/>
                        </a:defRPr>
                      </a:pPr>
                      <a:r>
                        <a:t>/siːm/</a:t>
                      </a:r>
                    </a:p>
                  </a:txBody>
                  <a:tcPr>
                    <a:solidFill>
                      <a:srgbClr val="FFFFFF"/>
                    </a:solidFill>
                  </a:tcPr>
                </a:tc>
                <a:tc>
                  <a:txBody>
                    <a:bodyPr/>
                    <a:lstStyle/>
                    <a:p>
                      <a:pPr algn="ctr">
                        <a:defRPr sz="1300">
                          <a:solidFill>
                            <a:srgbClr val="2C3E50"/>
                          </a:solidFill>
                          <a:latin typeface="微软雅黑"/>
                        </a:defRPr>
                      </a:pPr>
                      <a:r>
                        <a:t>v. 似乎；好像；看起来</a:t>
                      </a:r>
                    </a:p>
                  </a:txBody>
                  <a:tcPr>
                    <a:solidFill>
                      <a:srgbClr val="FFFFFF"/>
                    </a:solidFill>
                  </a:tcPr>
                </a:tc>
              </a:tr>
              <a:tr h="685800">
                <a:tc>
                  <a:txBody>
                    <a:bodyPr/>
                    <a:lstStyle/>
                    <a:p>
                      <a:pPr algn="ctr">
                        <a:defRPr sz="1300">
                          <a:solidFill>
                            <a:srgbClr val="2C3E50"/>
                          </a:solidFill>
                          <a:latin typeface="微软雅黑"/>
                        </a:defRPr>
                      </a:pPr>
                      <a:r>
                        <a:t>2</a:t>
                      </a:r>
                    </a:p>
                  </a:txBody>
                  <a:tcPr>
                    <a:solidFill>
                      <a:srgbClr val="EBF5FB"/>
                    </a:solidFill>
                  </a:tcPr>
                </a:tc>
                <a:tc>
                  <a:txBody>
                    <a:bodyPr/>
                    <a:lstStyle/>
                    <a:p>
                      <a:pPr algn="ctr">
                        <a:defRPr sz="1300">
                          <a:solidFill>
                            <a:srgbClr val="2C3E50"/>
                          </a:solidFill>
                          <a:latin typeface="微软雅黑"/>
                        </a:defRPr>
                      </a:pPr>
                      <a:r>
                        <a:t>mind</a:t>
                      </a:r>
                    </a:p>
                  </a:txBody>
                  <a:tcPr>
                    <a:solidFill>
                      <a:srgbClr val="EBF5FB"/>
                    </a:solidFill>
                  </a:tcPr>
                </a:tc>
                <a:tc>
                  <a:txBody>
                    <a:bodyPr/>
                    <a:lstStyle/>
                    <a:p>
                      <a:pPr algn="ctr">
                        <a:defRPr sz="1300">
                          <a:solidFill>
                            <a:srgbClr val="2C3E50"/>
                          </a:solidFill>
                          <a:latin typeface="微软雅黑"/>
                        </a:defRPr>
                      </a:pPr>
                      <a:r>
                        <a:t>/maɪnd/</a:t>
                      </a:r>
                    </a:p>
                  </a:txBody>
                  <a:tcPr>
                    <a:solidFill>
                      <a:srgbClr val="EBF5FB"/>
                    </a:solidFill>
                  </a:tcPr>
                </a:tc>
                <a:tc>
                  <a:txBody>
                    <a:bodyPr/>
                    <a:lstStyle/>
                    <a:p>
                      <a:pPr algn="ctr">
                        <a:defRPr sz="1300">
                          <a:solidFill>
                            <a:srgbClr val="2C3E50"/>
                          </a:solidFill>
                          <a:latin typeface="微软雅黑"/>
                        </a:defRPr>
                      </a:pPr>
                      <a:r>
                        <a:t>v. 介意  n. 头脑，想法</a:t>
                      </a:r>
                    </a:p>
                  </a:txBody>
                  <a:tcPr>
                    <a:solidFill>
                      <a:srgbClr val="EBF5FB"/>
                    </a:solidFill>
                  </a:tcPr>
                </a:tc>
              </a:tr>
              <a:tr h="685800">
                <a:tc>
                  <a:txBody>
                    <a:bodyPr/>
                    <a:lstStyle/>
                    <a:p>
                      <a:pPr algn="ctr">
                        <a:defRPr sz="1300">
                          <a:solidFill>
                            <a:srgbClr val="2C3E50"/>
                          </a:solidFill>
                          <a:latin typeface="微软雅黑"/>
                        </a:defRPr>
                      </a:pPr>
                      <a:r>
                        <a:t>3</a:t>
                      </a:r>
                    </a:p>
                  </a:txBody>
                  <a:tcPr>
                    <a:solidFill>
                      <a:srgbClr val="FFFFFF"/>
                    </a:solidFill>
                  </a:tcPr>
                </a:tc>
                <a:tc>
                  <a:txBody>
                    <a:bodyPr/>
                    <a:lstStyle/>
                    <a:p>
                      <a:pPr algn="ctr">
                        <a:defRPr sz="1300">
                          <a:solidFill>
                            <a:srgbClr val="2C3E50"/>
                          </a:solidFill>
                          <a:latin typeface="微软雅黑"/>
                        </a:defRPr>
                      </a:pPr>
                      <a:r>
                        <a:t>plan</a:t>
                      </a:r>
                    </a:p>
                  </a:txBody>
                  <a:tcPr>
                    <a:solidFill>
                      <a:srgbClr val="FFFFFF"/>
                    </a:solidFill>
                  </a:tcPr>
                </a:tc>
                <a:tc>
                  <a:txBody>
                    <a:bodyPr/>
                    <a:lstStyle/>
                    <a:p>
                      <a:pPr algn="ctr">
                        <a:defRPr sz="1300">
                          <a:solidFill>
                            <a:srgbClr val="2C3E50"/>
                          </a:solidFill>
                          <a:latin typeface="微软雅黑"/>
                        </a:defRPr>
                      </a:pPr>
                      <a:r>
                        <a:t>/plæn/</a:t>
                      </a:r>
                    </a:p>
                  </a:txBody>
                  <a:tcPr>
                    <a:solidFill>
                      <a:srgbClr val="FFFFFF"/>
                    </a:solidFill>
                  </a:tcPr>
                </a:tc>
                <a:tc>
                  <a:txBody>
                    <a:bodyPr/>
                    <a:lstStyle/>
                    <a:p>
                      <a:pPr algn="ctr">
                        <a:defRPr sz="1300">
                          <a:solidFill>
                            <a:srgbClr val="2C3E50"/>
                          </a:solidFill>
                          <a:latin typeface="微软雅黑"/>
                        </a:defRPr>
                      </a:pPr>
                      <a:r>
                        <a:t>v. 策划；打算  n. 计划</a:t>
                      </a:r>
                    </a:p>
                  </a:txBody>
                  <a:tcPr>
                    <a:solidFill>
                      <a:srgbClr val="FFFFFF"/>
                    </a:solidFill>
                  </a:tcPr>
                </a:tc>
              </a:tr>
              <a:tr h="685800">
                <a:tc>
                  <a:txBody>
                    <a:bodyPr/>
                    <a:lstStyle/>
                    <a:p>
                      <a:pPr algn="ctr">
                        <a:defRPr sz="1300">
                          <a:solidFill>
                            <a:srgbClr val="2C3E50"/>
                          </a:solidFill>
                          <a:latin typeface="微软雅黑"/>
                        </a:defRPr>
                      </a:pPr>
                      <a:r>
                        <a:t>4</a:t>
                      </a:r>
                    </a:p>
                  </a:txBody>
                  <a:tcPr>
                    <a:solidFill>
                      <a:srgbClr val="EBF5FB"/>
                    </a:solidFill>
                  </a:tcPr>
                </a:tc>
                <a:tc>
                  <a:txBody>
                    <a:bodyPr/>
                    <a:lstStyle/>
                    <a:p>
                      <a:pPr algn="ctr">
                        <a:defRPr sz="1300">
                          <a:solidFill>
                            <a:srgbClr val="2C3E50"/>
                          </a:solidFill>
                          <a:latin typeface="微软雅黑"/>
                        </a:defRPr>
                      </a:pPr>
                      <a:r>
                        <a:t>prepare</a:t>
                      </a:r>
                    </a:p>
                  </a:txBody>
                  <a:tcPr>
                    <a:solidFill>
                      <a:srgbClr val="EBF5FB"/>
                    </a:solidFill>
                  </a:tcPr>
                </a:tc>
                <a:tc>
                  <a:txBody>
                    <a:bodyPr/>
                    <a:lstStyle/>
                    <a:p>
                      <a:pPr algn="ctr">
                        <a:defRPr sz="1300">
                          <a:solidFill>
                            <a:srgbClr val="2C3E50"/>
                          </a:solidFill>
                          <a:latin typeface="微软雅黑"/>
                        </a:defRPr>
                      </a:pPr>
                      <a:r>
                        <a:t>/prɪˈpeə(r)/</a:t>
                      </a:r>
                    </a:p>
                  </a:txBody>
                  <a:tcPr>
                    <a:solidFill>
                      <a:srgbClr val="EBF5FB"/>
                    </a:solidFill>
                  </a:tcPr>
                </a:tc>
                <a:tc>
                  <a:txBody>
                    <a:bodyPr/>
                    <a:lstStyle/>
                    <a:p>
                      <a:pPr algn="ctr">
                        <a:defRPr sz="1300">
                          <a:solidFill>
                            <a:srgbClr val="2C3E50"/>
                          </a:solidFill>
                          <a:latin typeface="微软雅黑"/>
                        </a:defRPr>
                      </a:pPr>
                      <a:r>
                        <a:t>v. 准备</a:t>
                      </a:r>
                    </a:p>
                  </a:txBody>
                  <a:tcPr>
                    <a:solidFill>
                      <a:srgbClr val="EBF5FB"/>
                    </a:solidFill>
                  </a:tcPr>
                </a:tc>
              </a:tr>
              <a:tr h="685800">
                <a:tc>
                  <a:txBody>
                    <a:bodyPr/>
                    <a:lstStyle/>
                    <a:p>
                      <a:pPr algn="ctr">
                        <a:defRPr sz="1300">
                          <a:solidFill>
                            <a:srgbClr val="2C3E50"/>
                          </a:solidFill>
                          <a:latin typeface="微软雅黑"/>
                        </a:defRPr>
                      </a:pPr>
                      <a:r>
                        <a:t>5</a:t>
                      </a:r>
                    </a:p>
                  </a:txBody>
                  <a:tcPr>
                    <a:solidFill>
                      <a:srgbClr val="FFFFFF"/>
                    </a:solidFill>
                  </a:tcPr>
                </a:tc>
                <a:tc>
                  <a:txBody>
                    <a:bodyPr/>
                    <a:lstStyle/>
                    <a:p>
                      <a:pPr algn="ctr">
                        <a:defRPr sz="1300">
                          <a:solidFill>
                            <a:srgbClr val="2C3E50"/>
                          </a:solidFill>
                          <a:latin typeface="微软雅黑"/>
                        </a:defRPr>
                      </a:pPr>
                      <a:r>
                        <a:t>mistake</a:t>
                      </a:r>
                    </a:p>
                  </a:txBody>
                  <a:tcPr>
                    <a:solidFill>
                      <a:srgbClr val="FFFFFF"/>
                    </a:solidFill>
                  </a:tcPr>
                </a:tc>
                <a:tc>
                  <a:txBody>
                    <a:bodyPr/>
                    <a:lstStyle/>
                    <a:p>
                      <a:pPr algn="ctr">
                        <a:defRPr sz="1300">
                          <a:solidFill>
                            <a:srgbClr val="2C3E50"/>
                          </a:solidFill>
                          <a:latin typeface="微软雅黑"/>
                        </a:defRPr>
                      </a:pPr>
                      <a:r>
                        <a:t>/mɪˈsteɪk/</a:t>
                      </a:r>
                    </a:p>
                  </a:txBody>
                  <a:tcPr>
                    <a:solidFill>
                      <a:srgbClr val="FFFFFF"/>
                    </a:solidFill>
                  </a:tcPr>
                </a:tc>
                <a:tc>
                  <a:txBody>
                    <a:bodyPr/>
                    <a:lstStyle/>
                    <a:p>
                      <a:pPr algn="ctr">
                        <a:defRPr sz="1300">
                          <a:solidFill>
                            <a:srgbClr val="2C3E50"/>
                          </a:solidFill>
                          <a:latin typeface="微软雅黑"/>
                        </a:defRPr>
                      </a:pPr>
                      <a:r>
                        <a:t>n. 错误  v. 弄错</a:t>
                      </a:r>
                    </a:p>
                  </a:txBody>
                  <a:tcPr>
                    <a:solidFill>
                      <a:srgbClr val="FFFFFF"/>
                    </a:solidFill>
                  </a:tcPr>
                </a:tc>
              </a:tr>
            </a:tbl>
          </a:graphicData>
        </a:graphic>
      </p:graphicFrame>
      <p:sp>
        <p:nvSpPr>
          <p:cNvPr id="10" name="Rounded Rectangle 9"/>
          <p:cNvSpPr/>
          <p:nvPr/>
        </p:nvSpPr>
        <p:spPr>
          <a:xfrm>
            <a:off x="457200" y="5486400"/>
            <a:ext cx="8229600" cy="73152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0">
                <a:solidFill>
                  <a:srgbClr val="2C3E50"/>
                </a:solidFill>
                <a:latin typeface="微软雅黑"/>
              </a:defRPr>
            </a:pPr>
            <a:r>
              <a:t>拓展 seem 用法：seem to do / seem + adj / It seems that... / It seems as if...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Words &amp; Expressions (2/2)</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Vocabulary</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21</a:t>
            </a:r>
          </a:p>
        </p:txBody>
      </p:sp>
      <p:graphicFrame>
        <p:nvGraphicFramePr>
          <p:cNvPr id="9" name="Table 8"/>
          <p:cNvGraphicFramePr>
            <a:graphicFrameLocks noGrp="1"/>
          </p:cNvGraphicFramePr>
          <p:nvPr/>
        </p:nvGraphicFramePr>
        <p:xfrm>
          <a:off x="457200" y="1188720"/>
          <a:ext cx="8229600" cy="4114800"/>
        </p:xfrm>
        <a:graphic>
          <a:graphicData uri="http://schemas.openxmlformats.org/drawingml/2006/table">
            <a:tbl>
              <a:tblPr firstRow="1" bandRow="1">
                <a:tableStyleId>{5C22544A-7EE6-4342-B048-85BDC9FD1C3A}</a:tableStyleId>
              </a:tblPr>
              <a:tblGrid>
                <a:gridCol w="2057400"/>
                <a:gridCol w="2057400"/>
                <a:gridCol w="2057400"/>
                <a:gridCol w="2057400"/>
              </a:tblGrid>
              <a:tr h="685800">
                <a:tc>
                  <a:txBody>
                    <a:bodyPr/>
                    <a:lstStyle/>
                    <a:p>
                      <a:pPr algn="ctr">
                        <a:defRPr sz="1400" b="1">
                          <a:solidFill>
                            <a:srgbClr val="FFFFFF"/>
                          </a:solidFill>
                          <a:latin typeface="微软雅黑"/>
                        </a:defRPr>
                      </a:pPr>
                      <a:r>
                        <a:t>序号</a:t>
                      </a:r>
                    </a:p>
                  </a:txBody>
                  <a:tcPr>
                    <a:solidFill>
                      <a:srgbClr val="2B5797"/>
                    </a:solidFill>
                  </a:tcPr>
                </a:tc>
                <a:tc>
                  <a:txBody>
                    <a:bodyPr/>
                    <a:lstStyle/>
                    <a:p>
                      <a:pPr algn="ctr">
                        <a:defRPr sz="1400" b="1">
                          <a:solidFill>
                            <a:srgbClr val="FFFFFF"/>
                          </a:solidFill>
                          <a:latin typeface="微软雅黑"/>
                        </a:defRPr>
                      </a:pPr>
                      <a:r>
                        <a:t>单词/短语</a:t>
                      </a:r>
                    </a:p>
                  </a:txBody>
                  <a:tcPr>
                    <a:solidFill>
                      <a:srgbClr val="2B5797"/>
                    </a:solidFill>
                  </a:tcPr>
                </a:tc>
                <a:tc>
                  <a:txBody>
                    <a:bodyPr/>
                    <a:lstStyle/>
                    <a:p>
                      <a:pPr algn="ctr">
                        <a:defRPr sz="1400" b="1">
                          <a:solidFill>
                            <a:srgbClr val="FFFFFF"/>
                          </a:solidFill>
                          <a:latin typeface="微软雅黑"/>
                        </a:defRPr>
                      </a:pPr>
                      <a:r>
                        <a:t>音标</a:t>
                      </a:r>
                    </a:p>
                  </a:txBody>
                  <a:tcPr>
                    <a:solidFill>
                      <a:srgbClr val="2B5797"/>
                    </a:solidFill>
                  </a:tcPr>
                </a:tc>
                <a:tc>
                  <a:txBody>
                    <a:bodyPr/>
                    <a:lstStyle/>
                    <a:p>
                      <a:pPr algn="ctr">
                        <a:defRPr sz="1400" b="1">
                          <a:solidFill>
                            <a:srgbClr val="FFFFFF"/>
                          </a:solidFill>
                          <a:latin typeface="微软雅黑"/>
                        </a:defRPr>
                      </a:pPr>
                      <a:r>
                        <a:t>含义</a:t>
                      </a:r>
                    </a:p>
                  </a:txBody>
                  <a:tcPr>
                    <a:solidFill>
                      <a:srgbClr val="2B5797"/>
                    </a:solidFill>
                  </a:tcPr>
                </a:tc>
              </a:tr>
              <a:tr h="685800">
                <a:tc>
                  <a:txBody>
                    <a:bodyPr/>
                    <a:lstStyle/>
                    <a:p>
                      <a:pPr algn="ctr">
                        <a:defRPr sz="1300">
                          <a:solidFill>
                            <a:srgbClr val="2C3E50"/>
                          </a:solidFill>
                          <a:latin typeface="微软雅黑"/>
                        </a:defRPr>
                      </a:pPr>
                      <a:r>
                        <a:t>6</a:t>
                      </a:r>
                    </a:p>
                  </a:txBody>
                  <a:tcPr>
                    <a:solidFill>
                      <a:srgbClr val="FFFFFF"/>
                    </a:solidFill>
                  </a:tcPr>
                </a:tc>
                <a:tc>
                  <a:txBody>
                    <a:bodyPr/>
                    <a:lstStyle/>
                    <a:p>
                      <a:pPr algn="ctr">
                        <a:defRPr sz="1300">
                          <a:solidFill>
                            <a:srgbClr val="2C3E50"/>
                          </a:solidFill>
                          <a:latin typeface="微软雅黑"/>
                        </a:defRPr>
                      </a:pPr>
                      <a:r>
                        <a:t>effort</a:t>
                      </a:r>
                    </a:p>
                  </a:txBody>
                  <a:tcPr>
                    <a:solidFill>
                      <a:srgbClr val="FFFFFF"/>
                    </a:solidFill>
                  </a:tcPr>
                </a:tc>
                <a:tc>
                  <a:txBody>
                    <a:bodyPr/>
                    <a:lstStyle/>
                    <a:p>
                      <a:pPr algn="ctr">
                        <a:defRPr sz="1300">
                          <a:solidFill>
                            <a:srgbClr val="2C3E50"/>
                          </a:solidFill>
                          <a:latin typeface="微软雅黑"/>
                        </a:defRPr>
                      </a:pPr>
                      <a:r>
                        <a:t>/ˈefət/</a:t>
                      </a:r>
                    </a:p>
                  </a:txBody>
                  <a:tcPr>
                    <a:solidFill>
                      <a:srgbClr val="FFFFFF"/>
                    </a:solidFill>
                  </a:tcPr>
                </a:tc>
                <a:tc>
                  <a:txBody>
                    <a:bodyPr/>
                    <a:lstStyle/>
                    <a:p>
                      <a:pPr algn="ctr">
                        <a:defRPr sz="1300">
                          <a:solidFill>
                            <a:srgbClr val="2C3E50"/>
                          </a:solidFill>
                          <a:latin typeface="微软雅黑"/>
                        </a:defRPr>
                      </a:pPr>
                      <a:r>
                        <a:t>n. 努力</a:t>
                      </a:r>
                    </a:p>
                  </a:txBody>
                  <a:tcPr>
                    <a:solidFill>
                      <a:srgbClr val="FFFFFF"/>
                    </a:solidFill>
                  </a:tcPr>
                </a:tc>
              </a:tr>
              <a:tr h="685800">
                <a:tc>
                  <a:txBody>
                    <a:bodyPr/>
                    <a:lstStyle/>
                    <a:p>
                      <a:pPr algn="ctr">
                        <a:defRPr sz="1300">
                          <a:solidFill>
                            <a:srgbClr val="2C3E50"/>
                          </a:solidFill>
                          <a:latin typeface="微软雅黑"/>
                        </a:defRPr>
                      </a:pPr>
                      <a:r>
                        <a:t>7</a:t>
                      </a:r>
                    </a:p>
                  </a:txBody>
                  <a:tcPr>
                    <a:solidFill>
                      <a:srgbClr val="EBF5FB"/>
                    </a:solidFill>
                  </a:tcPr>
                </a:tc>
                <a:tc>
                  <a:txBody>
                    <a:bodyPr/>
                    <a:lstStyle/>
                    <a:p>
                      <a:pPr algn="ctr">
                        <a:defRPr sz="1300">
                          <a:solidFill>
                            <a:srgbClr val="2C3E50"/>
                          </a:solidFill>
                          <a:latin typeface="微软雅黑"/>
                        </a:defRPr>
                      </a:pPr>
                      <a:r>
                        <a:t>reduce</a:t>
                      </a:r>
                    </a:p>
                  </a:txBody>
                  <a:tcPr>
                    <a:solidFill>
                      <a:srgbClr val="EBF5FB"/>
                    </a:solidFill>
                  </a:tcPr>
                </a:tc>
                <a:tc>
                  <a:txBody>
                    <a:bodyPr/>
                    <a:lstStyle/>
                    <a:p>
                      <a:pPr algn="ctr">
                        <a:defRPr sz="1300">
                          <a:solidFill>
                            <a:srgbClr val="2C3E50"/>
                          </a:solidFill>
                          <a:latin typeface="微软雅黑"/>
                        </a:defRPr>
                      </a:pPr>
                      <a:r>
                        <a:t>/rɪˈdjuːs/</a:t>
                      </a:r>
                    </a:p>
                  </a:txBody>
                  <a:tcPr>
                    <a:solidFill>
                      <a:srgbClr val="EBF5FB"/>
                    </a:solidFill>
                  </a:tcPr>
                </a:tc>
                <a:tc>
                  <a:txBody>
                    <a:bodyPr/>
                    <a:lstStyle/>
                    <a:p>
                      <a:pPr algn="ctr">
                        <a:defRPr sz="1300">
                          <a:solidFill>
                            <a:srgbClr val="2C3E50"/>
                          </a:solidFill>
                          <a:latin typeface="微软雅黑"/>
                        </a:defRPr>
                      </a:pPr>
                      <a:r>
                        <a:t>v. 减少</a:t>
                      </a:r>
                    </a:p>
                  </a:txBody>
                  <a:tcPr>
                    <a:solidFill>
                      <a:srgbClr val="EBF5FB"/>
                    </a:solidFill>
                  </a:tcPr>
                </a:tc>
              </a:tr>
              <a:tr h="685800">
                <a:tc>
                  <a:txBody>
                    <a:bodyPr/>
                    <a:lstStyle/>
                    <a:p>
                      <a:pPr algn="ctr">
                        <a:defRPr sz="1300">
                          <a:solidFill>
                            <a:srgbClr val="2C3E50"/>
                          </a:solidFill>
                          <a:latin typeface="微软雅黑"/>
                        </a:defRPr>
                      </a:pPr>
                      <a:r>
                        <a:t>8</a:t>
                      </a:r>
                    </a:p>
                  </a:txBody>
                  <a:tcPr>
                    <a:solidFill>
                      <a:srgbClr val="FFFFFF"/>
                    </a:solidFill>
                  </a:tcPr>
                </a:tc>
                <a:tc>
                  <a:txBody>
                    <a:bodyPr/>
                    <a:lstStyle/>
                    <a:p>
                      <a:pPr algn="ctr">
                        <a:defRPr sz="1300">
                          <a:solidFill>
                            <a:srgbClr val="2C3E50"/>
                          </a:solidFill>
                          <a:latin typeface="微软雅黑"/>
                        </a:defRPr>
                      </a:pPr>
                      <a:r>
                        <a:t>stress</a:t>
                      </a:r>
                    </a:p>
                  </a:txBody>
                  <a:tcPr>
                    <a:solidFill>
                      <a:srgbClr val="FFFFFF"/>
                    </a:solidFill>
                  </a:tcPr>
                </a:tc>
                <a:tc>
                  <a:txBody>
                    <a:bodyPr/>
                    <a:lstStyle/>
                    <a:p>
                      <a:pPr algn="ctr">
                        <a:defRPr sz="1300">
                          <a:solidFill>
                            <a:srgbClr val="2C3E50"/>
                          </a:solidFill>
                          <a:latin typeface="微软雅黑"/>
                        </a:defRPr>
                      </a:pPr>
                      <a:r>
                        <a:t>/stres/</a:t>
                      </a:r>
                    </a:p>
                  </a:txBody>
                  <a:tcPr>
                    <a:solidFill>
                      <a:srgbClr val="FFFFFF"/>
                    </a:solidFill>
                  </a:tcPr>
                </a:tc>
                <a:tc>
                  <a:txBody>
                    <a:bodyPr/>
                    <a:lstStyle/>
                    <a:p>
                      <a:pPr algn="ctr">
                        <a:defRPr sz="1300">
                          <a:solidFill>
                            <a:srgbClr val="2C3E50"/>
                          </a:solidFill>
                          <a:latin typeface="微软雅黑"/>
                        </a:defRPr>
                      </a:pPr>
                      <a:r>
                        <a:t>n. 压力</a:t>
                      </a:r>
                    </a:p>
                  </a:txBody>
                  <a:tcPr>
                    <a:solidFill>
                      <a:srgbClr val="FFFFFF"/>
                    </a:solidFill>
                  </a:tcPr>
                </a:tc>
              </a:tr>
              <a:tr h="685800">
                <a:tc>
                  <a:txBody>
                    <a:bodyPr/>
                    <a:lstStyle/>
                    <a:p>
                      <a:pPr algn="ctr">
                        <a:defRPr sz="1300">
                          <a:solidFill>
                            <a:srgbClr val="2C3E50"/>
                          </a:solidFill>
                          <a:latin typeface="微软雅黑"/>
                        </a:defRPr>
                      </a:pPr>
                      <a:r>
                        <a:t>9</a:t>
                      </a:r>
                    </a:p>
                  </a:txBody>
                  <a:tcPr>
                    <a:solidFill>
                      <a:srgbClr val="EBF5FB"/>
                    </a:solidFill>
                  </a:tcPr>
                </a:tc>
                <a:tc>
                  <a:txBody>
                    <a:bodyPr/>
                    <a:lstStyle/>
                    <a:p>
                      <a:pPr algn="ctr">
                        <a:defRPr sz="1300">
                          <a:solidFill>
                            <a:srgbClr val="2C3E50"/>
                          </a:solidFill>
                          <a:latin typeface="微软雅黑"/>
                        </a:defRPr>
                      </a:pPr>
                      <a:r>
                        <a:t>except</a:t>
                      </a:r>
                    </a:p>
                  </a:txBody>
                  <a:tcPr>
                    <a:solidFill>
                      <a:srgbClr val="EBF5FB"/>
                    </a:solidFill>
                  </a:tcPr>
                </a:tc>
                <a:tc>
                  <a:txBody>
                    <a:bodyPr/>
                    <a:lstStyle/>
                    <a:p>
                      <a:pPr algn="ctr">
                        <a:defRPr sz="1300">
                          <a:solidFill>
                            <a:srgbClr val="2C3E50"/>
                          </a:solidFill>
                          <a:latin typeface="微软雅黑"/>
                        </a:defRPr>
                      </a:pPr>
                      <a:r>
                        <a:t>/ɪkˈsept/</a:t>
                      </a:r>
                    </a:p>
                  </a:txBody>
                  <a:tcPr>
                    <a:solidFill>
                      <a:srgbClr val="EBF5FB"/>
                    </a:solidFill>
                  </a:tcPr>
                </a:tc>
                <a:tc>
                  <a:txBody>
                    <a:bodyPr/>
                    <a:lstStyle/>
                    <a:p>
                      <a:pPr algn="ctr">
                        <a:defRPr sz="1300">
                          <a:solidFill>
                            <a:srgbClr val="2C3E50"/>
                          </a:solidFill>
                          <a:latin typeface="微软雅黑"/>
                        </a:defRPr>
                      </a:pPr>
                      <a:r>
                        <a:t>prep. 除……之外；除了</a:t>
                      </a:r>
                    </a:p>
                  </a:txBody>
                  <a:tcPr>
                    <a:solidFill>
                      <a:srgbClr val="EBF5FB"/>
                    </a:solidFill>
                  </a:tcPr>
                </a:tc>
              </a:tr>
              <a:tr h="685800">
                <a:tc>
                  <a:txBody>
                    <a:bodyPr/>
                    <a:lstStyle/>
                    <a:p>
                      <a:pPr algn="ctr">
                        <a:defRPr sz="1300">
                          <a:solidFill>
                            <a:srgbClr val="2C3E50"/>
                          </a:solidFill>
                          <a:latin typeface="微软雅黑"/>
                        </a:defRPr>
                      </a:pPr>
                      <a:r>
                        <a:t>10</a:t>
                      </a:r>
                    </a:p>
                  </a:txBody>
                  <a:tcPr>
                    <a:solidFill>
                      <a:srgbClr val="FFFFFF"/>
                    </a:solidFill>
                  </a:tcPr>
                </a:tc>
                <a:tc>
                  <a:txBody>
                    <a:bodyPr/>
                    <a:lstStyle/>
                    <a:p>
                      <a:pPr algn="ctr">
                        <a:defRPr sz="1300">
                          <a:solidFill>
                            <a:srgbClr val="2C3E50"/>
                          </a:solidFill>
                          <a:latin typeface="微软雅黑"/>
                        </a:defRPr>
                      </a:pPr>
                      <a:r>
                        <a:t>get down</a:t>
                      </a:r>
                    </a:p>
                  </a:txBody>
                  <a:tcPr>
                    <a:solidFill>
                      <a:srgbClr val="FFFFFF"/>
                    </a:solidFill>
                  </a:tcPr>
                </a:tc>
                <a:tc>
                  <a:txBody>
                    <a:bodyPr/>
                    <a:lstStyle/>
                    <a:p>
                      <a:pPr algn="ctr">
                        <a:defRPr sz="1300">
                          <a:solidFill>
                            <a:srgbClr val="2C3E50"/>
                          </a:solidFill>
                          <a:latin typeface="微软雅黑"/>
                        </a:defRPr>
                      </a:pPr>
                      <a:r>
                        <a:t>/ɡet daʊn/</a:t>
                      </a:r>
                    </a:p>
                  </a:txBody>
                  <a:tcPr>
                    <a:solidFill>
                      <a:srgbClr val="FFFFFF"/>
                    </a:solidFill>
                  </a:tcPr>
                </a:tc>
                <a:tc>
                  <a:txBody>
                    <a:bodyPr/>
                    <a:lstStyle/>
                    <a:p>
                      <a:pPr algn="ctr">
                        <a:defRPr sz="1300">
                          <a:solidFill>
                            <a:srgbClr val="2C3E50"/>
                          </a:solidFill>
                          <a:latin typeface="微软雅黑"/>
                        </a:defRPr>
                      </a:pPr>
                      <a:r>
                        <a:t>①下来 ②完成 ③使沮丧</a:t>
                      </a:r>
                    </a:p>
                  </a:txBody>
                  <a:tcPr>
                    <a:solidFill>
                      <a:srgbClr val="FFFFFF"/>
                    </a:solidFill>
                  </a:tcPr>
                </a:tc>
              </a:tr>
            </a:tbl>
          </a:graphicData>
        </a:graphic>
      </p:graphicFrame>
      <p:sp>
        <p:nvSpPr>
          <p:cNvPr id="10" name="Rounded Rectangle 9"/>
          <p:cNvSpPr/>
          <p:nvPr/>
        </p:nvSpPr>
        <p:spPr>
          <a:xfrm>
            <a:off x="457200" y="5486400"/>
            <a:ext cx="8229600" cy="73152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0">
                <a:solidFill>
                  <a:srgbClr val="2C3E50"/>
                </a:solidFill>
                <a:latin typeface="微软雅黑"/>
              </a:defRPr>
            </a:pPr>
            <a:r>
              <a:t>拓展 make an effort to do sth. 努力做某事 = try one's best to do sth.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长难句精析 · 句1</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Complex Sentences</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22</a:t>
            </a:r>
          </a:p>
        </p:txBody>
      </p:sp>
      <p:sp>
        <p:nvSpPr>
          <p:cNvPr id="9" name="Rounded Rectangle 8"/>
          <p:cNvSpPr/>
          <p:nvPr/>
        </p:nvSpPr>
        <p:spPr>
          <a:xfrm>
            <a:off x="365760" y="1097280"/>
            <a:ext cx="8412480" cy="1828800"/>
          </a:xfrm>
          <a:prstGeom prst="roundRect">
            <a:avLst/>
          </a:prstGeom>
          <a:solidFill>
            <a:srgbClr val="EBF5FB"/>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700" b="1">
                <a:solidFill>
                  <a:srgbClr val="2C3E50"/>
                </a:solidFill>
                <a:latin typeface="微软雅黑"/>
              </a:defRPr>
            </a:pPr>
            <a:r>
              <a:t>Every day we try to get something down quickly, but there are some moments that we have to slow down and enjoy our lives.</a:t>
            </a:r>
          </a:p>
        </p:txBody>
      </p:sp>
      <p:sp>
        <p:nvSpPr>
          <p:cNvPr id="10" name="Rounded Rectangle 9"/>
          <p:cNvSpPr/>
          <p:nvPr/>
        </p:nvSpPr>
        <p:spPr>
          <a:xfrm>
            <a:off x="365760" y="3108960"/>
            <a:ext cx="8412480" cy="1097280"/>
          </a:xfrm>
          <a:prstGeom prst="roundRect">
            <a:avLst/>
          </a:prstGeom>
          <a:solidFill>
            <a:srgbClr val="FDF2E9"/>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0">
                <a:solidFill>
                  <a:srgbClr val="2C3E50"/>
                </a:solidFill>
                <a:latin typeface="微软雅黑"/>
              </a:defRPr>
            </a:pPr>
            <a:r>
              <a:t>每天，我们都试图快速完成一些事情，但有些时候，我们必须放慢脚步，享受生活。</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长难句精析 · 句1 — 句法分析</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Analysis</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23</a:t>
            </a:r>
          </a:p>
        </p:txBody>
      </p:sp>
      <p:sp>
        <p:nvSpPr>
          <p:cNvPr id="9" name="Rounded Rectangle 8"/>
          <p:cNvSpPr/>
          <p:nvPr/>
        </p:nvSpPr>
        <p:spPr>
          <a:xfrm>
            <a:off x="457200" y="1188720"/>
            <a:ext cx="3200400" cy="36576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207008"/>
            <a:ext cx="3200400" cy="329184"/>
          </a:xfrm>
          <a:prstGeom prst="rect">
            <a:avLst/>
          </a:prstGeom>
          <a:noFill/>
        </p:spPr>
        <p:txBody>
          <a:bodyPr wrap="square">
            <a:spAutoFit/>
          </a:bodyPr>
          <a:lstStyle/>
          <a:p>
            <a:pPr algn="ctr">
              <a:lnSpc>
                <a:spcPts val="1680"/>
              </a:lnSpc>
              <a:defRPr sz="1400" b="1" i="0">
                <a:solidFill>
                  <a:srgbClr val="FFFFFF"/>
                </a:solidFill>
                <a:latin typeface="微软雅黑"/>
              </a:defRPr>
            </a:pPr>
            <a:r>
              <a:t>that 引导【定语从句】</a:t>
            </a:r>
          </a:p>
        </p:txBody>
      </p:sp>
      <p:sp>
        <p:nvSpPr>
          <p:cNvPr id="11" name="TextBox 10"/>
          <p:cNvSpPr txBox="1"/>
          <p:nvPr/>
        </p:nvSpPr>
        <p:spPr>
          <a:xfrm>
            <a:off x="457200" y="1645920"/>
            <a:ext cx="8229600" cy="731520"/>
          </a:xfrm>
          <a:prstGeom prst="rect">
            <a:avLst/>
          </a:prstGeom>
          <a:noFill/>
        </p:spPr>
        <p:txBody>
          <a:bodyPr wrap="square">
            <a:spAutoFit/>
          </a:bodyPr>
          <a:lstStyle/>
          <a:p>
            <a:pPr algn="l">
              <a:lnSpc>
                <a:spcPts val="1800"/>
              </a:lnSpc>
              <a:defRPr sz="1500" b="0" i="0">
                <a:solidFill>
                  <a:srgbClr val="2C3E50"/>
                </a:solidFill>
                <a:latin typeface="微软雅黑"/>
              </a:defRPr>
            </a:pPr>
            <a:r>
              <a:t>修饰先行词 moments，用来限定"什么样的时刻"，表示"我们必须放慢脚步、享受生活的时刻"。</a:t>
            </a:r>
          </a:p>
        </p:txBody>
      </p:sp>
      <p:sp>
        <p:nvSpPr>
          <p:cNvPr id="12" name="Rounded Rectangle 11"/>
          <p:cNvSpPr/>
          <p:nvPr/>
        </p:nvSpPr>
        <p:spPr>
          <a:xfrm>
            <a:off x="457200" y="5029200"/>
            <a:ext cx="8229600" cy="73152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0">
                <a:solidFill>
                  <a:srgbClr val="2C3E50"/>
                </a:solidFill>
                <a:latin typeface="微软雅黑"/>
              </a:defRPr>
            </a:pPr>
            <a:r>
              <a:t>拓展提升: 定语从句：that/which/who 引导，修饰名词（先行词）。当先行词是不定代词时，只能用 that！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长难句精析 · 句1 — 必背表达</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Key Phrases</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24</a:t>
            </a:r>
          </a:p>
        </p:txBody>
      </p:sp>
      <p:sp>
        <p:nvSpPr>
          <p:cNvPr id="9" name="TextBox 8"/>
          <p:cNvSpPr txBox="1"/>
          <p:nvPr/>
        </p:nvSpPr>
        <p:spPr>
          <a:xfrm>
            <a:off x="457200" y="1188720"/>
            <a:ext cx="8229600" cy="4114800"/>
          </a:xfrm>
          <a:prstGeom prst="rect">
            <a:avLst/>
          </a:prstGeom>
          <a:noFill/>
        </p:spPr>
        <p:txBody>
          <a:bodyPr wrap="square">
            <a:spAutoFit/>
          </a:bodyPr>
          <a:lstStyle/>
          <a:p>
            <a:pPr>
              <a:lnSpc>
                <a:spcPts val="3600"/>
              </a:lnSpc>
            </a:pPr>
            <a:r>
              <a:rPr sz="1800" b="1">
                <a:solidFill>
                  <a:srgbClr val="27AE60"/>
                </a:solidFill>
                <a:latin typeface="Arial"/>
              </a:rPr>
              <a:t>● </a:t>
            </a:r>
            <a:r>
              <a:rPr sz="1800">
                <a:solidFill>
                  <a:srgbClr val="2C3E50"/>
                </a:solidFill>
                <a:latin typeface="微软雅黑"/>
              </a:rPr>
              <a:t>get sth. down — 完成某事</a:t>
            </a:r>
          </a:p>
          <a:p>
            <a:pPr>
              <a:lnSpc>
                <a:spcPts val="3600"/>
              </a:lnSpc>
            </a:pPr>
            <a:r>
              <a:rPr sz="1800" b="1">
                <a:solidFill>
                  <a:srgbClr val="27AE60"/>
                </a:solidFill>
                <a:latin typeface="Arial"/>
              </a:rPr>
              <a:t>● </a:t>
            </a:r>
            <a:r>
              <a:rPr sz="1800">
                <a:solidFill>
                  <a:srgbClr val="2C3E50"/>
                </a:solidFill>
                <a:latin typeface="微软雅黑"/>
              </a:rPr>
              <a:t>slow down — 放慢节奏、脚步</a:t>
            </a:r>
          </a:p>
          <a:p>
            <a:pPr>
              <a:lnSpc>
                <a:spcPts val="3600"/>
              </a:lnSpc>
            </a:pPr>
            <a:r>
              <a:rPr sz="1800" b="1">
                <a:solidFill>
                  <a:srgbClr val="27AE60"/>
                </a:solidFill>
                <a:latin typeface="Arial"/>
              </a:rPr>
              <a:t>● </a:t>
            </a:r>
            <a:r>
              <a:rPr sz="1800">
                <a:solidFill>
                  <a:srgbClr val="2C3E50"/>
                </a:solidFill>
                <a:latin typeface="微软雅黑"/>
              </a:rPr>
              <a:t>enjoy one's life — 享受生活</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长难句精析 · 句2</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Complex Sentences</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25</a:t>
            </a:r>
          </a:p>
        </p:txBody>
      </p:sp>
      <p:sp>
        <p:nvSpPr>
          <p:cNvPr id="9" name="Rounded Rectangle 8"/>
          <p:cNvSpPr/>
          <p:nvPr/>
        </p:nvSpPr>
        <p:spPr>
          <a:xfrm>
            <a:off x="365760" y="1097280"/>
            <a:ext cx="8412480" cy="1828800"/>
          </a:xfrm>
          <a:prstGeom prst="roundRect">
            <a:avLst/>
          </a:prstGeom>
          <a:solidFill>
            <a:srgbClr val="EBF5FB"/>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700" b="1">
                <a:solidFill>
                  <a:srgbClr val="2C3E50"/>
                </a:solidFill>
                <a:latin typeface="微软雅黑"/>
              </a:defRPr>
            </a:pPr>
            <a:r>
              <a:t>What I'm trying to say is: if you don't take some time to slow down once in a while and enjoy your life, it will pass you by. You can be unhealthy in both body and mind if you don't take the time to relax.</a:t>
            </a:r>
          </a:p>
        </p:txBody>
      </p:sp>
      <p:sp>
        <p:nvSpPr>
          <p:cNvPr id="10" name="Rounded Rectangle 9"/>
          <p:cNvSpPr/>
          <p:nvPr/>
        </p:nvSpPr>
        <p:spPr>
          <a:xfrm>
            <a:off x="365760" y="3108960"/>
            <a:ext cx="8412480" cy="1097280"/>
          </a:xfrm>
          <a:prstGeom prst="roundRect">
            <a:avLst/>
          </a:prstGeom>
          <a:solidFill>
            <a:srgbClr val="FDF2E9"/>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0">
                <a:solidFill>
                  <a:srgbClr val="2C3E50"/>
                </a:solidFill>
                <a:latin typeface="微软雅黑"/>
              </a:defRPr>
            </a:pPr>
            <a:r>
              <a:t>我想说的是：如果你不偶尔花点时间放慢脚步，享受生活，它就会与你擦肩而过。如果你不花时间放松，你的身心都会不健康。</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长难句精析 · 句2 — 句法分析</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Analysis</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26</a:t>
            </a:r>
          </a:p>
        </p:txBody>
      </p:sp>
      <p:sp>
        <p:nvSpPr>
          <p:cNvPr id="9" name="Rounded Rectangle 8"/>
          <p:cNvSpPr/>
          <p:nvPr/>
        </p:nvSpPr>
        <p:spPr>
          <a:xfrm>
            <a:off x="457200" y="1188720"/>
            <a:ext cx="3200400" cy="36576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207008"/>
            <a:ext cx="3200400" cy="329184"/>
          </a:xfrm>
          <a:prstGeom prst="rect">
            <a:avLst/>
          </a:prstGeom>
          <a:noFill/>
        </p:spPr>
        <p:txBody>
          <a:bodyPr wrap="square">
            <a:spAutoFit/>
          </a:bodyPr>
          <a:lstStyle/>
          <a:p>
            <a:pPr algn="ctr">
              <a:lnSpc>
                <a:spcPts val="1680"/>
              </a:lnSpc>
              <a:defRPr sz="1400" b="1" i="0">
                <a:solidFill>
                  <a:srgbClr val="FFFFFF"/>
                </a:solidFill>
                <a:latin typeface="微软雅黑"/>
              </a:defRPr>
            </a:pPr>
            <a:r>
              <a:t>What 引导【主语从句】</a:t>
            </a:r>
          </a:p>
        </p:txBody>
      </p:sp>
      <p:sp>
        <p:nvSpPr>
          <p:cNvPr id="11" name="TextBox 10"/>
          <p:cNvSpPr txBox="1"/>
          <p:nvPr/>
        </p:nvSpPr>
        <p:spPr>
          <a:xfrm>
            <a:off x="457200" y="1645920"/>
            <a:ext cx="8229600" cy="731520"/>
          </a:xfrm>
          <a:prstGeom prst="rect">
            <a:avLst/>
          </a:prstGeom>
          <a:noFill/>
        </p:spPr>
        <p:txBody>
          <a:bodyPr wrap="square">
            <a:spAutoFit/>
          </a:bodyPr>
          <a:lstStyle/>
          <a:p>
            <a:pPr algn="l">
              <a:lnSpc>
                <a:spcPts val="1800"/>
              </a:lnSpc>
              <a:defRPr sz="1500" b="0" i="0">
                <a:solidFill>
                  <a:srgbClr val="2C3E50"/>
                </a:solidFill>
                <a:latin typeface="微软雅黑"/>
              </a:defRPr>
            </a:pPr>
            <a:r>
              <a:t>主语：What I'm trying to say → 系动词：is → 表语：冒号后所有内容</a:t>
            </a:r>
          </a:p>
        </p:txBody>
      </p:sp>
      <p:sp>
        <p:nvSpPr>
          <p:cNvPr id="12" name="Rounded Rectangle 11"/>
          <p:cNvSpPr/>
          <p:nvPr/>
        </p:nvSpPr>
        <p:spPr>
          <a:xfrm>
            <a:off x="457200" y="2651760"/>
            <a:ext cx="3200400" cy="36576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670048"/>
            <a:ext cx="3200400" cy="329184"/>
          </a:xfrm>
          <a:prstGeom prst="rect">
            <a:avLst/>
          </a:prstGeom>
          <a:noFill/>
        </p:spPr>
        <p:txBody>
          <a:bodyPr wrap="square">
            <a:spAutoFit/>
          </a:bodyPr>
          <a:lstStyle/>
          <a:p>
            <a:pPr algn="ctr">
              <a:lnSpc>
                <a:spcPts val="1680"/>
              </a:lnSpc>
              <a:defRPr sz="1400" b="1" i="0">
                <a:solidFill>
                  <a:srgbClr val="FFFFFF"/>
                </a:solidFill>
                <a:latin typeface="微软雅黑"/>
              </a:defRPr>
            </a:pPr>
            <a:r>
              <a:t>if 引导【真实条件状语从句】</a:t>
            </a:r>
          </a:p>
        </p:txBody>
      </p:sp>
      <p:sp>
        <p:nvSpPr>
          <p:cNvPr id="14" name="TextBox 13"/>
          <p:cNvSpPr txBox="1"/>
          <p:nvPr/>
        </p:nvSpPr>
        <p:spPr>
          <a:xfrm>
            <a:off x="457200" y="3108960"/>
            <a:ext cx="8229600" cy="731520"/>
          </a:xfrm>
          <a:prstGeom prst="rect">
            <a:avLst/>
          </a:prstGeom>
          <a:noFill/>
        </p:spPr>
        <p:txBody>
          <a:bodyPr wrap="square">
            <a:spAutoFit/>
          </a:bodyPr>
          <a:lstStyle/>
          <a:p>
            <a:pPr algn="l">
              <a:lnSpc>
                <a:spcPts val="1800"/>
              </a:lnSpc>
              <a:defRPr sz="1500" b="0" i="0">
                <a:solidFill>
                  <a:srgbClr val="2C3E50"/>
                </a:solidFill>
                <a:latin typeface="微软雅黑"/>
              </a:defRPr>
            </a:pPr>
            <a:r>
              <a:t>遵循「主将从现」原则：主句用一般将来时(will pass)/情态动词(can)，从句用一般现在时(don't take)</a:t>
            </a:r>
          </a:p>
        </p:txBody>
      </p:sp>
      <p:sp>
        <p:nvSpPr>
          <p:cNvPr id="15" name="Rounded Rectangle 14"/>
          <p:cNvSpPr/>
          <p:nvPr/>
        </p:nvSpPr>
        <p:spPr>
          <a:xfrm>
            <a:off x="457200" y="5029200"/>
            <a:ext cx="8229600" cy="73152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0">
                <a:solidFill>
                  <a:srgbClr val="2C3E50"/>
                </a:solidFill>
                <a:latin typeface="微软雅黑"/>
              </a:defRPr>
            </a:pPr>
            <a:r>
              <a:t>拓展提升: 主将从现：if/when/unless/until 引导的条件/时间状语从句中，主句用将来时，从句用一般现在时。</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长难句精析 · 句2 — 必背表达</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Key Phrases</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27</a:t>
            </a:r>
          </a:p>
        </p:txBody>
      </p:sp>
      <p:sp>
        <p:nvSpPr>
          <p:cNvPr id="9" name="TextBox 8"/>
          <p:cNvSpPr txBox="1"/>
          <p:nvPr/>
        </p:nvSpPr>
        <p:spPr>
          <a:xfrm>
            <a:off x="457200" y="1188720"/>
            <a:ext cx="8229600" cy="4114800"/>
          </a:xfrm>
          <a:prstGeom prst="rect">
            <a:avLst/>
          </a:prstGeom>
          <a:noFill/>
        </p:spPr>
        <p:txBody>
          <a:bodyPr wrap="square">
            <a:spAutoFit/>
          </a:bodyPr>
          <a:lstStyle/>
          <a:p>
            <a:pPr>
              <a:lnSpc>
                <a:spcPts val="3600"/>
              </a:lnSpc>
            </a:pPr>
            <a:r>
              <a:rPr sz="1800" b="1">
                <a:solidFill>
                  <a:srgbClr val="27AE60"/>
                </a:solidFill>
                <a:latin typeface="Arial"/>
              </a:rPr>
              <a:t>● </a:t>
            </a:r>
            <a:r>
              <a:rPr sz="1800">
                <a:solidFill>
                  <a:srgbClr val="2C3E50"/>
                </a:solidFill>
                <a:latin typeface="微软雅黑"/>
              </a:rPr>
              <a:t>take time (to do sth.) — 花时间（做某事）</a:t>
            </a:r>
          </a:p>
          <a:p>
            <a:pPr>
              <a:lnSpc>
                <a:spcPts val="3600"/>
              </a:lnSpc>
            </a:pPr>
            <a:r>
              <a:rPr sz="1800" b="1">
                <a:solidFill>
                  <a:srgbClr val="27AE60"/>
                </a:solidFill>
                <a:latin typeface="Arial"/>
              </a:rPr>
              <a:t>● </a:t>
            </a:r>
            <a:r>
              <a:rPr sz="1800">
                <a:solidFill>
                  <a:srgbClr val="2C3E50"/>
                </a:solidFill>
                <a:latin typeface="微软雅黑"/>
              </a:rPr>
              <a:t>once in a while — 偶尔；间或 = at times = from time to time</a:t>
            </a:r>
          </a:p>
          <a:p>
            <a:pPr>
              <a:lnSpc>
                <a:spcPts val="3600"/>
              </a:lnSpc>
            </a:pPr>
            <a:r>
              <a:rPr sz="1800" b="1">
                <a:solidFill>
                  <a:srgbClr val="27AE60"/>
                </a:solidFill>
                <a:latin typeface="Arial"/>
              </a:rPr>
              <a:t>● </a:t>
            </a:r>
            <a:r>
              <a:rPr sz="1800">
                <a:solidFill>
                  <a:srgbClr val="2C3E50"/>
                </a:solidFill>
                <a:latin typeface="微软雅黑"/>
              </a:rPr>
              <a:t>pass by — （人/车辆）经过；（时光）悄然流逝</a:t>
            </a:r>
          </a:p>
          <a:p>
            <a:pPr>
              <a:lnSpc>
                <a:spcPts val="3600"/>
              </a:lnSpc>
            </a:pPr>
            <a:r>
              <a:rPr sz="1800" b="1">
                <a:solidFill>
                  <a:srgbClr val="27AE60"/>
                </a:solidFill>
                <a:latin typeface="Arial"/>
              </a:rPr>
              <a:t>● </a:t>
            </a:r>
            <a:r>
              <a:rPr sz="1800">
                <a:solidFill>
                  <a:srgbClr val="2C3E50"/>
                </a:solidFill>
                <a:latin typeface="微软雅黑"/>
              </a:rPr>
              <a:t>both A and B — 两者都……（谓语动词用复数）</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长难句精析 · 句3</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Complex Sentences</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28</a:t>
            </a:r>
          </a:p>
        </p:txBody>
      </p:sp>
      <p:sp>
        <p:nvSpPr>
          <p:cNvPr id="9" name="Rounded Rectangle 8"/>
          <p:cNvSpPr/>
          <p:nvPr/>
        </p:nvSpPr>
        <p:spPr>
          <a:xfrm>
            <a:off x="365760" y="1097280"/>
            <a:ext cx="8412480" cy="1828800"/>
          </a:xfrm>
          <a:prstGeom prst="roundRect">
            <a:avLst/>
          </a:prstGeom>
          <a:solidFill>
            <a:srgbClr val="EBF5FB"/>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700" b="1">
                <a:solidFill>
                  <a:srgbClr val="2C3E50"/>
                </a:solidFill>
                <a:latin typeface="微软雅黑"/>
              </a:defRPr>
            </a:pPr>
            <a:r>
              <a:t>Just get up on Saturday morning when your body says it's time to get up. Make some coffee, step outside and get some fresh morning air, turn on the radio and prepare yourself for nothing.</a:t>
            </a:r>
          </a:p>
        </p:txBody>
      </p:sp>
      <p:sp>
        <p:nvSpPr>
          <p:cNvPr id="10" name="Rounded Rectangle 9"/>
          <p:cNvSpPr/>
          <p:nvPr/>
        </p:nvSpPr>
        <p:spPr>
          <a:xfrm>
            <a:off x="365760" y="3108960"/>
            <a:ext cx="8412480" cy="1097280"/>
          </a:xfrm>
          <a:prstGeom prst="roundRect">
            <a:avLst/>
          </a:prstGeom>
          <a:solidFill>
            <a:srgbClr val="FDF2E9"/>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0">
                <a:solidFill>
                  <a:srgbClr val="2C3E50"/>
                </a:solidFill>
                <a:latin typeface="微软雅黑"/>
              </a:defRPr>
            </a:pPr>
            <a:r>
              <a:t>周六早上，当你的身体告诉你该起床的时候再起床。煮点咖啡，走到外面，呼吸一下清晨新鲜的空气，打开收音机，什么也不用准备。</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长难句精析 · 句3 — 句法分析</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Analysis</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29</a:t>
            </a:r>
          </a:p>
        </p:txBody>
      </p:sp>
      <p:sp>
        <p:nvSpPr>
          <p:cNvPr id="9" name="Rounded Rectangle 8"/>
          <p:cNvSpPr/>
          <p:nvPr/>
        </p:nvSpPr>
        <p:spPr>
          <a:xfrm>
            <a:off x="457200" y="1188720"/>
            <a:ext cx="3200400" cy="36576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207008"/>
            <a:ext cx="3200400" cy="329184"/>
          </a:xfrm>
          <a:prstGeom prst="rect">
            <a:avLst/>
          </a:prstGeom>
          <a:noFill/>
        </p:spPr>
        <p:txBody>
          <a:bodyPr wrap="square">
            <a:spAutoFit/>
          </a:bodyPr>
          <a:lstStyle/>
          <a:p>
            <a:pPr algn="ctr">
              <a:lnSpc>
                <a:spcPts val="1680"/>
              </a:lnSpc>
              <a:defRPr sz="1400" b="1" i="0">
                <a:solidFill>
                  <a:srgbClr val="FFFFFF"/>
                </a:solidFill>
                <a:latin typeface="微软雅黑"/>
              </a:defRPr>
            </a:pPr>
            <a:r>
              <a:t>连续【祈使句】排比</a:t>
            </a:r>
          </a:p>
        </p:txBody>
      </p:sp>
      <p:sp>
        <p:nvSpPr>
          <p:cNvPr id="11" name="TextBox 10"/>
          <p:cNvSpPr txBox="1"/>
          <p:nvPr/>
        </p:nvSpPr>
        <p:spPr>
          <a:xfrm>
            <a:off x="457200" y="1645920"/>
            <a:ext cx="8229600" cy="731520"/>
          </a:xfrm>
          <a:prstGeom prst="rect">
            <a:avLst/>
          </a:prstGeom>
          <a:noFill/>
        </p:spPr>
        <p:txBody>
          <a:bodyPr wrap="square">
            <a:spAutoFit/>
          </a:bodyPr>
          <a:lstStyle/>
          <a:p>
            <a:pPr algn="l">
              <a:lnSpc>
                <a:spcPts val="1800"/>
              </a:lnSpc>
              <a:defRPr sz="1500" b="0" i="0">
                <a:solidFill>
                  <a:srgbClr val="2C3E50"/>
                </a:solidFill>
                <a:latin typeface="微软雅黑"/>
              </a:defRPr>
            </a:pPr>
            <a:r>
              <a:t>get...make...step...get...turn...prepare... 六个祈使句连续使用，节奏感强烈。</a:t>
            </a:r>
          </a:p>
        </p:txBody>
      </p:sp>
      <p:sp>
        <p:nvSpPr>
          <p:cNvPr id="12" name="Rounded Rectangle 11"/>
          <p:cNvSpPr/>
          <p:nvPr/>
        </p:nvSpPr>
        <p:spPr>
          <a:xfrm>
            <a:off x="457200" y="2651760"/>
            <a:ext cx="3200400" cy="36576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670048"/>
            <a:ext cx="3200400" cy="329184"/>
          </a:xfrm>
          <a:prstGeom prst="rect">
            <a:avLst/>
          </a:prstGeom>
          <a:noFill/>
        </p:spPr>
        <p:txBody>
          <a:bodyPr wrap="square">
            <a:spAutoFit/>
          </a:bodyPr>
          <a:lstStyle/>
          <a:p>
            <a:pPr algn="ctr">
              <a:lnSpc>
                <a:spcPts val="1680"/>
              </a:lnSpc>
              <a:defRPr sz="1400" b="1" i="0">
                <a:solidFill>
                  <a:srgbClr val="FFFFFF"/>
                </a:solidFill>
                <a:latin typeface="微软雅黑"/>
              </a:defRPr>
            </a:pPr>
            <a:r>
              <a:t>when 引导【时间状语从句】</a:t>
            </a:r>
          </a:p>
        </p:txBody>
      </p:sp>
      <p:sp>
        <p:nvSpPr>
          <p:cNvPr id="14" name="TextBox 13"/>
          <p:cNvSpPr txBox="1"/>
          <p:nvPr/>
        </p:nvSpPr>
        <p:spPr>
          <a:xfrm>
            <a:off x="457200" y="3108960"/>
            <a:ext cx="8229600" cy="731520"/>
          </a:xfrm>
          <a:prstGeom prst="rect">
            <a:avLst/>
          </a:prstGeom>
          <a:noFill/>
        </p:spPr>
        <p:txBody>
          <a:bodyPr wrap="square">
            <a:spAutoFit/>
          </a:bodyPr>
          <a:lstStyle/>
          <a:p>
            <a:pPr algn="l">
              <a:lnSpc>
                <a:spcPts val="1800"/>
              </a:lnSpc>
              <a:defRPr sz="1500" b="0" i="0">
                <a:solidFill>
                  <a:srgbClr val="2C3E50"/>
                </a:solidFill>
                <a:latin typeface="微软雅黑"/>
              </a:defRPr>
            </a:pPr>
            <a:r>
              <a:t>当……的时候</a:t>
            </a:r>
          </a:p>
        </p:txBody>
      </p:sp>
      <p:sp>
        <p:nvSpPr>
          <p:cNvPr id="15" name="Rounded Rectangle 14"/>
          <p:cNvSpPr/>
          <p:nvPr/>
        </p:nvSpPr>
        <p:spPr>
          <a:xfrm>
            <a:off x="457200" y="4114800"/>
            <a:ext cx="3200400" cy="36576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133088"/>
            <a:ext cx="3200400" cy="329184"/>
          </a:xfrm>
          <a:prstGeom prst="rect">
            <a:avLst/>
          </a:prstGeom>
          <a:noFill/>
        </p:spPr>
        <p:txBody>
          <a:bodyPr wrap="square">
            <a:spAutoFit/>
          </a:bodyPr>
          <a:lstStyle/>
          <a:p>
            <a:pPr algn="ctr">
              <a:lnSpc>
                <a:spcPts val="1680"/>
              </a:lnSpc>
              <a:defRPr sz="1400" b="1" i="0">
                <a:solidFill>
                  <a:srgbClr val="FFFFFF"/>
                </a:solidFill>
                <a:latin typeface="微软雅黑"/>
              </a:defRPr>
            </a:pPr>
            <a:r>
              <a:t>省略 that 引导【宾语从句】</a:t>
            </a:r>
          </a:p>
        </p:txBody>
      </p:sp>
      <p:sp>
        <p:nvSpPr>
          <p:cNvPr id="17" name="TextBox 16"/>
          <p:cNvSpPr txBox="1"/>
          <p:nvPr/>
        </p:nvSpPr>
        <p:spPr>
          <a:xfrm>
            <a:off x="457200" y="4572000"/>
            <a:ext cx="8229600" cy="731520"/>
          </a:xfrm>
          <a:prstGeom prst="rect">
            <a:avLst/>
          </a:prstGeom>
          <a:noFill/>
        </p:spPr>
        <p:txBody>
          <a:bodyPr wrap="square">
            <a:spAutoFit/>
          </a:bodyPr>
          <a:lstStyle/>
          <a:p>
            <a:pPr algn="l">
              <a:lnSpc>
                <a:spcPts val="1800"/>
              </a:lnSpc>
              <a:defRPr sz="1500" b="0" i="0">
                <a:solidFill>
                  <a:srgbClr val="2C3E50"/>
                </a:solidFill>
                <a:latin typeface="微软雅黑"/>
              </a:defRPr>
            </a:pPr>
            <a:r>
              <a:t>it's time to get up 作动词 says 的宾语</a:t>
            </a:r>
          </a:p>
        </p:txBody>
      </p:sp>
      <p:sp>
        <p:nvSpPr>
          <p:cNvPr id="18" name="Rounded Rectangle 17"/>
          <p:cNvSpPr/>
          <p:nvPr/>
        </p:nvSpPr>
        <p:spPr>
          <a:xfrm>
            <a:off x="457200" y="5029200"/>
            <a:ext cx="8229600" cy="73152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0">
                <a:solidFill>
                  <a:srgbClr val="2C3E50"/>
                </a:solidFill>
                <a:latin typeface="微软雅黑"/>
              </a:defRPr>
            </a:pPr>
            <a:r>
              <a:t>拓展提升: 祈使句：动词原形开头，表示命令/请求/建议。否定形式：Don't + 动词原形。</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长难句精析 · 句3 — 必背表达</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Key Phrases</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30</a:t>
            </a:r>
          </a:p>
        </p:txBody>
      </p:sp>
      <p:sp>
        <p:nvSpPr>
          <p:cNvPr id="9" name="TextBox 8"/>
          <p:cNvSpPr txBox="1"/>
          <p:nvPr/>
        </p:nvSpPr>
        <p:spPr>
          <a:xfrm>
            <a:off x="457200" y="1188720"/>
            <a:ext cx="8229600" cy="4114800"/>
          </a:xfrm>
          <a:prstGeom prst="rect">
            <a:avLst/>
          </a:prstGeom>
          <a:noFill/>
        </p:spPr>
        <p:txBody>
          <a:bodyPr wrap="square">
            <a:spAutoFit/>
          </a:bodyPr>
          <a:lstStyle/>
          <a:p>
            <a:pPr>
              <a:lnSpc>
                <a:spcPts val="3600"/>
              </a:lnSpc>
            </a:pPr>
            <a:r>
              <a:rPr sz="1800" b="1">
                <a:solidFill>
                  <a:srgbClr val="27AE60"/>
                </a:solidFill>
                <a:latin typeface="Arial"/>
              </a:rPr>
              <a:t>● </a:t>
            </a:r>
            <a:r>
              <a:rPr sz="1800">
                <a:solidFill>
                  <a:srgbClr val="2C3E50"/>
                </a:solidFill>
                <a:latin typeface="微软雅黑"/>
              </a:rPr>
              <a:t>it's time to do sth. — 是做……的时候了</a:t>
            </a:r>
          </a:p>
          <a:p>
            <a:pPr>
              <a:lnSpc>
                <a:spcPts val="3600"/>
              </a:lnSpc>
            </a:pPr>
            <a:r>
              <a:rPr sz="1800" b="1">
                <a:solidFill>
                  <a:srgbClr val="27AE60"/>
                </a:solidFill>
                <a:latin typeface="Arial"/>
              </a:rPr>
              <a:t>● </a:t>
            </a:r>
            <a:r>
              <a:rPr sz="1800">
                <a:solidFill>
                  <a:srgbClr val="2C3E50"/>
                </a:solidFill>
                <a:latin typeface="微软雅黑"/>
              </a:rPr>
              <a:t>fresh adj. — 新鲜的</a:t>
            </a:r>
          </a:p>
          <a:p>
            <a:pPr>
              <a:lnSpc>
                <a:spcPts val="3600"/>
              </a:lnSpc>
            </a:pPr>
            <a:r>
              <a:rPr sz="1800" b="1">
                <a:solidFill>
                  <a:srgbClr val="27AE60"/>
                </a:solidFill>
                <a:latin typeface="Arial"/>
              </a:rPr>
              <a:t>● </a:t>
            </a:r>
            <a:r>
              <a:rPr sz="1800">
                <a:solidFill>
                  <a:srgbClr val="2C3E50"/>
                </a:solidFill>
                <a:latin typeface="微软雅黑"/>
              </a:rPr>
              <a:t>turn on — 打开（电器）↔ turn off</a:t>
            </a:r>
          </a:p>
          <a:p>
            <a:pPr>
              <a:lnSpc>
                <a:spcPts val="3600"/>
              </a:lnSpc>
            </a:pPr>
            <a:r>
              <a:rPr sz="1800" b="1">
                <a:solidFill>
                  <a:srgbClr val="27AE60"/>
                </a:solidFill>
                <a:latin typeface="Arial"/>
              </a:rPr>
              <a:t>● </a:t>
            </a:r>
            <a:r>
              <a:rPr sz="1800">
                <a:solidFill>
                  <a:srgbClr val="2C3E50"/>
                </a:solidFill>
                <a:latin typeface="微软雅黑"/>
              </a:rPr>
              <a:t>prepare for — 为……做准备</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仿写练习 · Imitation Writing</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Practice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31</a:t>
            </a:r>
          </a:p>
        </p:txBody>
      </p:sp>
      <p:sp>
        <p:nvSpPr>
          <p:cNvPr id="9" name="TextBox 8"/>
          <p:cNvSpPr txBox="1"/>
          <p:nvPr/>
        </p:nvSpPr>
        <p:spPr>
          <a:xfrm>
            <a:off x="457200" y="1188720"/>
            <a:ext cx="8229600" cy="457200"/>
          </a:xfrm>
          <a:prstGeom prst="rect">
            <a:avLst/>
          </a:prstGeom>
          <a:noFill/>
        </p:spPr>
        <p:txBody>
          <a:bodyPr wrap="square">
            <a:spAutoFit/>
          </a:bodyPr>
          <a:lstStyle/>
          <a:p>
            <a:pPr algn="l">
              <a:lnSpc>
                <a:spcPts val="2400"/>
              </a:lnSpc>
              <a:defRPr sz="2000" b="1" i="0">
                <a:solidFill>
                  <a:srgbClr val="1B3A5C"/>
                </a:solidFill>
                <a:latin typeface="微软雅黑"/>
              </a:defRPr>
            </a:pPr>
            <a:r>
              <a:t>运用所学表达完成仿写</a:t>
            </a:r>
          </a:p>
        </p:txBody>
      </p:sp>
      <p:sp>
        <p:nvSpPr>
          <p:cNvPr id="10" name="Rectangle 9"/>
          <p:cNvSpPr/>
          <p:nvPr/>
        </p:nvSpPr>
        <p:spPr>
          <a:xfrm>
            <a:off x="457200" y="1645920"/>
            <a:ext cx="1828800" cy="457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 y="2011680"/>
            <a:ext cx="8229600" cy="1371600"/>
          </a:xfrm>
          <a:prstGeom prst="roundRect">
            <a:avLst/>
          </a:prstGeom>
          <a:solidFill>
            <a:srgbClr val="FDF2E9"/>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600" b="0">
                <a:solidFill>
                  <a:srgbClr val="2C3E50"/>
                </a:solidFill>
                <a:latin typeface="微软雅黑"/>
              </a:defRPr>
            </a:pPr>
            <a:r>
              <a:t>翻译：是时候为即将到来的英语考试做准备了。</a:t>
            </a:r>
            <a:br/>
            <a:br/>
            <a:r>
              <a:t>____________________________________________ our coming English test.</a:t>
            </a:r>
          </a:p>
        </p:txBody>
      </p:sp>
      <p:sp>
        <p:nvSpPr>
          <p:cNvPr id="12" name="Rounded Rectangle 11"/>
          <p:cNvSpPr/>
          <p:nvPr/>
        </p:nvSpPr>
        <p:spPr>
          <a:xfrm>
            <a:off x="457200" y="3840480"/>
            <a:ext cx="8229600" cy="91440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600" b="1">
                <a:solidFill>
                  <a:srgbClr val="2C3E50"/>
                </a:solidFill>
                <a:latin typeface="微软雅黑"/>
              </a:defRPr>
            </a:pPr>
            <a:r>
              <a:t>Answer: It's time to prepare for our coming English test.</a:t>
            </a:r>
          </a:p>
        </p:txBody>
      </p:sp>
      <p:sp>
        <p:nvSpPr>
          <p:cNvPr id="13" name="TextBox 12"/>
          <p:cNvSpPr txBox="1"/>
          <p:nvPr/>
        </p:nvSpPr>
        <p:spPr>
          <a:xfrm>
            <a:off x="457200" y="5029200"/>
            <a:ext cx="8229600" cy="365760"/>
          </a:xfrm>
          <a:prstGeom prst="rect">
            <a:avLst/>
          </a:prstGeom>
          <a:noFill/>
        </p:spPr>
        <p:txBody>
          <a:bodyPr wrap="square">
            <a:spAutoFit/>
          </a:bodyPr>
          <a:lstStyle/>
          <a:p>
            <a:pPr algn="l">
              <a:lnSpc>
                <a:spcPts val="1800"/>
              </a:lnSpc>
              <a:defRPr sz="1500" b="1" i="0">
                <a:solidFill>
                  <a:srgbClr val="E74C3C"/>
                </a:solidFill>
                <a:latin typeface="微软雅黑"/>
              </a:defRPr>
            </a:pPr>
            <a:r>
              <a:t>拓展仿写 (Teacher's Extension):</a:t>
            </a:r>
          </a:p>
        </p:txBody>
      </p:sp>
      <p:sp>
        <p:nvSpPr>
          <p:cNvPr id="14" name="TextBox 13"/>
          <p:cNvSpPr txBox="1"/>
          <p:nvPr/>
        </p:nvSpPr>
        <p:spPr>
          <a:xfrm>
            <a:off x="731520" y="5394960"/>
            <a:ext cx="7772400" cy="914400"/>
          </a:xfrm>
          <a:prstGeom prst="rect">
            <a:avLst/>
          </a:prstGeom>
          <a:noFill/>
        </p:spPr>
        <p:txBody>
          <a:bodyPr wrap="square">
            <a:spAutoFit/>
          </a:bodyPr>
          <a:lstStyle/>
          <a:p>
            <a:pPr>
              <a:lnSpc>
                <a:spcPts val="1959"/>
              </a:lnSpc>
            </a:pPr>
            <a:r>
              <a:rPr sz="1400" b="1">
                <a:solidFill>
                  <a:srgbClr val="E74C3C"/>
                </a:solidFill>
                <a:latin typeface="Arial"/>
              </a:rPr>
              <a:t>● </a:t>
            </a:r>
            <a:r>
              <a:rPr sz="1400">
                <a:solidFill>
                  <a:srgbClr val="2C3E50"/>
                </a:solidFill>
                <a:latin typeface="微软雅黑"/>
              </a:rPr>
              <a:t>用 once in a while 造句</a:t>
            </a:r>
          </a:p>
          <a:p>
            <a:pPr>
              <a:lnSpc>
                <a:spcPts val="1959"/>
              </a:lnSpc>
            </a:pPr>
            <a:r>
              <a:rPr sz="1400" b="1">
                <a:solidFill>
                  <a:srgbClr val="E74C3C"/>
                </a:solidFill>
                <a:latin typeface="Arial"/>
              </a:rPr>
              <a:t>● </a:t>
            </a:r>
            <a:r>
              <a:rPr sz="1400">
                <a:solidFill>
                  <a:srgbClr val="2C3E50"/>
                </a:solidFill>
                <a:latin typeface="微软雅黑"/>
              </a:rPr>
              <a:t>用 both...and... 造句</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Reading Extension · 主旨拓展</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1 · Extension</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32</a:t>
            </a:r>
          </a:p>
        </p:txBody>
      </p:sp>
      <p:sp>
        <p:nvSpPr>
          <p:cNvPr id="9" name="TextBox 8"/>
          <p:cNvSpPr txBox="1"/>
          <p:nvPr/>
        </p:nvSpPr>
        <p:spPr>
          <a:xfrm>
            <a:off x="457200" y="1188720"/>
            <a:ext cx="8229600" cy="457200"/>
          </a:xfrm>
          <a:prstGeom prst="rect">
            <a:avLst/>
          </a:prstGeom>
          <a:noFill/>
        </p:spPr>
        <p:txBody>
          <a:bodyPr wrap="square">
            <a:spAutoFit/>
          </a:bodyPr>
          <a:lstStyle/>
          <a:p>
            <a:pPr algn="l">
              <a:lnSpc>
                <a:spcPts val="2400"/>
              </a:lnSpc>
              <a:defRPr sz="2000" b="1" i="0">
                <a:solidFill>
                  <a:srgbClr val="1B3A5C"/>
                </a:solidFill>
                <a:latin typeface="微软雅黑"/>
              </a:defRPr>
            </a:pPr>
            <a:r>
              <a:t>Theme Discussion · 主题讨论</a:t>
            </a:r>
          </a:p>
        </p:txBody>
      </p:sp>
      <p:sp>
        <p:nvSpPr>
          <p:cNvPr id="10" name="Rectangle 9"/>
          <p:cNvSpPr/>
          <p:nvPr/>
        </p:nvSpPr>
        <p:spPr>
          <a:xfrm>
            <a:off x="457200" y="1645920"/>
            <a:ext cx="1828800" cy="457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011680"/>
            <a:ext cx="8229600" cy="3200400"/>
          </a:xfrm>
          <a:prstGeom prst="rect">
            <a:avLst/>
          </a:prstGeom>
          <a:noFill/>
        </p:spPr>
        <p:txBody>
          <a:bodyPr wrap="square">
            <a:spAutoFit/>
          </a:bodyPr>
          <a:lstStyle/>
          <a:p>
            <a:pPr>
              <a:lnSpc>
                <a:spcPts val="2880"/>
              </a:lnSpc>
            </a:pPr>
            <a:r>
              <a:rPr sz="1600" b="1">
                <a:solidFill>
                  <a:srgbClr val="2B5797"/>
                </a:solidFill>
                <a:latin typeface="Arial"/>
              </a:rPr>
              <a:t>● </a:t>
            </a:r>
            <a:r>
              <a:rPr sz="1600">
                <a:solidFill>
                  <a:srgbClr val="2C3E50"/>
                </a:solidFill>
                <a:latin typeface="微软雅黑"/>
              </a:rPr>
              <a:t>What does the author suggest we should do on weekends?</a:t>
            </a:r>
          </a:p>
          <a:p>
            <a:pPr>
              <a:lnSpc>
                <a:spcPts val="2880"/>
              </a:lnSpc>
            </a:pPr>
            <a:r>
              <a:rPr sz="1600" b="1">
                <a:solidFill>
                  <a:srgbClr val="2B5797"/>
                </a:solidFill>
                <a:latin typeface="Arial"/>
              </a:rPr>
              <a:t>● </a:t>
            </a:r>
            <a:r>
              <a:rPr sz="1600">
                <a:solidFill>
                  <a:srgbClr val="2C3E50"/>
                </a:solidFill>
                <a:latin typeface="微软雅黑"/>
              </a:rPr>
              <a:t>Do you agree with the author's opinion? Why or why not?</a:t>
            </a:r>
          </a:p>
          <a:p>
            <a:pPr>
              <a:lnSpc>
                <a:spcPts val="2880"/>
              </a:lnSpc>
            </a:pPr>
            <a:r>
              <a:rPr sz="1600" b="1">
                <a:solidFill>
                  <a:srgbClr val="2B5797"/>
                </a:solidFill>
                <a:latin typeface="Arial"/>
              </a:rPr>
              <a:t>● </a:t>
            </a:r>
            <a:r>
              <a:rPr sz="1600">
                <a:solidFill>
                  <a:srgbClr val="2C3E50"/>
                </a:solidFill>
                <a:latin typeface="微软雅黑"/>
              </a:rPr>
              <a:t>What are your ways to slow down and enjoy life?</a:t>
            </a:r>
          </a:p>
          <a:p>
            <a:pPr>
              <a:lnSpc>
                <a:spcPts val="2880"/>
              </a:lnSpc>
            </a:pPr>
            <a:r>
              <a:rPr sz="1600" b="1">
                <a:solidFill>
                  <a:srgbClr val="2B5797"/>
                </a:solidFill>
                <a:latin typeface="Arial"/>
              </a:rPr>
              <a:t>● </a:t>
            </a:r>
            <a:r>
              <a:rPr sz="1600">
                <a:solidFill>
                  <a:srgbClr val="2C3E50"/>
                </a:solidFill>
                <a:latin typeface="微软雅黑"/>
              </a:rPr>
              <a:t>Can you think of a Chinese saying that has a similar meaning?</a:t>
            </a:r>
          </a:p>
        </p:txBody>
      </p:sp>
      <p:sp>
        <p:nvSpPr>
          <p:cNvPr id="12" name="Rounded Rectangle 11"/>
          <p:cNvSpPr/>
          <p:nvPr/>
        </p:nvSpPr>
        <p:spPr>
          <a:xfrm>
            <a:off x="1371600" y="5029200"/>
            <a:ext cx="6400800" cy="1097280"/>
          </a:xfrm>
          <a:prstGeom prst="roundRect">
            <a:avLst/>
          </a:prstGeom>
          <a:solidFill>
            <a:srgbClr val="EBF5FB"/>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0">
                <a:solidFill>
                  <a:srgbClr val="2C3E50"/>
                </a:solidFill>
                <a:latin typeface="微软雅黑"/>
              </a:defRPr>
            </a:pPr>
            <a:r>
              <a:t>"Life is not about how fast you run or how high you climb,</a:t>
            </a:r>
            <a:br/>
            <a:r>
              <a:t>but how well you bounce." — Vivian Komori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purple.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14400" y="731520"/>
            <a:ext cx="1828800" cy="457200"/>
          </a:xfrm>
          <a:prstGeom prst="rect">
            <a:avLst/>
          </a:prstGeom>
          <a:noFill/>
        </p:spPr>
        <p:txBody>
          <a:bodyPr wrap="square">
            <a:spAutoFit/>
          </a:bodyPr>
          <a:lstStyle/>
          <a:p>
            <a:pPr algn="l">
              <a:lnSpc>
                <a:spcPts val="2160"/>
              </a:lnSpc>
              <a:defRPr sz="1800" b="1" i="0">
                <a:solidFill>
                  <a:srgbClr val="F39C12"/>
                </a:solidFill>
                <a:latin typeface="Arial"/>
              </a:defRPr>
            </a:pPr>
            <a:r>
              <a:t>PART 2</a:t>
            </a:r>
          </a:p>
        </p:txBody>
      </p:sp>
      <p:sp>
        <p:nvSpPr>
          <p:cNvPr id="4" name="Rectangle 3"/>
          <p:cNvSpPr/>
          <p:nvPr/>
        </p:nvSpPr>
        <p:spPr>
          <a:xfrm>
            <a:off x="914400" y="1188720"/>
            <a:ext cx="18288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7315200" cy="1097280"/>
          </a:xfrm>
          <a:prstGeom prst="rect">
            <a:avLst/>
          </a:prstGeom>
          <a:noFill/>
        </p:spPr>
        <p:txBody>
          <a:bodyPr wrap="square">
            <a:spAutoFit/>
          </a:bodyPr>
          <a:lstStyle/>
          <a:p>
            <a:pPr algn="l">
              <a:lnSpc>
                <a:spcPts val="5280"/>
              </a:lnSpc>
              <a:defRPr sz="4400" b="1" i="0">
                <a:solidFill>
                  <a:srgbClr val="FFFFFF"/>
                </a:solidFill>
                <a:latin typeface="微软雅黑"/>
              </a:defRPr>
            </a:pPr>
            <a:r>
              <a:t>Grammar — 指称运用②</a:t>
            </a:r>
          </a:p>
        </p:txBody>
      </p:sp>
      <p:sp>
        <p:nvSpPr>
          <p:cNvPr id="6" name="TextBox 5"/>
          <p:cNvSpPr txBox="1"/>
          <p:nvPr/>
        </p:nvSpPr>
        <p:spPr>
          <a:xfrm>
            <a:off x="914400" y="2743200"/>
            <a:ext cx="7315200" cy="548640"/>
          </a:xfrm>
          <a:prstGeom prst="rect">
            <a:avLst/>
          </a:prstGeom>
          <a:noFill/>
        </p:spPr>
        <p:txBody>
          <a:bodyPr wrap="square">
            <a:spAutoFit/>
          </a:bodyPr>
          <a:lstStyle/>
          <a:p>
            <a:pPr algn="l">
              <a:lnSpc>
                <a:spcPts val="2160"/>
              </a:lnSpc>
              <a:defRPr sz="1800" b="0" i="0">
                <a:solidFill>
                  <a:srgbClr val="F39C12"/>
                </a:solidFill>
                <a:latin typeface="微软雅黑"/>
              </a:defRPr>
            </a:pPr>
            <a:r>
              <a:t>不定代词专题  |  22 PK 33  |  other系列  |  no-类</a:t>
            </a:r>
          </a:p>
        </p:txBody>
      </p:sp>
      <p:pic>
        <p:nvPicPr>
          <p:cNvPr id="7" name="Picture 6" descr="grammar.png"/>
          <p:cNvPicPr>
            <a:picLocks noChangeAspect="1"/>
          </p:cNvPicPr>
          <p:nvPr/>
        </p:nvPicPr>
        <p:blipFill>
          <a:blip r:embed="rId3"/>
          <a:stretch>
            <a:fillRect/>
          </a:stretch>
        </p:blipFill>
        <p:spPr>
          <a:xfrm>
            <a:off x="5486400" y="3657600"/>
            <a:ext cx="3200400" cy="2377440"/>
          </a:xfrm>
          <a:prstGeom prst="rect">
            <a:avLst/>
          </a:prstGeom>
        </p:spPr>
      </p:pic>
      <p:sp>
        <p:nvSpPr>
          <p:cNvPr id="8" name="TextBox 7"/>
          <p:cNvSpPr txBox="1"/>
          <p:nvPr/>
        </p:nvSpPr>
        <p:spPr>
          <a:xfrm>
            <a:off x="914400" y="4114800"/>
            <a:ext cx="4572000" cy="914400"/>
          </a:xfrm>
          <a:prstGeom prst="rect">
            <a:avLst/>
          </a:prstGeom>
          <a:noFill/>
        </p:spPr>
        <p:txBody>
          <a:bodyPr wrap="square">
            <a:spAutoFit/>
          </a:bodyPr>
          <a:lstStyle/>
          <a:p>
            <a:pPr algn="l">
              <a:lnSpc>
                <a:spcPts val="2400"/>
              </a:lnSpc>
              <a:defRPr sz="2000" b="0" i="0">
                <a:solidFill>
                  <a:srgbClr val="FFFFFF"/>
                </a:solidFill>
                <a:latin typeface="微软雅黑"/>
              </a:defRPr>
            </a:pPr>
            <a:r>
              <a:t>掌握不定代词的精准使用</a:t>
            </a:r>
            <a:br/>
            <a:r>
              <a:t>做到考试零失分！</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Grammar Overview · 语法总览</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Grammar</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34</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400"/>
              </a:lnSpc>
              <a:defRPr sz="2000" b="1" i="0">
                <a:solidFill>
                  <a:srgbClr val="8E44AD"/>
                </a:solidFill>
                <a:latin typeface="微软雅黑"/>
              </a:defRPr>
            </a:pPr>
            <a:r>
              <a:t>本节课语法知识框架</a:t>
            </a:r>
          </a:p>
        </p:txBody>
      </p:sp>
      <p:sp>
        <p:nvSpPr>
          <p:cNvPr id="10" name="Rounded Rectangle 9"/>
          <p:cNvSpPr/>
          <p:nvPr/>
        </p:nvSpPr>
        <p:spPr>
          <a:xfrm>
            <a:off x="274320" y="1828800"/>
            <a:ext cx="4114800" cy="1828800"/>
          </a:xfrm>
          <a:prstGeom prst="roundRect">
            <a:avLst/>
          </a:prstGeom>
          <a:solidFill>
            <a:srgbClr val="FFFFFF"/>
          </a:solidFill>
          <a:ln w="2540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 y="1965960"/>
            <a:ext cx="2286000" cy="36576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984248"/>
            <a:ext cx="2286000" cy="329184"/>
          </a:xfrm>
          <a:prstGeom prst="rect">
            <a:avLst/>
          </a:prstGeom>
          <a:noFill/>
        </p:spPr>
        <p:txBody>
          <a:bodyPr wrap="square">
            <a:spAutoFit/>
          </a:bodyPr>
          <a:lstStyle/>
          <a:p>
            <a:pPr algn="ctr">
              <a:lnSpc>
                <a:spcPts val="1560"/>
              </a:lnSpc>
              <a:defRPr sz="1300" b="1" i="0">
                <a:solidFill>
                  <a:srgbClr val="FFFFFF"/>
                </a:solidFill>
                <a:latin typeface="微软雅黑"/>
              </a:defRPr>
            </a:pPr>
            <a:r>
              <a:t>22 PK 33</a:t>
            </a:r>
          </a:p>
        </p:txBody>
      </p:sp>
      <p:sp>
        <p:nvSpPr>
          <p:cNvPr id="13" name="TextBox 12"/>
          <p:cNvSpPr txBox="1"/>
          <p:nvPr/>
        </p:nvSpPr>
        <p:spPr>
          <a:xfrm>
            <a:off x="548640" y="2468880"/>
            <a:ext cx="3657600" cy="1097280"/>
          </a:xfrm>
          <a:prstGeom prst="rect">
            <a:avLst/>
          </a:prstGeom>
          <a:noFill/>
        </p:spPr>
        <p:txBody>
          <a:bodyPr wrap="square">
            <a:spAutoFit/>
          </a:bodyPr>
          <a:lstStyle/>
          <a:p>
            <a:pPr algn="l">
              <a:lnSpc>
                <a:spcPts val="1680"/>
              </a:lnSpc>
              <a:defRPr sz="1400" b="0" i="0">
                <a:solidFill>
                  <a:srgbClr val="2C3E50"/>
                </a:solidFill>
                <a:latin typeface="微软雅黑"/>
              </a:defRPr>
            </a:pPr>
            <a:r>
              <a:t>both/either/neither</a:t>
            </a:r>
            <a:br/>
            <a:r>
              <a:t>vs all/any/none</a:t>
            </a:r>
          </a:p>
        </p:txBody>
      </p:sp>
      <p:sp>
        <p:nvSpPr>
          <p:cNvPr id="14" name="Rounded Rectangle 13"/>
          <p:cNvSpPr/>
          <p:nvPr/>
        </p:nvSpPr>
        <p:spPr>
          <a:xfrm>
            <a:off x="4663440" y="1828800"/>
            <a:ext cx="4114800" cy="1828800"/>
          </a:xfrm>
          <a:prstGeom prst="roundRect">
            <a:avLst/>
          </a:prstGeom>
          <a:solidFill>
            <a:srgbClr val="FFFFFF"/>
          </a:solidFill>
          <a:ln w="254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846320" y="1965960"/>
            <a:ext cx="2286000" cy="36576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46320" y="1984248"/>
            <a:ext cx="2286000" cy="329184"/>
          </a:xfrm>
          <a:prstGeom prst="rect">
            <a:avLst/>
          </a:prstGeom>
          <a:noFill/>
        </p:spPr>
        <p:txBody>
          <a:bodyPr wrap="square">
            <a:spAutoFit/>
          </a:bodyPr>
          <a:lstStyle/>
          <a:p>
            <a:pPr algn="ctr">
              <a:lnSpc>
                <a:spcPts val="1560"/>
              </a:lnSpc>
              <a:defRPr sz="1300" b="1" i="0">
                <a:solidFill>
                  <a:srgbClr val="FFFFFF"/>
                </a:solidFill>
                <a:latin typeface="微软雅黑"/>
              </a:defRPr>
            </a:pPr>
            <a:r>
              <a:t>不定代词 vs 并列连词</a:t>
            </a:r>
          </a:p>
        </p:txBody>
      </p:sp>
      <p:sp>
        <p:nvSpPr>
          <p:cNvPr id="17" name="TextBox 16"/>
          <p:cNvSpPr txBox="1"/>
          <p:nvPr/>
        </p:nvSpPr>
        <p:spPr>
          <a:xfrm>
            <a:off x="4937760" y="2468880"/>
            <a:ext cx="3657600" cy="1097280"/>
          </a:xfrm>
          <a:prstGeom prst="rect">
            <a:avLst/>
          </a:prstGeom>
          <a:noFill/>
        </p:spPr>
        <p:txBody>
          <a:bodyPr wrap="square">
            <a:spAutoFit/>
          </a:bodyPr>
          <a:lstStyle/>
          <a:p>
            <a:pPr algn="l">
              <a:lnSpc>
                <a:spcPts val="1680"/>
              </a:lnSpc>
              <a:defRPr sz="1400" b="0" i="0">
                <a:solidFill>
                  <a:srgbClr val="2C3E50"/>
                </a:solidFill>
                <a:latin typeface="微软雅黑"/>
              </a:defRPr>
            </a:pPr>
            <a:r>
              <a:t>both...and...</a:t>
            </a:r>
            <a:br/>
            <a:r>
              <a:t>either...or...</a:t>
            </a:r>
            <a:br/>
            <a:r>
              <a:t>neither...nor...</a:t>
            </a:r>
          </a:p>
        </p:txBody>
      </p:sp>
      <p:sp>
        <p:nvSpPr>
          <p:cNvPr id="18" name="Rounded Rectangle 17"/>
          <p:cNvSpPr/>
          <p:nvPr/>
        </p:nvSpPr>
        <p:spPr>
          <a:xfrm>
            <a:off x="274320" y="4114800"/>
            <a:ext cx="4114800" cy="1828800"/>
          </a:xfrm>
          <a:prstGeom prst="round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57200" y="4251960"/>
            <a:ext cx="2286000" cy="36576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270248"/>
            <a:ext cx="2286000" cy="329184"/>
          </a:xfrm>
          <a:prstGeom prst="rect">
            <a:avLst/>
          </a:prstGeom>
          <a:noFill/>
        </p:spPr>
        <p:txBody>
          <a:bodyPr wrap="square">
            <a:spAutoFit/>
          </a:bodyPr>
          <a:lstStyle/>
          <a:p>
            <a:pPr algn="ctr">
              <a:lnSpc>
                <a:spcPts val="1560"/>
              </a:lnSpc>
              <a:defRPr sz="1300" b="1" i="0">
                <a:solidFill>
                  <a:srgbClr val="FFFFFF"/>
                </a:solidFill>
                <a:latin typeface="微软雅黑"/>
              </a:defRPr>
            </a:pPr>
            <a:r>
              <a:t>no-类用法</a:t>
            </a:r>
          </a:p>
        </p:txBody>
      </p:sp>
      <p:sp>
        <p:nvSpPr>
          <p:cNvPr id="21" name="TextBox 20"/>
          <p:cNvSpPr txBox="1"/>
          <p:nvPr/>
        </p:nvSpPr>
        <p:spPr>
          <a:xfrm>
            <a:off x="548640" y="4754880"/>
            <a:ext cx="3657600" cy="1097280"/>
          </a:xfrm>
          <a:prstGeom prst="rect">
            <a:avLst/>
          </a:prstGeom>
          <a:noFill/>
        </p:spPr>
        <p:txBody>
          <a:bodyPr wrap="square">
            <a:spAutoFit/>
          </a:bodyPr>
          <a:lstStyle/>
          <a:p>
            <a:pPr algn="l">
              <a:lnSpc>
                <a:spcPts val="1680"/>
              </a:lnSpc>
              <a:defRPr sz="1400" b="0" i="0">
                <a:solidFill>
                  <a:srgbClr val="2C3E50"/>
                </a:solidFill>
                <a:latin typeface="微软雅黑"/>
              </a:defRPr>
            </a:pPr>
            <a:r>
              <a:t>no one / nobody</a:t>
            </a:r>
            <a:br/>
            <a:r>
              <a:t>nothing / none</a:t>
            </a:r>
          </a:p>
        </p:txBody>
      </p:sp>
      <p:sp>
        <p:nvSpPr>
          <p:cNvPr id="22" name="Rounded Rectangle 21"/>
          <p:cNvSpPr/>
          <p:nvPr/>
        </p:nvSpPr>
        <p:spPr>
          <a:xfrm>
            <a:off x="4663440" y="4114800"/>
            <a:ext cx="4114800" cy="1828800"/>
          </a:xfrm>
          <a:prstGeom prst="roundRect">
            <a:avLst/>
          </a:prstGeom>
          <a:solidFill>
            <a:srgbClr val="FFFFFF"/>
          </a:solidFill>
          <a:ln w="254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46320" y="4251960"/>
            <a:ext cx="2286000" cy="36576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4270248"/>
            <a:ext cx="2286000" cy="329184"/>
          </a:xfrm>
          <a:prstGeom prst="rect">
            <a:avLst/>
          </a:prstGeom>
          <a:noFill/>
        </p:spPr>
        <p:txBody>
          <a:bodyPr wrap="square">
            <a:spAutoFit/>
          </a:bodyPr>
          <a:lstStyle/>
          <a:p>
            <a:pPr algn="ctr">
              <a:lnSpc>
                <a:spcPts val="1560"/>
              </a:lnSpc>
              <a:defRPr sz="1300" b="1" i="0">
                <a:solidFill>
                  <a:srgbClr val="FFFFFF"/>
                </a:solidFill>
                <a:latin typeface="微软雅黑"/>
              </a:defRPr>
            </a:pPr>
            <a:r>
              <a:t>other系列</a:t>
            </a:r>
          </a:p>
        </p:txBody>
      </p:sp>
      <p:sp>
        <p:nvSpPr>
          <p:cNvPr id="25" name="TextBox 24"/>
          <p:cNvSpPr txBox="1"/>
          <p:nvPr/>
        </p:nvSpPr>
        <p:spPr>
          <a:xfrm>
            <a:off x="4937760" y="4754880"/>
            <a:ext cx="3657600" cy="1097280"/>
          </a:xfrm>
          <a:prstGeom prst="rect">
            <a:avLst/>
          </a:prstGeom>
          <a:noFill/>
        </p:spPr>
        <p:txBody>
          <a:bodyPr wrap="square">
            <a:spAutoFit/>
          </a:bodyPr>
          <a:lstStyle/>
          <a:p>
            <a:pPr algn="l">
              <a:lnSpc>
                <a:spcPts val="1680"/>
              </a:lnSpc>
              <a:defRPr sz="1400" b="0" i="0">
                <a:solidFill>
                  <a:srgbClr val="2C3E50"/>
                </a:solidFill>
                <a:latin typeface="微软雅黑"/>
              </a:defRPr>
            </a:pPr>
            <a:r>
              <a:t>other/the other</a:t>
            </a:r>
            <a:br/>
            <a:r>
              <a:t>another/others</a:t>
            </a:r>
            <a:br/>
            <a:r>
              <a:t>the others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22 PK 33 · 概念导入</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Grammar</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35</a:t>
            </a:r>
          </a:p>
        </p:txBody>
      </p:sp>
      <p:sp>
        <p:nvSpPr>
          <p:cNvPr id="9" name="TextBox 8"/>
          <p:cNvSpPr txBox="1"/>
          <p:nvPr/>
        </p:nvSpPr>
        <p:spPr>
          <a:xfrm>
            <a:off x="457200" y="1188720"/>
            <a:ext cx="8229600" cy="457200"/>
          </a:xfrm>
          <a:prstGeom prst="rect">
            <a:avLst/>
          </a:prstGeom>
          <a:noFill/>
        </p:spPr>
        <p:txBody>
          <a:bodyPr wrap="square">
            <a:spAutoFit/>
          </a:bodyPr>
          <a:lstStyle/>
          <a:p>
            <a:pPr algn="l">
              <a:lnSpc>
                <a:spcPts val="2640"/>
              </a:lnSpc>
              <a:defRPr sz="2200" b="1" i="0">
                <a:solidFill>
                  <a:srgbClr val="8E44AD"/>
                </a:solidFill>
                <a:latin typeface="微软雅黑"/>
              </a:defRPr>
            </a:pPr>
            <a:r>
              <a:t>什么是「22组」和「33组」？</a:t>
            </a:r>
          </a:p>
        </p:txBody>
      </p:sp>
      <p:sp>
        <p:nvSpPr>
          <p:cNvPr id="10" name="Rounded Rectangle 9"/>
          <p:cNvSpPr/>
          <p:nvPr/>
        </p:nvSpPr>
        <p:spPr>
          <a:xfrm>
            <a:off x="274320" y="1828800"/>
            <a:ext cx="4114800" cy="4114800"/>
          </a:xfrm>
          <a:prstGeom prst="roundRect">
            <a:avLst/>
          </a:prstGeom>
          <a:solidFill>
            <a:srgbClr val="EBF5FB"/>
          </a:solidFill>
          <a:ln w="2540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645920" y="2103120"/>
            <a:ext cx="1371600" cy="1371600"/>
          </a:xfrm>
          <a:prstGeom prst="ellipse">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2331720"/>
            <a:ext cx="1371600" cy="914400"/>
          </a:xfrm>
          <a:prstGeom prst="rect">
            <a:avLst/>
          </a:prstGeom>
          <a:noFill/>
        </p:spPr>
        <p:txBody>
          <a:bodyPr wrap="square">
            <a:spAutoFit/>
          </a:bodyPr>
          <a:lstStyle/>
          <a:p>
            <a:pPr algn="ctr">
              <a:lnSpc>
                <a:spcPts val="4800"/>
              </a:lnSpc>
              <a:defRPr sz="4000" b="1" i="0">
                <a:solidFill>
                  <a:srgbClr val="FFFFFF"/>
                </a:solidFill>
                <a:latin typeface="Arial"/>
              </a:defRPr>
            </a:pPr>
            <a:r>
              <a:t>22</a:t>
            </a:r>
          </a:p>
        </p:txBody>
      </p:sp>
      <p:sp>
        <p:nvSpPr>
          <p:cNvPr id="13" name="TextBox 12"/>
          <p:cNvSpPr txBox="1"/>
          <p:nvPr/>
        </p:nvSpPr>
        <p:spPr>
          <a:xfrm>
            <a:off x="457200" y="3657600"/>
            <a:ext cx="3749039" cy="365760"/>
          </a:xfrm>
          <a:prstGeom prst="rect">
            <a:avLst/>
          </a:prstGeom>
          <a:noFill/>
        </p:spPr>
        <p:txBody>
          <a:bodyPr wrap="square">
            <a:spAutoFit/>
          </a:bodyPr>
          <a:lstStyle/>
          <a:p>
            <a:pPr algn="ctr">
              <a:lnSpc>
                <a:spcPts val="1920"/>
              </a:lnSpc>
              <a:defRPr sz="1600" b="1" i="0">
                <a:solidFill>
                  <a:srgbClr val="1B3A5C"/>
                </a:solidFill>
                <a:latin typeface="微软雅黑"/>
              </a:defRPr>
            </a:pPr>
            <a:r>
              <a:t>针对「两者」的不定代词</a:t>
            </a:r>
          </a:p>
        </p:txBody>
      </p:sp>
      <p:sp>
        <p:nvSpPr>
          <p:cNvPr id="14" name="TextBox 13"/>
          <p:cNvSpPr txBox="1"/>
          <p:nvPr/>
        </p:nvSpPr>
        <p:spPr>
          <a:xfrm>
            <a:off x="731520" y="4114800"/>
            <a:ext cx="3200400" cy="1645920"/>
          </a:xfrm>
          <a:prstGeom prst="rect">
            <a:avLst/>
          </a:prstGeom>
          <a:noFill/>
        </p:spPr>
        <p:txBody>
          <a:bodyPr wrap="square">
            <a:spAutoFit/>
          </a:bodyPr>
          <a:lstStyle/>
          <a:p>
            <a:pPr>
              <a:lnSpc>
                <a:spcPts val="2560"/>
              </a:lnSpc>
            </a:pPr>
            <a:r>
              <a:rPr sz="1600" b="1">
                <a:solidFill>
                  <a:srgbClr val="2B5797"/>
                </a:solidFill>
                <a:latin typeface="Arial"/>
              </a:rPr>
              <a:t>● </a:t>
            </a:r>
            <a:r>
              <a:rPr sz="1600">
                <a:solidFill>
                  <a:srgbClr val="2C3E50"/>
                </a:solidFill>
                <a:latin typeface="微软雅黑"/>
              </a:rPr>
              <a:t>both — 两者都</a:t>
            </a:r>
          </a:p>
          <a:p>
            <a:pPr>
              <a:lnSpc>
                <a:spcPts val="2560"/>
              </a:lnSpc>
            </a:pPr>
            <a:r>
              <a:rPr sz="1600" b="1">
                <a:solidFill>
                  <a:srgbClr val="2B5797"/>
                </a:solidFill>
                <a:latin typeface="Arial"/>
              </a:rPr>
              <a:t>● </a:t>
            </a:r>
            <a:r>
              <a:rPr sz="1600">
                <a:solidFill>
                  <a:srgbClr val="2C3E50"/>
                </a:solidFill>
                <a:latin typeface="微软雅黑"/>
              </a:rPr>
              <a:t>either — 两者中任一</a:t>
            </a:r>
          </a:p>
          <a:p>
            <a:pPr>
              <a:lnSpc>
                <a:spcPts val="2560"/>
              </a:lnSpc>
            </a:pPr>
            <a:r>
              <a:rPr sz="1600" b="1">
                <a:solidFill>
                  <a:srgbClr val="2B5797"/>
                </a:solidFill>
                <a:latin typeface="Arial"/>
              </a:rPr>
              <a:t>● </a:t>
            </a:r>
            <a:r>
              <a:rPr sz="1600">
                <a:solidFill>
                  <a:srgbClr val="2C3E50"/>
                </a:solidFill>
                <a:latin typeface="微软雅黑"/>
              </a:rPr>
              <a:t>neither — 两者都不</a:t>
            </a:r>
          </a:p>
        </p:txBody>
      </p:sp>
      <p:sp>
        <p:nvSpPr>
          <p:cNvPr id="15" name="Rounded Rectangle 14"/>
          <p:cNvSpPr/>
          <p:nvPr/>
        </p:nvSpPr>
        <p:spPr>
          <a:xfrm>
            <a:off x="4754880" y="1828800"/>
            <a:ext cx="4114800" cy="4114800"/>
          </a:xfrm>
          <a:prstGeom prst="roundRect">
            <a:avLst/>
          </a:prstGeom>
          <a:solidFill>
            <a:srgbClr val="F3E5F5"/>
          </a:solid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126480" y="2103120"/>
            <a:ext cx="1371600" cy="1371600"/>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2331720"/>
            <a:ext cx="1371600" cy="914400"/>
          </a:xfrm>
          <a:prstGeom prst="rect">
            <a:avLst/>
          </a:prstGeom>
          <a:noFill/>
        </p:spPr>
        <p:txBody>
          <a:bodyPr wrap="square">
            <a:spAutoFit/>
          </a:bodyPr>
          <a:lstStyle/>
          <a:p>
            <a:pPr algn="ctr">
              <a:lnSpc>
                <a:spcPts val="4800"/>
              </a:lnSpc>
              <a:defRPr sz="4000" b="1" i="0">
                <a:solidFill>
                  <a:srgbClr val="FFFFFF"/>
                </a:solidFill>
                <a:latin typeface="Arial"/>
              </a:defRPr>
            </a:pPr>
            <a:r>
              <a:t>33</a:t>
            </a:r>
          </a:p>
        </p:txBody>
      </p:sp>
      <p:sp>
        <p:nvSpPr>
          <p:cNvPr id="18" name="TextBox 17"/>
          <p:cNvSpPr txBox="1"/>
          <p:nvPr/>
        </p:nvSpPr>
        <p:spPr>
          <a:xfrm>
            <a:off x="4937760" y="3657600"/>
            <a:ext cx="3749039" cy="365760"/>
          </a:xfrm>
          <a:prstGeom prst="rect">
            <a:avLst/>
          </a:prstGeom>
          <a:noFill/>
        </p:spPr>
        <p:txBody>
          <a:bodyPr wrap="square">
            <a:spAutoFit/>
          </a:bodyPr>
          <a:lstStyle/>
          <a:p>
            <a:pPr algn="ctr">
              <a:lnSpc>
                <a:spcPts val="1920"/>
              </a:lnSpc>
              <a:defRPr sz="1600" b="1" i="0">
                <a:solidFill>
                  <a:srgbClr val="8E44AD"/>
                </a:solidFill>
                <a:latin typeface="微软雅黑"/>
              </a:defRPr>
            </a:pPr>
            <a:r>
              <a:t>针对「三者及以上」的不定代词</a:t>
            </a:r>
          </a:p>
        </p:txBody>
      </p:sp>
      <p:sp>
        <p:nvSpPr>
          <p:cNvPr id="19" name="TextBox 18"/>
          <p:cNvSpPr txBox="1"/>
          <p:nvPr/>
        </p:nvSpPr>
        <p:spPr>
          <a:xfrm>
            <a:off x="5212080" y="4114800"/>
            <a:ext cx="3200400" cy="1645920"/>
          </a:xfrm>
          <a:prstGeom prst="rect">
            <a:avLst/>
          </a:prstGeom>
          <a:noFill/>
        </p:spPr>
        <p:txBody>
          <a:bodyPr wrap="square">
            <a:spAutoFit/>
          </a:bodyPr>
          <a:lstStyle/>
          <a:p>
            <a:pPr>
              <a:lnSpc>
                <a:spcPts val="2560"/>
              </a:lnSpc>
            </a:pPr>
            <a:r>
              <a:rPr sz="1600" b="1">
                <a:solidFill>
                  <a:srgbClr val="8E44AD"/>
                </a:solidFill>
                <a:latin typeface="Arial"/>
              </a:rPr>
              <a:t>● </a:t>
            </a:r>
            <a:r>
              <a:rPr sz="1600">
                <a:solidFill>
                  <a:srgbClr val="2C3E50"/>
                </a:solidFill>
                <a:latin typeface="微软雅黑"/>
              </a:rPr>
              <a:t>all — 全部都</a:t>
            </a:r>
          </a:p>
          <a:p>
            <a:pPr>
              <a:lnSpc>
                <a:spcPts val="2560"/>
              </a:lnSpc>
            </a:pPr>
            <a:r>
              <a:rPr sz="1600" b="1">
                <a:solidFill>
                  <a:srgbClr val="8E44AD"/>
                </a:solidFill>
                <a:latin typeface="Arial"/>
              </a:rPr>
              <a:t>● </a:t>
            </a:r>
            <a:r>
              <a:rPr sz="1600">
                <a:solidFill>
                  <a:srgbClr val="2C3E50"/>
                </a:solidFill>
                <a:latin typeface="微软雅黑"/>
              </a:rPr>
              <a:t>any — 任何一个</a:t>
            </a:r>
          </a:p>
          <a:p>
            <a:pPr>
              <a:lnSpc>
                <a:spcPts val="2560"/>
              </a:lnSpc>
            </a:pPr>
            <a:r>
              <a:rPr sz="1600" b="1">
                <a:solidFill>
                  <a:srgbClr val="8E44AD"/>
                </a:solidFill>
                <a:latin typeface="Arial"/>
              </a:rPr>
              <a:t>● </a:t>
            </a:r>
            <a:r>
              <a:rPr sz="1600">
                <a:solidFill>
                  <a:srgbClr val="2C3E50"/>
                </a:solidFill>
                <a:latin typeface="微软雅黑"/>
              </a:rPr>
              <a:t>none — 全部都不</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both 用法详解</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22组</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36</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640"/>
              </a:lnSpc>
              <a:defRPr sz="2200" b="1" i="0">
                <a:solidFill>
                  <a:srgbClr val="2B5797"/>
                </a:solidFill>
                <a:latin typeface="微软雅黑"/>
              </a:defRPr>
            </a:pPr>
            <a:r>
              <a:t>both = 两者都 (肯定)</a:t>
            </a:r>
          </a:p>
        </p:txBody>
      </p:sp>
      <p:graphicFrame>
        <p:nvGraphicFramePr>
          <p:cNvPr id="10" name="Table 9"/>
          <p:cNvGraphicFramePr>
            <a:graphicFrameLocks noGrp="1"/>
          </p:cNvGraphicFramePr>
          <p:nvPr/>
        </p:nvGraphicFramePr>
        <p:xfrm>
          <a:off x="457200" y="1645920"/>
          <a:ext cx="8229600" cy="3200400"/>
        </p:xfrm>
        <a:graphic>
          <a:graphicData uri="http://schemas.openxmlformats.org/drawingml/2006/table">
            <a:tbl>
              <a:tblPr firstRow="1" bandRow="1">
                <a:tableStyleId>{5C22544A-7EE6-4342-B048-85BDC9FD1C3A}</a:tableStyleId>
              </a:tblPr>
              <a:tblGrid>
                <a:gridCol w="4114800"/>
                <a:gridCol w="4114800"/>
              </a:tblGrid>
              <a:tr h="640080">
                <a:tc>
                  <a:txBody>
                    <a:bodyPr/>
                    <a:lstStyle/>
                    <a:p>
                      <a:pPr algn="ctr">
                        <a:defRPr sz="1400" b="1">
                          <a:solidFill>
                            <a:srgbClr val="FFFFFF"/>
                          </a:solidFill>
                          <a:latin typeface="微软雅黑"/>
                        </a:defRPr>
                      </a:pPr>
                      <a:r>
                        <a:t>用法</a:t>
                      </a:r>
                    </a:p>
                  </a:txBody>
                  <a:tcPr>
                    <a:solidFill>
                      <a:srgbClr val="2B5797"/>
                    </a:solidFill>
                  </a:tcPr>
                </a:tc>
                <a:tc>
                  <a:txBody>
                    <a:bodyPr/>
                    <a:lstStyle/>
                    <a:p>
                      <a:pPr algn="ctr">
                        <a:defRPr sz="1400" b="1">
                          <a:solidFill>
                            <a:srgbClr val="FFFFFF"/>
                          </a:solidFill>
                          <a:latin typeface="微软雅黑"/>
                        </a:defRPr>
                      </a:pPr>
                      <a:r>
                        <a:t>例句</a:t>
                      </a:r>
                    </a:p>
                  </a:txBody>
                  <a:tcPr>
                    <a:solidFill>
                      <a:srgbClr val="2B5797"/>
                    </a:solidFill>
                  </a:tcPr>
                </a:tc>
              </a:tr>
              <a:tr h="640080">
                <a:tc>
                  <a:txBody>
                    <a:bodyPr/>
                    <a:lstStyle/>
                    <a:p>
                      <a:pPr algn="ctr">
                        <a:defRPr sz="1300">
                          <a:solidFill>
                            <a:srgbClr val="2C3E50"/>
                          </a:solidFill>
                          <a:latin typeface="微软雅黑"/>
                        </a:defRPr>
                      </a:pPr>
                      <a:r>
                        <a:t>both + 复数名词</a:t>
                      </a:r>
                    </a:p>
                  </a:txBody>
                  <a:tcPr>
                    <a:solidFill>
                      <a:srgbClr val="FFFFFF"/>
                    </a:solidFill>
                  </a:tcPr>
                </a:tc>
                <a:tc>
                  <a:txBody>
                    <a:bodyPr/>
                    <a:lstStyle/>
                    <a:p>
                      <a:pPr algn="ctr">
                        <a:defRPr sz="1300">
                          <a:solidFill>
                            <a:srgbClr val="2C3E50"/>
                          </a:solidFill>
                          <a:latin typeface="微软雅黑"/>
                        </a:defRPr>
                      </a:pPr>
                      <a:r>
                        <a:t>Both students passed the exam.</a:t>
                      </a:r>
                    </a:p>
                  </a:txBody>
                  <a:tcPr>
                    <a:solidFill>
                      <a:srgbClr val="FFFFFF"/>
                    </a:solidFill>
                  </a:tcPr>
                </a:tc>
              </a:tr>
              <a:tr h="640080">
                <a:tc>
                  <a:txBody>
                    <a:bodyPr/>
                    <a:lstStyle/>
                    <a:p>
                      <a:pPr algn="ctr">
                        <a:defRPr sz="1300">
                          <a:solidFill>
                            <a:srgbClr val="2C3E50"/>
                          </a:solidFill>
                          <a:latin typeface="微软雅黑"/>
                        </a:defRPr>
                      </a:pPr>
                      <a:r>
                        <a:t>both of + the/代词 + 复数名词</a:t>
                      </a:r>
                    </a:p>
                  </a:txBody>
                  <a:tcPr>
                    <a:solidFill>
                      <a:srgbClr val="EBF5FB"/>
                    </a:solidFill>
                  </a:tcPr>
                </a:tc>
                <a:tc>
                  <a:txBody>
                    <a:bodyPr/>
                    <a:lstStyle/>
                    <a:p>
                      <a:pPr algn="ctr">
                        <a:defRPr sz="1300">
                          <a:solidFill>
                            <a:srgbClr val="2C3E50"/>
                          </a:solidFill>
                          <a:latin typeface="微软雅黑"/>
                        </a:defRPr>
                      </a:pPr>
                      <a:r>
                        <a:t>Both of the boys are here.</a:t>
                      </a:r>
                    </a:p>
                  </a:txBody>
                  <a:tcPr>
                    <a:solidFill>
                      <a:srgbClr val="EBF5FB"/>
                    </a:solidFill>
                  </a:tcPr>
                </a:tc>
              </a:tr>
              <a:tr h="640080">
                <a:tc>
                  <a:txBody>
                    <a:bodyPr/>
                    <a:lstStyle/>
                    <a:p>
                      <a:pPr algn="ctr">
                        <a:defRPr sz="1300">
                          <a:solidFill>
                            <a:srgbClr val="2C3E50"/>
                          </a:solidFill>
                          <a:latin typeface="微软雅黑"/>
                        </a:defRPr>
                      </a:pPr>
                      <a:r>
                        <a:t>主谓一致：复数</a:t>
                      </a:r>
                    </a:p>
                  </a:txBody>
                  <a:tcPr>
                    <a:solidFill>
                      <a:srgbClr val="FFFFFF"/>
                    </a:solidFill>
                  </a:tcPr>
                </a:tc>
                <a:tc>
                  <a:txBody>
                    <a:bodyPr/>
                    <a:lstStyle/>
                    <a:p>
                      <a:pPr algn="ctr">
                        <a:defRPr sz="1300">
                          <a:solidFill>
                            <a:srgbClr val="2C3E50"/>
                          </a:solidFill>
                          <a:latin typeface="微软雅黑"/>
                        </a:defRPr>
                      </a:pPr>
                      <a:r>
                        <a:t>Both (of them) are ready.</a:t>
                      </a:r>
                    </a:p>
                  </a:txBody>
                  <a:tcPr>
                    <a:solidFill>
                      <a:srgbClr val="FFFFFF"/>
                    </a:solidFill>
                  </a:tcPr>
                </a:tc>
              </a:tr>
              <a:tr h="640080">
                <a:tc>
                  <a:txBody>
                    <a:bodyPr/>
                    <a:lstStyle/>
                    <a:p>
                      <a:pPr algn="ctr">
                        <a:defRPr sz="1300">
                          <a:solidFill>
                            <a:srgbClr val="2C3E50"/>
                          </a:solidFill>
                          <a:latin typeface="微软雅黑"/>
                        </a:defRPr>
                      </a:pPr>
                      <a:r>
                        <a:t>both...and... 并列连词</a:t>
                      </a:r>
                    </a:p>
                  </a:txBody>
                  <a:tcPr>
                    <a:solidFill>
                      <a:srgbClr val="EBF5FB"/>
                    </a:solidFill>
                  </a:tcPr>
                </a:tc>
                <a:tc>
                  <a:txBody>
                    <a:bodyPr/>
                    <a:lstStyle/>
                    <a:p>
                      <a:pPr algn="ctr">
                        <a:defRPr sz="1300">
                          <a:solidFill>
                            <a:srgbClr val="2C3E50"/>
                          </a:solidFill>
                          <a:latin typeface="微软雅黑"/>
                        </a:defRPr>
                      </a:pPr>
                      <a:r>
                        <a:t>Both Tom and Jerry are my friends.</a:t>
                      </a:r>
                    </a:p>
                  </a:txBody>
                  <a:tcPr>
                    <a:solidFill>
                      <a:srgbClr val="EBF5FB"/>
                    </a:solidFill>
                  </a:tcPr>
                </a:tc>
              </a:tr>
            </a:tbl>
          </a:graphicData>
        </a:graphic>
      </p:graphicFrame>
      <p:sp>
        <p:nvSpPr>
          <p:cNvPr id="11" name="Rounded Rectangle 10"/>
          <p:cNvSpPr/>
          <p:nvPr/>
        </p:nvSpPr>
        <p:spPr>
          <a:xfrm>
            <a:off x="457200" y="5120640"/>
            <a:ext cx="8229600" cy="731520"/>
          </a:xfrm>
          <a:prstGeom prst="roundRect">
            <a:avLst/>
          </a:prstGeom>
          <a:solidFill>
            <a:srgbClr val="FDF2E9"/>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0">
                <a:solidFill>
                  <a:srgbClr val="2C3E50"/>
                </a:solidFill>
                <a:latin typeface="微软雅黑"/>
              </a:defRPr>
            </a:pPr>
            <a:r>
              <a:t>注意：both 的谓语动词永远用复数！Both of them ARE students. (不能用 is)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either 用法详解</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22组</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37</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640"/>
              </a:lnSpc>
              <a:defRPr sz="2200" b="1" i="0">
                <a:solidFill>
                  <a:srgbClr val="2B5797"/>
                </a:solidFill>
                <a:latin typeface="微软雅黑"/>
              </a:defRPr>
            </a:pPr>
            <a:r>
              <a:t>either = 两者中任何一个 (肯定)</a:t>
            </a:r>
          </a:p>
        </p:txBody>
      </p:sp>
      <p:graphicFrame>
        <p:nvGraphicFramePr>
          <p:cNvPr id="10" name="Table 9"/>
          <p:cNvGraphicFramePr>
            <a:graphicFrameLocks noGrp="1"/>
          </p:cNvGraphicFramePr>
          <p:nvPr/>
        </p:nvGraphicFramePr>
        <p:xfrm>
          <a:off x="457200" y="1645920"/>
          <a:ext cx="8229600" cy="3200400"/>
        </p:xfrm>
        <a:graphic>
          <a:graphicData uri="http://schemas.openxmlformats.org/drawingml/2006/table">
            <a:tbl>
              <a:tblPr firstRow="1" bandRow="1">
                <a:tableStyleId>{5C22544A-7EE6-4342-B048-85BDC9FD1C3A}</a:tableStyleId>
              </a:tblPr>
              <a:tblGrid>
                <a:gridCol w="4114800"/>
                <a:gridCol w="4114800"/>
              </a:tblGrid>
              <a:tr h="640080">
                <a:tc>
                  <a:txBody>
                    <a:bodyPr/>
                    <a:lstStyle/>
                    <a:p>
                      <a:pPr algn="ctr">
                        <a:defRPr sz="1400" b="1">
                          <a:solidFill>
                            <a:srgbClr val="FFFFFF"/>
                          </a:solidFill>
                          <a:latin typeface="微软雅黑"/>
                        </a:defRPr>
                      </a:pPr>
                      <a:r>
                        <a:t>用法</a:t>
                      </a:r>
                    </a:p>
                  </a:txBody>
                  <a:tcPr>
                    <a:solidFill>
                      <a:srgbClr val="2B5797"/>
                    </a:solidFill>
                  </a:tcPr>
                </a:tc>
                <a:tc>
                  <a:txBody>
                    <a:bodyPr/>
                    <a:lstStyle/>
                    <a:p>
                      <a:pPr algn="ctr">
                        <a:defRPr sz="1400" b="1">
                          <a:solidFill>
                            <a:srgbClr val="FFFFFF"/>
                          </a:solidFill>
                          <a:latin typeface="微软雅黑"/>
                        </a:defRPr>
                      </a:pPr>
                      <a:r>
                        <a:t>例句</a:t>
                      </a:r>
                    </a:p>
                  </a:txBody>
                  <a:tcPr>
                    <a:solidFill>
                      <a:srgbClr val="2B5797"/>
                    </a:solidFill>
                  </a:tcPr>
                </a:tc>
              </a:tr>
              <a:tr h="640080">
                <a:tc>
                  <a:txBody>
                    <a:bodyPr/>
                    <a:lstStyle/>
                    <a:p>
                      <a:pPr algn="ctr">
                        <a:defRPr sz="1300">
                          <a:solidFill>
                            <a:srgbClr val="2C3E50"/>
                          </a:solidFill>
                          <a:latin typeface="微软雅黑"/>
                        </a:defRPr>
                      </a:pPr>
                      <a:r>
                        <a:t>either + 单数名词</a:t>
                      </a:r>
                    </a:p>
                  </a:txBody>
                  <a:tcPr>
                    <a:solidFill>
                      <a:srgbClr val="FFFFFF"/>
                    </a:solidFill>
                  </a:tcPr>
                </a:tc>
                <a:tc>
                  <a:txBody>
                    <a:bodyPr/>
                    <a:lstStyle/>
                    <a:p>
                      <a:pPr algn="ctr">
                        <a:defRPr sz="1300">
                          <a:solidFill>
                            <a:srgbClr val="2C3E50"/>
                          </a:solidFill>
                          <a:latin typeface="微软雅黑"/>
                        </a:defRPr>
                      </a:pPr>
                      <a:r>
                        <a:t>Either road leads to the park.</a:t>
                      </a:r>
                    </a:p>
                  </a:txBody>
                  <a:tcPr>
                    <a:solidFill>
                      <a:srgbClr val="FFFFFF"/>
                    </a:solidFill>
                  </a:tcPr>
                </a:tc>
              </a:tr>
              <a:tr h="640080">
                <a:tc>
                  <a:txBody>
                    <a:bodyPr/>
                    <a:lstStyle/>
                    <a:p>
                      <a:pPr algn="ctr">
                        <a:defRPr sz="1300">
                          <a:solidFill>
                            <a:srgbClr val="2C3E50"/>
                          </a:solidFill>
                          <a:latin typeface="微软雅黑"/>
                        </a:defRPr>
                      </a:pPr>
                      <a:r>
                        <a:t>either of + the/代词 + 复数名词</a:t>
                      </a:r>
                    </a:p>
                  </a:txBody>
                  <a:tcPr>
                    <a:solidFill>
                      <a:srgbClr val="EBF5FB"/>
                    </a:solidFill>
                  </a:tcPr>
                </a:tc>
                <a:tc>
                  <a:txBody>
                    <a:bodyPr/>
                    <a:lstStyle/>
                    <a:p>
                      <a:pPr algn="ctr">
                        <a:defRPr sz="1300">
                          <a:solidFill>
                            <a:srgbClr val="2C3E50"/>
                          </a:solidFill>
                          <a:latin typeface="微软雅黑"/>
                        </a:defRPr>
                      </a:pPr>
                      <a:r>
                        <a:t>Either of them is OK.</a:t>
                      </a:r>
                    </a:p>
                  </a:txBody>
                  <a:tcPr>
                    <a:solidFill>
                      <a:srgbClr val="EBF5FB"/>
                    </a:solidFill>
                  </a:tcPr>
                </a:tc>
              </a:tr>
              <a:tr h="640080">
                <a:tc>
                  <a:txBody>
                    <a:bodyPr/>
                    <a:lstStyle/>
                    <a:p>
                      <a:pPr algn="ctr">
                        <a:defRPr sz="1300">
                          <a:solidFill>
                            <a:srgbClr val="2C3E50"/>
                          </a:solidFill>
                          <a:latin typeface="微软雅黑"/>
                        </a:defRPr>
                      </a:pPr>
                      <a:r>
                        <a:t>主谓一致：单数</a:t>
                      </a:r>
                    </a:p>
                  </a:txBody>
                  <a:tcPr>
                    <a:solidFill>
                      <a:srgbClr val="FFFFFF"/>
                    </a:solidFill>
                  </a:tcPr>
                </a:tc>
                <a:tc>
                  <a:txBody>
                    <a:bodyPr/>
                    <a:lstStyle/>
                    <a:p>
                      <a:pPr algn="ctr">
                        <a:defRPr sz="1300">
                          <a:solidFill>
                            <a:srgbClr val="2C3E50"/>
                          </a:solidFill>
                          <a:latin typeface="微软雅黑"/>
                        </a:defRPr>
                      </a:pPr>
                      <a:r>
                        <a:t>Either (of them) is fine.</a:t>
                      </a:r>
                    </a:p>
                  </a:txBody>
                  <a:tcPr>
                    <a:solidFill>
                      <a:srgbClr val="FFFFFF"/>
                    </a:solidFill>
                  </a:tcPr>
                </a:tc>
              </a:tr>
              <a:tr h="640080">
                <a:tc>
                  <a:txBody>
                    <a:bodyPr/>
                    <a:lstStyle/>
                    <a:p>
                      <a:pPr algn="ctr">
                        <a:defRPr sz="1300">
                          <a:solidFill>
                            <a:srgbClr val="2C3E50"/>
                          </a:solidFill>
                          <a:latin typeface="微软雅黑"/>
                        </a:defRPr>
                      </a:pPr>
                      <a:r>
                        <a:t>either...or... 并列连词</a:t>
                      </a:r>
                    </a:p>
                  </a:txBody>
                  <a:tcPr>
                    <a:solidFill>
                      <a:srgbClr val="EBF5FB"/>
                    </a:solidFill>
                  </a:tcPr>
                </a:tc>
                <a:tc>
                  <a:txBody>
                    <a:bodyPr/>
                    <a:lstStyle/>
                    <a:p>
                      <a:pPr algn="ctr">
                        <a:defRPr sz="1300">
                          <a:solidFill>
                            <a:srgbClr val="2C3E50"/>
                          </a:solidFill>
                          <a:latin typeface="微软雅黑"/>
                        </a:defRPr>
                      </a:pPr>
                      <a:r>
                        <a:t>Either you or he is right.</a:t>
                      </a:r>
                    </a:p>
                  </a:txBody>
                  <a:tcPr>
                    <a:solidFill>
                      <a:srgbClr val="EBF5FB"/>
                    </a:solidFill>
                  </a:tcPr>
                </a:tc>
              </a:tr>
            </a:tbl>
          </a:graphicData>
        </a:graphic>
      </p:graphicFrame>
      <p:sp>
        <p:nvSpPr>
          <p:cNvPr id="11" name="Rounded Rectangle 10"/>
          <p:cNvSpPr/>
          <p:nvPr/>
        </p:nvSpPr>
        <p:spPr>
          <a:xfrm>
            <a:off x="457200" y="5120640"/>
            <a:ext cx="8229600" cy="731520"/>
          </a:xfrm>
          <a:prstGeom prst="roundRect">
            <a:avLst/>
          </a:prstGeom>
          <a:solidFill>
            <a:srgbClr val="FDF2E9"/>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0">
                <a:solidFill>
                  <a:srgbClr val="2C3E50"/>
                </a:solidFill>
                <a:latin typeface="微软雅黑"/>
              </a:defRPr>
            </a:pPr>
            <a:r>
              <a:t>注意：either...or... 遵循「就近原则」！Either you or he IS right. (谓语跟 he)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neither 用法详解</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22组</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38</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640"/>
              </a:lnSpc>
              <a:defRPr sz="2200" b="1" i="0">
                <a:solidFill>
                  <a:srgbClr val="E74C3C"/>
                </a:solidFill>
                <a:latin typeface="微软雅黑"/>
              </a:defRPr>
            </a:pPr>
            <a:r>
              <a:t>neither = 两者都不 (否定)</a:t>
            </a:r>
          </a:p>
        </p:txBody>
      </p:sp>
      <p:graphicFrame>
        <p:nvGraphicFramePr>
          <p:cNvPr id="10" name="Table 9"/>
          <p:cNvGraphicFramePr>
            <a:graphicFrameLocks noGrp="1"/>
          </p:cNvGraphicFramePr>
          <p:nvPr/>
        </p:nvGraphicFramePr>
        <p:xfrm>
          <a:off x="457200" y="1645920"/>
          <a:ext cx="8229600" cy="3200400"/>
        </p:xfrm>
        <a:graphic>
          <a:graphicData uri="http://schemas.openxmlformats.org/drawingml/2006/table">
            <a:tbl>
              <a:tblPr firstRow="1" bandRow="1">
                <a:tableStyleId>{5C22544A-7EE6-4342-B048-85BDC9FD1C3A}</a:tableStyleId>
              </a:tblPr>
              <a:tblGrid>
                <a:gridCol w="4114800"/>
                <a:gridCol w="4114800"/>
              </a:tblGrid>
              <a:tr h="640080">
                <a:tc>
                  <a:txBody>
                    <a:bodyPr/>
                    <a:lstStyle/>
                    <a:p>
                      <a:pPr algn="ctr">
                        <a:defRPr sz="1400" b="1">
                          <a:solidFill>
                            <a:srgbClr val="FFFFFF"/>
                          </a:solidFill>
                          <a:latin typeface="微软雅黑"/>
                        </a:defRPr>
                      </a:pPr>
                      <a:r>
                        <a:t>用法</a:t>
                      </a:r>
                    </a:p>
                  </a:txBody>
                  <a:tcPr>
                    <a:solidFill>
                      <a:srgbClr val="E74C3C"/>
                    </a:solidFill>
                  </a:tcPr>
                </a:tc>
                <a:tc>
                  <a:txBody>
                    <a:bodyPr/>
                    <a:lstStyle/>
                    <a:p>
                      <a:pPr algn="ctr">
                        <a:defRPr sz="1400" b="1">
                          <a:solidFill>
                            <a:srgbClr val="FFFFFF"/>
                          </a:solidFill>
                          <a:latin typeface="微软雅黑"/>
                        </a:defRPr>
                      </a:pPr>
                      <a:r>
                        <a:t>例句</a:t>
                      </a:r>
                    </a:p>
                  </a:txBody>
                  <a:tcPr>
                    <a:solidFill>
                      <a:srgbClr val="E74C3C"/>
                    </a:solidFill>
                  </a:tcPr>
                </a:tc>
              </a:tr>
              <a:tr h="640080">
                <a:tc>
                  <a:txBody>
                    <a:bodyPr/>
                    <a:lstStyle/>
                    <a:p>
                      <a:pPr algn="ctr">
                        <a:defRPr sz="1300">
                          <a:solidFill>
                            <a:srgbClr val="2C3E50"/>
                          </a:solidFill>
                          <a:latin typeface="微软雅黑"/>
                        </a:defRPr>
                      </a:pPr>
                      <a:r>
                        <a:t>neither + 单数名词</a:t>
                      </a:r>
                    </a:p>
                  </a:txBody>
                  <a:tcPr>
                    <a:solidFill>
                      <a:srgbClr val="FFFFFF"/>
                    </a:solidFill>
                  </a:tcPr>
                </a:tc>
                <a:tc>
                  <a:txBody>
                    <a:bodyPr/>
                    <a:lstStyle/>
                    <a:p>
                      <a:pPr algn="ctr">
                        <a:defRPr sz="1300">
                          <a:solidFill>
                            <a:srgbClr val="2C3E50"/>
                          </a:solidFill>
                          <a:latin typeface="微软雅黑"/>
                        </a:defRPr>
                      </a:pPr>
                      <a:r>
                        <a:t>Neither answer is correct.</a:t>
                      </a:r>
                    </a:p>
                  </a:txBody>
                  <a:tcPr>
                    <a:solidFill>
                      <a:srgbClr val="FFFFFF"/>
                    </a:solidFill>
                  </a:tcPr>
                </a:tc>
              </a:tr>
              <a:tr h="640080">
                <a:tc>
                  <a:txBody>
                    <a:bodyPr/>
                    <a:lstStyle/>
                    <a:p>
                      <a:pPr algn="ctr">
                        <a:defRPr sz="1300">
                          <a:solidFill>
                            <a:srgbClr val="2C3E50"/>
                          </a:solidFill>
                          <a:latin typeface="微软雅黑"/>
                        </a:defRPr>
                      </a:pPr>
                      <a:r>
                        <a:t>neither of + the/代词 + 复数名词</a:t>
                      </a:r>
                    </a:p>
                  </a:txBody>
                  <a:tcPr>
                    <a:solidFill>
                      <a:srgbClr val="EBF5FB"/>
                    </a:solidFill>
                  </a:tcPr>
                </a:tc>
                <a:tc>
                  <a:txBody>
                    <a:bodyPr/>
                    <a:lstStyle/>
                    <a:p>
                      <a:pPr algn="ctr">
                        <a:defRPr sz="1300">
                          <a:solidFill>
                            <a:srgbClr val="2C3E50"/>
                          </a:solidFill>
                          <a:latin typeface="微软雅黑"/>
                        </a:defRPr>
                      </a:pPr>
                      <a:r>
                        <a:t>Neither of them knows.</a:t>
                      </a:r>
                    </a:p>
                  </a:txBody>
                  <a:tcPr>
                    <a:solidFill>
                      <a:srgbClr val="EBF5FB"/>
                    </a:solidFill>
                  </a:tcPr>
                </a:tc>
              </a:tr>
              <a:tr h="640080">
                <a:tc>
                  <a:txBody>
                    <a:bodyPr/>
                    <a:lstStyle/>
                    <a:p>
                      <a:pPr algn="ctr">
                        <a:defRPr sz="1300">
                          <a:solidFill>
                            <a:srgbClr val="2C3E50"/>
                          </a:solidFill>
                          <a:latin typeface="微软雅黑"/>
                        </a:defRPr>
                      </a:pPr>
                      <a:r>
                        <a:t>主谓一致：单数</a:t>
                      </a:r>
                    </a:p>
                  </a:txBody>
                  <a:tcPr>
                    <a:solidFill>
                      <a:srgbClr val="FFFFFF"/>
                    </a:solidFill>
                  </a:tcPr>
                </a:tc>
                <a:tc>
                  <a:txBody>
                    <a:bodyPr/>
                    <a:lstStyle/>
                    <a:p>
                      <a:pPr algn="ctr">
                        <a:defRPr sz="1300">
                          <a:solidFill>
                            <a:srgbClr val="2C3E50"/>
                          </a:solidFill>
                          <a:latin typeface="微软雅黑"/>
                        </a:defRPr>
                      </a:pPr>
                      <a:r>
                        <a:t>Neither (of them) is here.</a:t>
                      </a:r>
                    </a:p>
                  </a:txBody>
                  <a:tcPr>
                    <a:solidFill>
                      <a:srgbClr val="FFFFFF"/>
                    </a:solidFill>
                  </a:tcPr>
                </a:tc>
              </a:tr>
              <a:tr h="640080">
                <a:tc>
                  <a:txBody>
                    <a:bodyPr/>
                    <a:lstStyle/>
                    <a:p>
                      <a:pPr algn="ctr">
                        <a:defRPr sz="1300">
                          <a:solidFill>
                            <a:srgbClr val="2C3E50"/>
                          </a:solidFill>
                          <a:latin typeface="微软雅黑"/>
                        </a:defRPr>
                      </a:pPr>
                      <a:r>
                        <a:t>neither...nor... 并列连词</a:t>
                      </a:r>
                    </a:p>
                  </a:txBody>
                  <a:tcPr>
                    <a:solidFill>
                      <a:srgbClr val="EBF5FB"/>
                    </a:solidFill>
                  </a:tcPr>
                </a:tc>
                <a:tc>
                  <a:txBody>
                    <a:bodyPr/>
                    <a:lstStyle/>
                    <a:p>
                      <a:pPr algn="ctr">
                        <a:defRPr sz="1300">
                          <a:solidFill>
                            <a:srgbClr val="2C3E50"/>
                          </a:solidFill>
                          <a:latin typeface="微软雅黑"/>
                        </a:defRPr>
                      </a:pPr>
                      <a:r>
                        <a:t>Neither he nor I am wrong.</a:t>
                      </a:r>
                    </a:p>
                  </a:txBody>
                  <a:tcPr>
                    <a:solidFill>
                      <a:srgbClr val="EBF5FB"/>
                    </a:solidFill>
                  </a:tcPr>
                </a:tc>
              </a:tr>
            </a:tbl>
          </a:graphicData>
        </a:graphic>
      </p:graphicFrame>
      <p:sp>
        <p:nvSpPr>
          <p:cNvPr id="11" name="Rounded Rectangle 10"/>
          <p:cNvSpPr/>
          <p:nvPr/>
        </p:nvSpPr>
        <p:spPr>
          <a:xfrm>
            <a:off x="457200" y="5120640"/>
            <a:ext cx="8229600" cy="731520"/>
          </a:xfrm>
          <a:prstGeom prst="roundRect">
            <a:avLst/>
          </a:prstGeom>
          <a:solidFill>
            <a:srgbClr val="FDF2E9"/>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0">
                <a:solidFill>
                  <a:srgbClr val="2C3E50"/>
                </a:solidFill>
                <a:latin typeface="微软雅黑"/>
              </a:defRPr>
            </a:pPr>
            <a:r>
              <a:t>注意：neither 本身含否定，句中不再用 not！Neither of them IS a student. (不用 aren't)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all / any / none 对照</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33组</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39</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640"/>
              </a:lnSpc>
              <a:defRPr sz="2200" b="1" i="0">
                <a:solidFill>
                  <a:srgbClr val="8E44AD"/>
                </a:solidFill>
                <a:latin typeface="微软雅黑"/>
              </a:defRPr>
            </a:pPr>
            <a:r>
              <a:t>33组：针对三者及以上</a:t>
            </a:r>
          </a:p>
        </p:txBody>
      </p:sp>
      <p:graphicFrame>
        <p:nvGraphicFramePr>
          <p:cNvPr id="10" name="Table 9"/>
          <p:cNvGraphicFramePr>
            <a:graphicFrameLocks noGrp="1"/>
          </p:cNvGraphicFramePr>
          <p:nvPr/>
        </p:nvGraphicFramePr>
        <p:xfrm>
          <a:off x="274320" y="1645920"/>
          <a:ext cx="8595360" cy="2743200"/>
        </p:xfrm>
        <a:graphic>
          <a:graphicData uri="http://schemas.openxmlformats.org/drawingml/2006/table">
            <a:tbl>
              <a:tblPr firstRow="1" bandRow="1">
                <a:tableStyleId>{5C22544A-7EE6-4342-B048-85BDC9FD1C3A}</a:tableStyleId>
              </a:tblPr>
              <a:tblGrid>
                <a:gridCol w="2148840"/>
                <a:gridCol w="2148840"/>
                <a:gridCol w="2148840"/>
                <a:gridCol w="2148840"/>
              </a:tblGrid>
              <a:tr h="685800">
                <a:tc>
                  <a:txBody>
                    <a:bodyPr/>
                    <a:lstStyle/>
                    <a:p>
                      <a:pPr algn="ctr">
                        <a:defRPr sz="1400" b="1">
                          <a:solidFill>
                            <a:srgbClr val="FFFFFF"/>
                          </a:solidFill>
                          <a:latin typeface="微软雅黑"/>
                        </a:defRPr>
                      </a:pPr>
                      <a:r>
                        <a:t>不定代词</a:t>
                      </a:r>
                    </a:p>
                  </a:txBody>
                  <a:tcPr>
                    <a:solidFill>
                      <a:srgbClr val="8E44AD"/>
                    </a:solidFill>
                  </a:tcPr>
                </a:tc>
                <a:tc>
                  <a:txBody>
                    <a:bodyPr/>
                    <a:lstStyle/>
                    <a:p>
                      <a:pPr algn="ctr">
                        <a:defRPr sz="1400" b="1">
                          <a:solidFill>
                            <a:srgbClr val="FFFFFF"/>
                          </a:solidFill>
                          <a:latin typeface="微软雅黑"/>
                        </a:defRPr>
                      </a:pPr>
                      <a:r>
                        <a:t>含义</a:t>
                      </a:r>
                    </a:p>
                  </a:txBody>
                  <a:tcPr>
                    <a:solidFill>
                      <a:srgbClr val="8E44AD"/>
                    </a:solidFill>
                  </a:tcPr>
                </a:tc>
                <a:tc>
                  <a:txBody>
                    <a:bodyPr/>
                    <a:lstStyle/>
                    <a:p>
                      <a:pPr algn="ctr">
                        <a:defRPr sz="1400" b="1">
                          <a:solidFill>
                            <a:srgbClr val="FFFFFF"/>
                          </a:solidFill>
                          <a:latin typeface="微软雅黑"/>
                        </a:defRPr>
                      </a:pPr>
                      <a:r>
                        <a:t>主谓一致</a:t>
                      </a:r>
                    </a:p>
                  </a:txBody>
                  <a:tcPr>
                    <a:solidFill>
                      <a:srgbClr val="8E44AD"/>
                    </a:solidFill>
                  </a:tcPr>
                </a:tc>
                <a:tc>
                  <a:txBody>
                    <a:bodyPr/>
                    <a:lstStyle/>
                    <a:p>
                      <a:pPr algn="ctr">
                        <a:defRPr sz="1400" b="1">
                          <a:solidFill>
                            <a:srgbClr val="FFFFFF"/>
                          </a:solidFill>
                          <a:latin typeface="微软雅黑"/>
                        </a:defRPr>
                      </a:pPr>
                      <a:r>
                        <a:t>例句</a:t>
                      </a:r>
                    </a:p>
                  </a:txBody>
                  <a:tcPr>
                    <a:solidFill>
                      <a:srgbClr val="8E44AD"/>
                    </a:solidFill>
                  </a:tcPr>
                </a:tc>
              </a:tr>
              <a:tr h="685800">
                <a:tc>
                  <a:txBody>
                    <a:bodyPr/>
                    <a:lstStyle/>
                    <a:p>
                      <a:pPr algn="ctr">
                        <a:defRPr sz="1300">
                          <a:solidFill>
                            <a:srgbClr val="2C3E50"/>
                          </a:solidFill>
                          <a:latin typeface="微软雅黑"/>
                        </a:defRPr>
                      </a:pPr>
                      <a:r>
                        <a:t>all</a:t>
                      </a:r>
                    </a:p>
                  </a:txBody>
                  <a:tcPr>
                    <a:solidFill>
                      <a:srgbClr val="FFFFFF"/>
                    </a:solidFill>
                  </a:tcPr>
                </a:tc>
                <a:tc>
                  <a:txBody>
                    <a:bodyPr/>
                    <a:lstStyle/>
                    <a:p>
                      <a:pPr algn="ctr">
                        <a:defRPr sz="1300">
                          <a:solidFill>
                            <a:srgbClr val="2C3E50"/>
                          </a:solidFill>
                          <a:latin typeface="微软雅黑"/>
                        </a:defRPr>
                      </a:pPr>
                      <a:r>
                        <a:t>全部都 (肯定)</a:t>
                      </a:r>
                    </a:p>
                  </a:txBody>
                  <a:tcPr>
                    <a:solidFill>
                      <a:srgbClr val="FFFFFF"/>
                    </a:solidFill>
                  </a:tcPr>
                </a:tc>
                <a:tc>
                  <a:txBody>
                    <a:bodyPr/>
                    <a:lstStyle/>
                    <a:p>
                      <a:pPr algn="ctr">
                        <a:defRPr sz="1300">
                          <a:solidFill>
                            <a:srgbClr val="2C3E50"/>
                          </a:solidFill>
                          <a:latin typeface="微软雅黑"/>
                        </a:defRPr>
                      </a:pPr>
                      <a:r>
                        <a:t>复数/不可数</a:t>
                      </a:r>
                    </a:p>
                  </a:txBody>
                  <a:tcPr>
                    <a:solidFill>
                      <a:srgbClr val="FFFFFF"/>
                    </a:solidFill>
                  </a:tcPr>
                </a:tc>
                <a:tc>
                  <a:txBody>
                    <a:bodyPr/>
                    <a:lstStyle/>
                    <a:p>
                      <a:pPr algn="ctr">
                        <a:defRPr sz="1300">
                          <a:solidFill>
                            <a:srgbClr val="2C3E50"/>
                          </a:solidFill>
                          <a:latin typeface="微软雅黑"/>
                        </a:defRPr>
                      </a:pPr>
                      <a:r>
                        <a:t>All of them are here.</a:t>
                      </a:r>
                    </a:p>
                  </a:txBody>
                  <a:tcPr>
                    <a:solidFill>
                      <a:srgbClr val="FFFFFF"/>
                    </a:solidFill>
                  </a:tcPr>
                </a:tc>
              </a:tr>
              <a:tr h="685800">
                <a:tc>
                  <a:txBody>
                    <a:bodyPr/>
                    <a:lstStyle/>
                    <a:p>
                      <a:pPr algn="ctr">
                        <a:defRPr sz="1300">
                          <a:solidFill>
                            <a:srgbClr val="2C3E50"/>
                          </a:solidFill>
                          <a:latin typeface="微软雅黑"/>
                        </a:defRPr>
                      </a:pPr>
                      <a:r>
                        <a:t>any</a:t>
                      </a:r>
                    </a:p>
                  </a:txBody>
                  <a:tcPr>
                    <a:solidFill>
                      <a:srgbClr val="EBF5FB"/>
                    </a:solidFill>
                  </a:tcPr>
                </a:tc>
                <a:tc>
                  <a:txBody>
                    <a:bodyPr/>
                    <a:lstStyle/>
                    <a:p>
                      <a:pPr algn="ctr">
                        <a:defRPr sz="1300">
                          <a:solidFill>
                            <a:srgbClr val="2C3E50"/>
                          </a:solidFill>
                          <a:latin typeface="微软雅黑"/>
                        </a:defRPr>
                      </a:pPr>
                      <a:r>
                        <a:t>任何一个 (肯定/疑问)</a:t>
                      </a:r>
                    </a:p>
                  </a:txBody>
                  <a:tcPr>
                    <a:solidFill>
                      <a:srgbClr val="EBF5FB"/>
                    </a:solidFill>
                  </a:tcPr>
                </a:tc>
                <a:tc>
                  <a:txBody>
                    <a:bodyPr/>
                    <a:lstStyle/>
                    <a:p>
                      <a:pPr algn="ctr">
                        <a:defRPr sz="1300">
                          <a:solidFill>
                            <a:srgbClr val="2C3E50"/>
                          </a:solidFill>
                          <a:latin typeface="微软雅黑"/>
                        </a:defRPr>
                      </a:pPr>
                      <a:r>
                        <a:t>单数/复数均可</a:t>
                      </a:r>
                    </a:p>
                  </a:txBody>
                  <a:tcPr>
                    <a:solidFill>
                      <a:srgbClr val="EBF5FB"/>
                    </a:solidFill>
                  </a:tcPr>
                </a:tc>
                <a:tc>
                  <a:txBody>
                    <a:bodyPr/>
                    <a:lstStyle/>
                    <a:p>
                      <a:pPr algn="ctr">
                        <a:defRPr sz="1300">
                          <a:solidFill>
                            <a:srgbClr val="2C3E50"/>
                          </a:solidFill>
                          <a:latin typeface="微软雅黑"/>
                        </a:defRPr>
                      </a:pPr>
                      <a:r>
                        <a:t>Any of them can help.</a:t>
                      </a:r>
                    </a:p>
                  </a:txBody>
                  <a:tcPr>
                    <a:solidFill>
                      <a:srgbClr val="EBF5FB"/>
                    </a:solidFill>
                  </a:tcPr>
                </a:tc>
              </a:tr>
              <a:tr h="685800">
                <a:tc>
                  <a:txBody>
                    <a:bodyPr/>
                    <a:lstStyle/>
                    <a:p>
                      <a:pPr algn="ctr">
                        <a:defRPr sz="1300">
                          <a:solidFill>
                            <a:srgbClr val="2C3E50"/>
                          </a:solidFill>
                          <a:latin typeface="微软雅黑"/>
                        </a:defRPr>
                      </a:pPr>
                      <a:r>
                        <a:t>none</a:t>
                      </a:r>
                    </a:p>
                  </a:txBody>
                  <a:tcPr>
                    <a:solidFill>
                      <a:srgbClr val="FFFFFF"/>
                    </a:solidFill>
                  </a:tcPr>
                </a:tc>
                <a:tc>
                  <a:txBody>
                    <a:bodyPr/>
                    <a:lstStyle/>
                    <a:p>
                      <a:pPr algn="ctr">
                        <a:defRPr sz="1300">
                          <a:solidFill>
                            <a:srgbClr val="2C3E50"/>
                          </a:solidFill>
                          <a:latin typeface="微软雅黑"/>
                        </a:defRPr>
                      </a:pPr>
                      <a:r>
                        <a:t>全部都不 (否定)</a:t>
                      </a:r>
                    </a:p>
                  </a:txBody>
                  <a:tcPr>
                    <a:solidFill>
                      <a:srgbClr val="FFFFFF"/>
                    </a:solidFill>
                  </a:tcPr>
                </a:tc>
                <a:tc>
                  <a:txBody>
                    <a:bodyPr/>
                    <a:lstStyle/>
                    <a:p>
                      <a:pPr algn="ctr">
                        <a:defRPr sz="1300">
                          <a:solidFill>
                            <a:srgbClr val="2C3E50"/>
                          </a:solidFill>
                          <a:latin typeface="微软雅黑"/>
                        </a:defRPr>
                      </a:pPr>
                      <a:r>
                        <a:t>单数/复数均可</a:t>
                      </a:r>
                    </a:p>
                  </a:txBody>
                  <a:tcPr>
                    <a:solidFill>
                      <a:srgbClr val="FFFFFF"/>
                    </a:solidFill>
                  </a:tcPr>
                </a:tc>
                <a:tc>
                  <a:txBody>
                    <a:bodyPr/>
                    <a:lstStyle/>
                    <a:p>
                      <a:pPr algn="ctr">
                        <a:defRPr sz="1300">
                          <a:solidFill>
                            <a:srgbClr val="2C3E50"/>
                          </a:solidFill>
                          <a:latin typeface="微软雅黑"/>
                        </a:defRPr>
                      </a:pPr>
                      <a:r>
                        <a:t>None of them is/are here.</a:t>
                      </a:r>
                    </a:p>
                  </a:txBody>
                  <a:tcPr>
                    <a:solidFill>
                      <a:srgbClr val="FFFFFF"/>
                    </a:solidFill>
                  </a:tcPr>
                </a:tc>
              </a:tr>
            </a:tbl>
          </a:graphicData>
        </a:graphic>
      </p:graphicFrame>
      <p:sp>
        <p:nvSpPr>
          <p:cNvPr id="11" name="Rounded Rectangle 10"/>
          <p:cNvSpPr/>
          <p:nvPr/>
        </p:nvSpPr>
        <p:spPr>
          <a:xfrm>
            <a:off x="457200" y="4754880"/>
            <a:ext cx="8229600" cy="1371600"/>
          </a:xfrm>
          <a:prstGeom prst="roundRect">
            <a:avLst/>
          </a:prstGeom>
          <a:solidFill>
            <a:srgbClr val="F3E5F5"/>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0">
                <a:solidFill>
                  <a:srgbClr val="2C3E50"/>
                </a:solidFill>
                <a:latin typeface="微软雅黑"/>
              </a:defRPr>
            </a:pPr>
            <a:r>
              <a:t>22 → 33 转换口诀：</a:t>
            </a:r>
            <a:br/>
            <a:r>
              <a:t>both → all (肯定)   |   either → any (任一)   |   neither → none (否定)</a:t>
            </a:r>
            <a:br/>
            <a:r>
              <a:t>⚠ both 否定用 neither，all 否定用 none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主谓一致 · Subject-Verb Agreement</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Grammar</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40</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400"/>
              </a:lnSpc>
              <a:defRPr sz="2000" b="1" i="0">
                <a:solidFill>
                  <a:srgbClr val="8E44AD"/>
                </a:solidFill>
                <a:latin typeface="微软雅黑"/>
              </a:defRPr>
            </a:pPr>
            <a:r>
              <a:t>不定代词的主谓一致规则</a:t>
            </a:r>
          </a:p>
        </p:txBody>
      </p:sp>
      <p:graphicFrame>
        <p:nvGraphicFramePr>
          <p:cNvPr id="10" name="Table 9"/>
          <p:cNvGraphicFramePr>
            <a:graphicFrameLocks noGrp="1"/>
          </p:cNvGraphicFramePr>
          <p:nvPr/>
        </p:nvGraphicFramePr>
        <p:xfrm>
          <a:off x="274320" y="1645920"/>
          <a:ext cx="8595360" cy="3200400"/>
        </p:xfrm>
        <a:graphic>
          <a:graphicData uri="http://schemas.openxmlformats.org/drawingml/2006/table">
            <a:tbl>
              <a:tblPr firstRow="1" bandRow="1">
                <a:tableStyleId>{5C22544A-7EE6-4342-B048-85BDC9FD1C3A}</a:tableStyleId>
              </a:tblPr>
              <a:tblGrid>
                <a:gridCol w="2865120"/>
                <a:gridCol w="2865120"/>
                <a:gridCol w="2865120"/>
              </a:tblGrid>
              <a:tr h="640080">
                <a:tc>
                  <a:txBody>
                    <a:bodyPr/>
                    <a:lstStyle/>
                    <a:p>
                      <a:pPr algn="ctr">
                        <a:defRPr sz="1400" b="1">
                          <a:solidFill>
                            <a:srgbClr val="FFFFFF"/>
                          </a:solidFill>
                          <a:latin typeface="微软雅黑"/>
                        </a:defRPr>
                      </a:pPr>
                      <a:r>
                        <a:t>代词</a:t>
                      </a:r>
                    </a:p>
                  </a:txBody>
                  <a:tcPr>
                    <a:solidFill>
                      <a:srgbClr val="8E44AD"/>
                    </a:solidFill>
                  </a:tcPr>
                </a:tc>
                <a:tc>
                  <a:txBody>
                    <a:bodyPr/>
                    <a:lstStyle/>
                    <a:p>
                      <a:pPr algn="ctr">
                        <a:defRPr sz="1400" b="1">
                          <a:solidFill>
                            <a:srgbClr val="FFFFFF"/>
                          </a:solidFill>
                          <a:latin typeface="微软雅黑"/>
                        </a:defRPr>
                      </a:pPr>
                      <a:r>
                        <a:t>谓语</a:t>
                      </a:r>
                    </a:p>
                  </a:txBody>
                  <a:tcPr>
                    <a:solidFill>
                      <a:srgbClr val="8E44AD"/>
                    </a:solidFill>
                  </a:tcPr>
                </a:tc>
                <a:tc>
                  <a:txBody>
                    <a:bodyPr/>
                    <a:lstStyle/>
                    <a:p>
                      <a:pPr algn="ctr">
                        <a:defRPr sz="1400" b="1">
                          <a:solidFill>
                            <a:srgbClr val="FFFFFF"/>
                          </a:solidFill>
                          <a:latin typeface="微软雅黑"/>
                        </a:defRPr>
                      </a:pPr>
                      <a:r>
                        <a:t>记忆口诀</a:t>
                      </a:r>
                    </a:p>
                  </a:txBody>
                  <a:tcPr>
                    <a:solidFill>
                      <a:srgbClr val="8E44AD"/>
                    </a:solidFill>
                  </a:tcPr>
                </a:tc>
              </a:tr>
              <a:tr h="640080">
                <a:tc>
                  <a:txBody>
                    <a:bodyPr/>
                    <a:lstStyle/>
                    <a:p>
                      <a:pPr algn="ctr">
                        <a:defRPr sz="1300">
                          <a:solidFill>
                            <a:srgbClr val="2C3E50"/>
                          </a:solidFill>
                          <a:latin typeface="微软雅黑"/>
                        </a:defRPr>
                      </a:pPr>
                      <a:r>
                        <a:t>both</a:t>
                      </a:r>
                    </a:p>
                  </a:txBody>
                  <a:tcPr>
                    <a:solidFill>
                      <a:srgbClr val="FFFFFF"/>
                    </a:solidFill>
                  </a:tcPr>
                </a:tc>
                <a:tc>
                  <a:txBody>
                    <a:bodyPr/>
                    <a:lstStyle/>
                    <a:p>
                      <a:pPr algn="ctr">
                        <a:defRPr sz="1300">
                          <a:solidFill>
                            <a:srgbClr val="2C3E50"/>
                          </a:solidFill>
                          <a:latin typeface="微软雅黑"/>
                        </a:defRPr>
                      </a:pPr>
                      <a:r>
                        <a:t>复数 (are/were/have)</a:t>
                      </a:r>
                    </a:p>
                  </a:txBody>
                  <a:tcPr>
                    <a:solidFill>
                      <a:srgbClr val="FFFFFF"/>
                    </a:solidFill>
                  </a:tcPr>
                </a:tc>
                <a:tc>
                  <a:txBody>
                    <a:bodyPr/>
                    <a:lstStyle/>
                    <a:p>
                      <a:pPr algn="ctr">
                        <a:defRPr sz="1300">
                          <a:solidFill>
                            <a:srgbClr val="2C3E50"/>
                          </a:solidFill>
                          <a:latin typeface="微软雅黑"/>
                        </a:defRPr>
                      </a:pPr>
                      <a:r>
                        <a:t>both = 2个 → 复数</a:t>
                      </a:r>
                    </a:p>
                  </a:txBody>
                  <a:tcPr>
                    <a:solidFill>
                      <a:srgbClr val="FFFFFF"/>
                    </a:solidFill>
                  </a:tcPr>
                </a:tc>
              </a:tr>
              <a:tr h="640080">
                <a:tc>
                  <a:txBody>
                    <a:bodyPr/>
                    <a:lstStyle/>
                    <a:p>
                      <a:pPr algn="ctr">
                        <a:defRPr sz="1300">
                          <a:solidFill>
                            <a:srgbClr val="2C3E50"/>
                          </a:solidFill>
                          <a:latin typeface="微软雅黑"/>
                        </a:defRPr>
                      </a:pPr>
                      <a:r>
                        <a:t>either / neither</a:t>
                      </a:r>
                    </a:p>
                  </a:txBody>
                  <a:tcPr>
                    <a:solidFill>
                      <a:srgbClr val="EBF5FB"/>
                    </a:solidFill>
                  </a:tcPr>
                </a:tc>
                <a:tc>
                  <a:txBody>
                    <a:bodyPr/>
                    <a:lstStyle/>
                    <a:p>
                      <a:pPr algn="ctr">
                        <a:defRPr sz="1300">
                          <a:solidFill>
                            <a:srgbClr val="2C3E50"/>
                          </a:solidFill>
                          <a:latin typeface="微软雅黑"/>
                        </a:defRPr>
                      </a:pPr>
                      <a:r>
                        <a:t>单数 (is/was/has)</a:t>
                      </a:r>
                    </a:p>
                  </a:txBody>
                  <a:tcPr>
                    <a:solidFill>
                      <a:srgbClr val="EBF5FB"/>
                    </a:solidFill>
                  </a:tcPr>
                </a:tc>
                <a:tc>
                  <a:txBody>
                    <a:bodyPr/>
                    <a:lstStyle/>
                    <a:p>
                      <a:pPr algn="ctr">
                        <a:defRPr sz="1300">
                          <a:solidFill>
                            <a:srgbClr val="2C3E50"/>
                          </a:solidFill>
                          <a:latin typeface="微软雅黑"/>
                        </a:defRPr>
                      </a:pPr>
                      <a:r>
                        <a:t>either/neither = 1个 → 单数</a:t>
                      </a:r>
                    </a:p>
                  </a:txBody>
                  <a:tcPr>
                    <a:solidFill>
                      <a:srgbClr val="EBF5FB"/>
                    </a:solidFill>
                  </a:tcPr>
                </a:tc>
              </a:tr>
              <a:tr h="640080">
                <a:tc>
                  <a:txBody>
                    <a:bodyPr/>
                    <a:lstStyle/>
                    <a:p>
                      <a:pPr algn="ctr">
                        <a:defRPr sz="1300">
                          <a:solidFill>
                            <a:srgbClr val="2C3E50"/>
                          </a:solidFill>
                          <a:latin typeface="微软雅黑"/>
                        </a:defRPr>
                      </a:pPr>
                      <a:r>
                        <a:t>all</a:t>
                      </a:r>
                    </a:p>
                  </a:txBody>
                  <a:tcPr>
                    <a:solidFill>
                      <a:srgbClr val="FFFFFF"/>
                    </a:solidFill>
                  </a:tcPr>
                </a:tc>
                <a:tc>
                  <a:txBody>
                    <a:bodyPr/>
                    <a:lstStyle/>
                    <a:p>
                      <a:pPr algn="ctr">
                        <a:defRPr sz="1300">
                          <a:solidFill>
                            <a:srgbClr val="2C3E50"/>
                          </a:solidFill>
                          <a:latin typeface="微软雅黑"/>
                        </a:defRPr>
                      </a:pPr>
                      <a:r>
                        <a:t>看情况 (可数复数/不可数单数)</a:t>
                      </a:r>
                    </a:p>
                  </a:txBody>
                  <a:tcPr>
                    <a:solidFill>
                      <a:srgbClr val="FFFFFF"/>
                    </a:solidFill>
                  </a:tcPr>
                </a:tc>
                <a:tc>
                  <a:txBody>
                    <a:bodyPr/>
                    <a:lstStyle/>
                    <a:p>
                      <a:pPr algn="ctr">
                        <a:defRPr sz="1300">
                          <a:solidFill>
                            <a:srgbClr val="2C3E50"/>
                          </a:solidFill>
                          <a:latin typeface="微软雅黑"/>
                        </a:defRPr>
                      </a:pPr>
                      <a:r>
                        <a:t>all people → 复数; all water → 单数</a:t>
                      </a:r>
                    </a:p>
                  </a:txBody>
                  <a:tcPr>
                    <a:solidFill>
                      <a:srgbClr val="FFFFFF"/>
                    </a:solidFill>
                  </a:tcPr>
                </a:tc>
              </a:tr>
              <a:tr h="640080">
                <a:tc>
                  <a:txBody>
                    <a:bodyPr/>
                    <a:lstStyle/>
                    <a:p>
                      <a:pPr algn="ctr">
                        <a:defRPr sz="1300">
                          <a:solidFill>
                            <a:srgbClr val="2C3E50"/>
                          </a:solidFill>
                          <a:latin typeface="微软雅黑"/>
                        </a:defRPr>
                      </a:pPr>
                      <a:r>
                        <a:t>any / none</a:t>
                      </a:r>
                    </a:p>
                  </a:txBody>
                  <a:tcPr>
                    <a:solidFill>
                      <a:srgbClr val="EBF5FB"/>
                    </a:solidFill>
                  </a:tcPr>
                </a:tc>
                <a:tc>
                  <a:txBody>
                    <a:bodyPr/>
                    <a:lstStyle/>
                    <a:p>
                      <a:pPr algn="ctr">
                        <a:defRPr sz="1300">
                          <a:solidFill>
                            <a:srgbClr val="2C3E50"/>
                          </a:solidFill>
                          <a:latin typeface="微软雅黑"/>
                        </a:defRPr>
                      </a:pPr>
                      <a:r>
                        <a:t>单数或复数均可</a:t>
                      </a:r>
                    </a:p>
                  </a:txBody>
                  <a:tcPr>
                    <a:solidFill>
                      <a:srgbClr val="EBF5FB"/>
                    </a:solidFill>
                  </a:tcPr>
                </a:tc>
                <a:tc>
                  <a:txBody>
                    <a:bodyPr/>
                    <a:lstStyle/>
                    <a:p>
                      <a:pPr algn="ctr">
                        <a:defRPr sz="1300">
                          <a:solidFill>
                            <a:srgbClr val="2C3E50"/>
                          </a:solidFill>
                          <a:latin typeface="微软雅黑"/>
                        </a:defRPr>
                      </a:pPr>
                      <a:r>
                        <a:t>正式场合偏单数</a:t>
                      </a:r>
                    </a:p>
                  </a:txBody>
                  <a:tcPr>
                    <a:solidFill>
                      <a:srgbClr val="EBF5FB"/>
                    </a:solidFill>
                  </a:tcPr>
                </a:tc>
              </a:tr>
            </a:tbl>
          </a:graphicData>
        </a:graphic>
      </p:graphicFrame>
      <p:sp>
        <p:nvSpPr>
          <p:cNvPr id="11" name="TextBox 10"/>
          <p:cNvSpPr txBox="1"/>
          <p:nvPr/>
        </p:nvSpPr>
        <p:spPr>
          <a:xfrm>
            <a:off x="457200" y="5029200"/>
            <a:ext cx="8229600" cy="365760"/>
          </a:xfrm>
          <a:prstGeom prst="rect">
            <a:avLst/>
          </a:prstGeom>
          <a:noFill/>
        </p:spPr>
        <p:txBody>
          <a:bodyPr wrap="square">
            <a:spAutoFit/>
          </a:bodyPr>
          <a:lstStyle/>
          <a:p>
            <a:pPr algn="l">
              <a:lnSpc>
                <a:spcPts val="1920"/>
              </a:lnSpc>
              <a:defRPr sz="1600" b="1" i="0">
                <a:solidFill>
                  <a:srgbClr val="E74C3C"/>
                </a:solidFill>
                <a:latin typeface="微软雅黑"/>
              </a:defRPr>
            </a:pPr>
            <a:r>
              <a:t>Quick Practice 快速练习：</a:t>
            </a:r>
          </a:p>
        </p:txBody>
      </p:sp>
      <p:sp>
        <p:nvSpPr>
          <p:cNvPr id="12" name="TextBox 11"/>
          <p:cNvSpPr txBox="1"/>
          <p:nvPr/>
        </p:nvSpPr>
        <p:spPr>
          <a:xfrm>
            <a:off x="457200" y="5394960"/>
            <a:ext cx="8229600" cy="914400"/>
          </a:xfrm>
          <a:prstGeom prst="rect">
            <a:avLst/>
          </a:prstGeom>
          <a:noFill/>
        </p:spPr>
        <p:txBody>
          <a:bodyPr wrap="square">
            <a:spAutoFit/>
          </a:bodyPr>
          <a:lstStyle/>
          <a:p>
            <a:pPr algn="l">
              <a:lnSpc>
                <a:spcPts val="1680"/>
              </a:lnSpc>
              <a:defRPr sz="1400" b="0" i="0">
                <a:solidFill>
                  <a:srgbClr val="2C3E50"/>
                </a:solidFill>
                <a:latin typeface="微软雅黑"/>
              </a:defRPr>
            </a:pPr>
            <a:r>
              <a:t>________ of them ________ (go) to school every day.  (both → go)</a:t>
            </a:r>
            <a:br/>
            <a:r>
              <a:t>________ of them ________ (go) to school every day.  (neither → goes)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看图辨代词 · Visual Practice</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Practice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41</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160"/>
              </a:lnSpc>
              <a:defRPr sz="1800" b="1" i="0">
                <a:solidFill>
                  <a:srgbClr val="8E44AD"/>
                </a:solidFill>
                <a:latin typeface="微软雅黑"/>
              </a:defRPr>
            </a:pPr>
            <a:r>
              <a:t>根据描述，填入 both / either / neither / all</a:t>
            </a:r>
          </a:p>
        </p:txBody>
      </p:sp>
      <p:sp>
        <p:nvSpPr>
          <p:cNvPr id="10" name="Oval 9"/>
          <p:cNvSpPr/>
          <p:nvPr/>
        </p:nvSpPr>
        <p:spPr>
          <a:xfrm>
            <a:off x="365760" y="1737360"/>
            <a:ext cx="457200" cy="457200"/>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783080"/>
            <a:ext cx="457200" cy="365760"/>
          </a:xfrm>
          <a:prstGeom prst="rect">
            <a:avLst/>
          </a:prstGeom>
          <a:noFill/>
        </p:spPr>
        <p:txBody>
          <a:bodyPr wrap="square">
            <a:spAutoFit/>
          </a:bodyPr>
          <a:lstStyle/>
          <a:p>
            <a:pPr algn="ctr">
              <a:lnSpc>
                <a:spcPts val="1680"/>
              </a:lnSpc>
              <a:defRPr sz="1400" b="1" i="0">
                <a:solidFill>
                  <a:srgbClr val="FFFFFF"/>
                </a:solidFill>
                <a:latin typeface="Arial"/>
              </a:defRPr>
            </a:pPr>
            <a:r>
              <a:t>①</a:t>
            </a:r>
          </a:p>
        </p:txBody>
      </p:sp>
      <p:sp>
        <p:nvSpPr>
          <p:cNvPr id="12" name="TextBox 11"/>
          <p:cNvSpPr txBox="1"/>
          <p:nvPr/>
        </p:nvSpPr>
        <p:spPr>
          <a:xfrm>
            <a:off x="1005840" y="1783080"/>
            <a:ext cx="5029200" cy="365760"/>
          </a:xfrm>
          <a:prstGeom prst="rect">
            <a:avLst/>
          </a:prstGeom>
          <a:noFill/>
        </p:spPr>
        <p:txBody>
          <a:bodyPr wrap="square">
            <a:spAutoFit/>
          </a:bodyPr>
          <a:lstStyle/>
          <a:p>
            <a:pPr algn="l">
              <a:lnSpc>
                <a:spcPts val="1920"/>
              </a:lnSpc>
              <a:defRPr sz="1600" b="0" i="0">
                <a:solidFill>
                  <a:srgbClr val="2C3E50"/>
                </a:solidFill>
                <a:latin typeface="微软雅黑"/>
              </a:defRPr>
            </a:pPr>
            <a:r>
              <a:t>_______ of my parents work hard.</a:t>
            </a:r>
          </a:p>
        </p:txBody>
      </p:sp>
      <p:sp>
        <p:nvSpPr>
          <p:cNvPr id="13" name="Rounded Rectangle 12"/>
          <p:cNvSpPr/>
          <p:nvPr/>
        </p:nvSpPr>
        <p:spPr>
          <a:xfrm>
            <a:off x="6217920" y="1737360"/>
            <a:ext cx="2560320" cy="457200"/>
          </a:xfrm>
          <a:prstGeom prst="roundRect">
            <a:avLst/>
          </a:prstGeom>
          <a:solidFill>
            <a:srgbClr val="E8F8EE"/>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783080"/>
            <a:ext cx="2377440" cy="365760"/>
          </a:xfrm>
          <a:prstGeom prst="rect">
            <a:avLst/>
          </a:prstGeom>
          <a:noFill/>
        </p:spPr>
        <p:txBody>
          <a:bodyPr wrap="square">
            <a:spAutoFit/>
          </a:bodyPr>
          <a:lstStyle/>
          <a:p>
            <a:pPr algn="l">
              <a:lnSpc>
                <a:spcPts val="1439"/>
              </a:lnSpc>
              <a:defRPr sz="1200" b="1" i="0">
                <a:solidFill>
                  <a:srgbClr val="27AE60"/>
                </a:solidFill>
                <a:latin typeface="微软雅黑"/>
              </a:defRPr>
            </a:pPr>
            <a:r>
              <a:t>Both — 两个父母 → both</a:t>
            </a:r>
          </a:p>
        </p:txBody>
      </p:sp>
      <p:sp>
        <p:nvSpPr>
          <p:cNvPr id="15" name="Oval 14"/>
          <p:cNvSpPr/>
          <p:nvPr/>
        </p:nvSpPr>
        <p:spPr>
          <a:xfrm>
            <a:off x="365760" y="2926080"/>
            <a:ext cx="457200" cy="457200"/>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2971800"/>
            <a:ext cx="457200" cy="365760"/>
          </a:xfrm>
          <a:prstGeom prst="rect">
            <a:avLst/>
          </a:prstGeom>
          <a:noFill/>
        </p:spPr>
        <p:txBody>
          <a:bodyPr wrap="square">
            <a:spAutoFit/>
          </a:bodyPr>
          <a:lstStyle/>
          <a:p>
            <a:pPr algn="ctr">
              <a:lnSpc>
                <a:spcPts val="1680"/>
              </a:lnSpc>
              <a:defRPr sz="1400" b="1" i="0">
                <a:solidFill>
                  <a:srgbClr val="FFFFFF"/>
                </a:solidFill>
                <a:latin typeface="Arial"/>
              </a:defRPr>
            </a:pPr>
            <a:r>
              <a:t>②</a:t>
            </a:r>
          </a:p>
        </p:txBody>
      </p:sp>
      <p:sp>
        <p:nvSpPr>
          <p:cNvPr id="17" name="TextBox 16"/>
          <p:cNvSpPr txBox="1"/>
          <p:nvPr/>
        </p:nvSpPr>
        <p:spPr>
          <a:xfrm>
            <a:off x="1005840" y="2971800"/>
            <a:ext cx="5029200" cy="365760"/>
          </a:xfrm>
          <a:prstGeom prst="rect">
            <a:avLst/>
          </a:prstGeom>
          <a:noFill/>
        </p:spPr>
        <p:txBody>
          <a:bodyPr wrap="square">
            <a:spAutoFit/>
          </a:bodyPr>
          <a:lstStyle/>
          <a:p>
            <a:pPr algn="l">
              <a:lnSpc>
                <a:spcPts val="1920"/>
              </a:lnSpc>
              <a:defRPr sz="1600" b="0" i="0">
                <a:solidFill>
                  <a:srgbClr val="2C3E50"/>
                </a:solidFill>
                <a:latin typeface="微软雅黑"/>
              </a:defRPr>
            </a:pPr>
            <a:r>
              <a:t>_______ of the two roads leads to the park.</a:t>
            </a:r>
          </a:p>
        </p:txBody>
      </p:sp>
      <p:sp>
        <p:nvSpPr>
          <p:cNvPr id="18" name="Rounded Rectangle 17"/>
          <p:cNvSpPr/>
          <p:nvPr/>
        </p:nvSpPr>
        <p:spPr>
          <a:xfrm>
            <a:off x="6217920" y="2926080"/>
            <a:ext cx="2560320" cy="457200"/>
          </a:xfrm>
          <a:prstGeom prst="roundRect">
            <a:avLst/>
          </a:prstGeom>
          <a:solidFill>
            <a:srgbClr val="E8F8EE"/>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2971800"/>
            <a:ext cx="2377440" cy="365760"/>
          </a:xfrm>
          <a:prstGeom prst="rect">
            <a:avLst/>
          </a:prstGeom>
          <a:noFill/>
        </p:spPr>
        <p:txBody>
          <a:bodyPr wrap="square">
            <a:spAutoFit/>
          </a:bodyPr>
          <a:lstStyle/>
          <a:p>
            <a:pPr algn="l">
              <a:lnSpc>
                <a:spcPts val="1439"/>
              </a:lnSpc>
              <a:defRPr sz="1200" b="1" i="0">
                <a:solidFill>
                  <a:srgbClr val="27AE60"/>
                </a:solidFill>
                <a:latin typeface="微软雅黑"/>
              </a:defRPr>
            </a:pPr>
            <a:r>
              <a:t>Either — 两条路中任一条 → either</a:t>
            </a:r>
          </a:p>
        </p:txBody>
      </p:sp>
      <p:sp>
        <p:nvSpPr>
          <p:cNvPr id="20" name="Oval 19"/>
          <p:cNvSpPr/>
          <p:nvPr/>
        </p:nvSpPr>
        <p:spPr>
          <a:xfrm>
            <a:off x="365760" y="4114800"/>
            <a:ext cx="457200" cy="457200"/>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4160520"/>
            <a:ext cx="457200" cy="365760"/>
          </a:xfrm>
          <a:prstGeom prst="rect">
            <a:avLst/>
          </a:prstGeom>
          <a:noFill/>
        </p:spPr>
        <p:txBody>
          <a:bodyPr wrap="square">
            <a:spAutoFit/>
          </a:bodyPr>
          <a:lstStyle/>
          <a:p>
            <a:pPr algn="ctr">
              <a:lnSpc>
                <a:spcPts val="1680"/>
              </a:lnSpc>
              <a:defRPr sz="1400" b="1" i="0">
                <a:solidFill>
                  <a:srgbClr val="FFFFFF"/>
                </a:solidFill>
                <a:latin typeface="Arial"/>
              </a:defRPr>
            </a:pPr>
            <a:r>
              <a:t>③</a:t>
            </a:r>
          </a:p>
        </p:txBody>
      </p:sp>
      <p:sp>
        <p:nvSpPr>
          <p:cNvPr id="22" name="TextBox 21"/>
          <p:cNvSpPr txBox="1"/>
          <p:nvPr/>
        </p:nvSpPr>
        <p:spPr>
          <a:xfrm>
            <a:off x="1005840" y="4160520"/>
            <a:ext cx="5029200" cy="365760"/>
          </a:xfrm>
          <a:prstGeom prst="rect">
            <a:avLst/>
          </a:prstGeom>
          <a:noFill/>
        </p:spPr>
        <p:txBody>
          <a:bodyPr wrap="square">
            <a:spAutoFit/>
          </a:bodyPr>
          <a:lstStyle/>
          <a:p>
            <a:pPr algn="l">
              <a:lnSpc>
                <a:spcPts val="1920"/>
              </a:lnSpc>
              <a:defRPr sz="1600" b="0" i="0">
                <a:solidFill>
                  <a:srgbClr val="2C3E50"/>
                </a:solidFill>
                <a:latin typeface="微软雅黑"/>
              </a:defRPr>
            </a:pPr>
            <a:r>
              <a:t>_______ of the two boys is at home.</a:t>
            </a:r>
          </a:p>
        </p:txBody>
      </p:sp>
      <p:sp>
        <p:nvSpPr>
          <p:cNvPr id="23" name="Rounded Rectangle 22"/>
          <p:cNvSpPr/>
          <p:nvPr/>
        </p:nvSpPr>
        <p:spPr>
          <a:xfrm>
            <a:off x="6217920" y="4114800"/>
            <a:ext cx="2560320" cy="457200"/>
          </a:xfrm>
          <a:prstGeom prst="roundRect">
            <a:avLst/>
          </a:prstGeom>
          <a:solidFill>
            <a:srgbClr val="E8F8EE"/>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4160520"/>
            <a:ext cx="2377440" cy="365760"/>
          </a:xfrm>
          <a:prstGeom prst="rect">
            <a:avLst/>
          </a:prstGeom>
          <a:noFill/>
        </p:spPr>
        <p:txBody>
          <a:bodyPr wrap="square">
            <a:spAutoFit/>
          </a:bodyPr>
          <a:lstStyle/>
          <a:p>
            <a:pPr algn="l">
              <a:lnSpc>
                <a:spcPts val="1439"/>
              </a:lnSpc>
              <a:defRPr sz="1200" b="1" i="0">
                <a:solidFill>
                  <a:srgbClr val="27AE60"/>
                </a:solidFill>
                <a:latin typeface="微软雅黑"/>
              </a:defRPr>
            </a:pPr>
            <a:r>
              <a:t>Neither — 两个男孩都不 → neither</a:t>
            </a:r>
          </a:p>
        </p:txBody>
      </p:sp>
      <p:sp>
        <p:nvSpPr>
          <p:cNvPr id="25" name="Oval 24"/>
          <p:cNvSpPr/>
          <p:nvPr/>
        </p:nvSpPr>
        <p:spPr>
          <a:xfrm>
            <a:off x="365760" y="5303520"/>
            <a:ext cx="457200" cy="457200"/>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5349240"/>
            <a:ext cx="457200" cy="365760"/>
          </a:xfrm>
          <a:prstGeom prst="rect">
            <a:avLst/>
          </a:prstGeom>
          <a:noFill/>
        </p:spPr>
        <p:txBody>
          <a:bodyPr wrap="square">
            <a:spAutoFit/>
          </a:bodyPr>
          <a:lstStyle/>
          <a:p>
            <a:pPr algn="ctr">
              <a:lnSpc>
                <a:spcPts val="1680"/>
              </a:lnSpc>
              <a:defRPr sz="1400" b="1" i="0">
                <a:solidFill>
                  <a:srgbClr val="FFFFFF"/>
                </a:solidFill>
                <a:latin typeface="Arial"/>
              </a:defRPr>
            </a:pPr>
            <a:r>
              <a:t>④</a:t>
            </a:r>
          </a:p>
        </p:txBody>
      </p:sp>
      <p:sp>
        <p:nvSpPr>
          <p:cNvPr id="27" name="TextBox 26"/>
          <p:cNvSpPr txBox="1"/>
          <p:nvPr/>
        </p:nvSpPr>
        <p:spPr>
          <a:xfrm>
            <a:off x="1005840" y="5349240"/>
            <a:ext cx="5029200" cy="365760"/>
          </a:xfrm>
          <a:prstGeom prst="rect">
            <a:avLst/>
          </a:prstGeom>
          <a:noFill/>
        </p:spPr>
        <p:txBody>
          <a:bodyPr wrap="square">
            <a:spAutoFit/>
          </a:bodyPr>
          <a:lstStyle/>
          <a:p>
            <a:pPr algn="l">
              <a:lnSpc>
                <a:spcPts val="1920"/>
              </a:lnSpc>
              <a:defRPr sz="1600" b="0" i="0">
                <a:solidFill>
                  <a:srgbClr val="2C3E50"/>
                </a:solidFill>
                <a:latin typeface="微软雅黑"/>
              </a:defRPr>
            </a:pPr>
            <a:r>
              <a:t>_______ of the students are in class.</a:t>
            </a:r>
          </a:p>
        </p:txBody>
      </p:sp>
      <p:sp>
        <p:nvSpPr>
          <p:cNvPr id="28" name="Rounded Rectangle 27"/>
          <p:cNvSpPr/>
          <p:nvPr/>
        </p:nvSpPr>
        <p:spPr>
          <a:xfrm>
            <a:off x="6217920" y="5303520"/>
            <a:ext cx="2560320" cy="457200"/>
          </a:xfrm>
          <a:prstGeom prst="roundRect">
            <a:avLst/>
          </a:prstGeom>
          <a:solidFill>
            <a:srgbClr val="E8F8EE"/>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5349240"/>
            <a:ext cx="2377440" cy="365760"/>
          </a:xfrm>
          <a:prstGeom prst="rect">
            <a:avLst/>
          </a:prstGeom>
          <a:noFill/>
        </p:spPr>
        <p:txBody>
          <a:bodyPr wrap="square">
            <a:spAutoFit/>
          </a:bodyPr>
          <a:lstStyle/>
          <a:p>
            <a:pPr algn="l">
              <a:lnSpc>
                <a:spcPts val="1439"/>
              </a:lnSpc>
              <a:defRPr sz="1200" b="1" i="0">
                <a:solidFill>
                  <a:srgbClr val="27AE60"/>
                </a:solidFill>
                <a:latin typeface="微软雅黑"/>
              </a:defRPr>
            </a:pPr>
            <a:r>
              <a:t>All — 所有学生(≥3) → all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经典例题 · Classic Example</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Grammar</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42</a:t>
            </a:r>
          </a:p>
        </p:txBody>
      </p:sp>
      <p:sp>
        <p:nvSpPr>
          <p:cNvPr id="9" name="Rounded Rectangle 8"/>
          <p:cNvSpPr/>
          <p:nvPr/>
        </p:nvSpPr>
        <p:spPr>
          <a:xfrm>
            <a:off x="457200" y="1097280"/>
            <a:ext cx="1371600" cy="3200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15568"/>
            <a:ext cx="1371600" cy="301752"/>
          </a:xfrm>
          <a:prstGeom prst="rect">
            <a:avLst/>
          </a:prstGeom>
          <a:noFill/>
        </p:spPr>
        <p:txBody>
          <a:bodyPr wrap="square">
            <a:spAutoFit/>
          </a:bodyPr>
          <a:lstStyle/>
          <a:p>
            <a:pPr algn="ctr">
              <a:lnSpc>
                <a:spcPts val="1439"/>
              </a:lnSpc>
              <a:defRPr sz="1200" b="1" i="0">
                <a:solidFill>
                  <a:srgbClr val="FFFFFF"/>
                </a:solidFill>
                <a:latin typeface="微软雅黑"/>
              </a:defRPr>
            </a:pPr>
            <a:r>
              <a:t>上海期末</a:t>
            </a:r>
          </a:p>
        </p:txBody>
      </p:sp>
      <p:sp>
        <p:nvSpPr>
          <p:cNvPr id="11" name="Rounded Rectangle 10"/>
          <p:cNvSpPr/>
          <p:nvPr/>
        </p:nvSpPr>
        <p:spPr>
          <a:xfrm>
            <a:off x="457200" y="1645920"/>
            <a:ext cx="8229600" cy="1371600"/>
          </a:xfrm>
          <a:prstGeom prst="roundRect">
            <a:avLst/>
          </a:prstGeom>
          <a:solidFill>
            <a:srgbClr val="EBF5FB"/>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700" b="0">
                <a:solidFill>
                  <a:srgbClr val="2C3E50"/>
                </a:solidFill>
                <a:latin typeface="微软雅黑"/>
              </a:defRPr>
            </a:pPr>
            <a:r>
              <a:t>All of them are bus drivers. (改为否定句)</a:t>
            </a:r>
            <a:br/>
            <a:br/>
            <a:r>
              <a:t>_________ of them _________ a bus driver.</a:t>
            </a:r>
          </a:p>
        </p:txBody>
      </p:sp>
      <p:sp>
        <p:nvSpPr>
          <p:cNvPr id="12" name="Rounded Rectangle 11"/>
          <p:cNvSpPr/>
          <p:nvPr/>
        </p:nvSpPr>
        <p:spPr>
          <a:xfrm>
            <a:off x="457200" y="3474720"/>
            <a:ext cx="8229600" cy="228600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0">
                <a:solidFill>
                  <a:srgbClr val="2C3E50"/>
                </a:solidFill>
                <a:latin typeface="微软雅黑"/>
              </a:defRPr>
            </a:pPr>
            <a:r>
              <a:t>Answer: None of them is a bus driver.</a:t>
            </a:r>
            <a:br/>
            <a:br/>
            <a:r>
              <a:t>解析：</a:t>
            </a:r>
            <a:br/>
            <a:r>
              <a:t>① all 的否定 → none（不是 not all，not all 表示部分否定）</a:t>
            </a:r>
            <a:br/>
            <a:r>
              <a:t>② none of them 谓语用单数 is</a:t>
            </a:r>
            <a:br/>
            <a:r>
              <a:t>③ bus drivers → a bus driver（单数）</a:t>
            </a:r>
            <a:br/>
            <a:br/>
            <a:r>
              <a:t>拓展：</a:t>
            </a:r>
            <a:br/>
            <a:r>
              <a:t>• All → None (全部否定)    • All → Not all (部分否定)</a:t>
            </a:r>
            <a:br/>
            <a:r>
              <a:t>• Both → Neither (全部否定)  • Both → Not both (部分否定)</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易错点 · Common Mistakes</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Grammar</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43</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640"/>
              </a:lnSpc>
              <a:defRPr sz="2200" b="1" i="0">
                <a:solidFill>
                  <a:srgbClr val="E74C3C"/>
                </a:solidFill>
                <a:latin typeface="微软雅黑"/>
              </a:defRPr>
            </a:pPr>
            <a:r>
              <a:t>不定代词 VS 并列连词</a:t>
            </a:r>
          </a:p>
        </p:txBody>
      </p:sp>
      <p:sp>
        <p:nvSpPr>
          <p:cNvPr id="10" name="Rectangle 9"/>
          <p:cNvSpPr/>
          <p:nvPr/>
        </p:nvSpPr>
        <p:spPr>
          <a:xfrm>
            <a:off x="457200" y="1554480"/>
            <a:ext cx="2743200" cy="457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57200" y="1828800"/>
          <a:ext cx="8229600" cy="2743200"/>
        </p:xfrm>
        <a:graphic>
          <a:graphicData uri="http://schemas.openxmlformats.org/drawingml/2006/table">
            <a:tbl>
              <a:tblPr firstRow="1" bandRow="1">
                <a:tableStyleId>{5C22544A-7EE6-4342-B048-85BDC9FD1C3A}</a:tableStyleId>
              </a:tblPr>
              <a:tblGrid>
                <a:gridCol w="2743200"/>
                <a:gridCol w="2743200"/>
                <a:gridCol w="2743200"/>
              </a:tblGrid>
              <a:tr h="548640">
                <a:tc>
                  <a:txBody>
                    <a:bodyPr/>
                    <a:lstStyle/>
                    <a:p>
                      <a:pPr algn="ctr">
                        <a:defRPr sz="1400" b="1">
                          <a:solidFill>
                            <a:srgbClr val="FFFFFF"/>
                          </a:solidFill>
                          <a:latin typeface="微软雅黑"/>
                        </a:defRPr>
                      </a:pPr>
                      <a:r>
                        <a:t>不定代词</a:t>
                      </a:r>
                    </a:p>
                  </a:txBody>
                  <a:tcPr>
                    <a:solidFill>
                      <a:srgbClr val="E74C3C"/>
                    </a:solidFill>
                  </a:tcPr>
                </a:tc>
                <a:tc>
                  <a:txBody>
                    <a:bodyPr/>
                    <a:lstStyle/>
                    <a:p>
                      <a:pPr algn="ctr">
                        <a:defRPr sz="1400" b="1">
                          <a:solidFill>
                            <a:srgbClr val="FFFFFF"/>
                          </a:solidFill>
                          <a:latin typeface="微软雅黑"/>
                        </a:defRPr>
                      </a:pPr>
                      <a:r>
                        <a:t>对应并列连词</a:t>
                      </a:r>
                    </a:p>
                  </a:txBody>
                  <a:tcPr>
                    <a:solidFill>
                      <a:srgbClr val="E74C3C"/>
                    </a:solidFill>
                  </a:tcPr>
                </a:tc>
                <a:tc>
                  <a:txBody>
                    <a:bodyPr/>
                    <a:lstStyle/>
                    <a:p>
                      <a:pPr algn="ctr">
                        <a:defRPr sz="1400" b="1">
                          <a:solidFill>
                            <a:srgbClr val="FFFFFF"/>
                          </a:solidFill>
                          <a:latin typeface="微软雅黑"/>
                        </a:defRPr>
                      </a:pPr>
                      <a:r>
                        <a:t>主谓一致</a:t>
                      </a:r>
                    </a:p>
                  </a:txBody>
                  <a:tcPr>
                    <a:solidFill>
                      <a:srgbClr val="E74C3C"/>
                    </a:solidFill>
                  </a:tcPr>
                </a:tc>
              </a:tr>
              <a:tr h="548640">
                <a:tc>
                  <a:txBody>
                    <a:bodyPr/>
                    <a:lstStyle/>
                    <a:p>
                      <a:pPr algn="ctr">
                        <a:defRPr sz="1300">
                          <a:solidFill>
                            <a:srgbClr val="2C3E50"/>
                          </a:solidFill>
                          <a:latin typeface="微软雅黑"/>
                        </a:defRPr>
                      </a:pPr>
                      <a:r>
                        <a:t>both</a:t>
                      </a:r>
                    </a:p>
                  </a:txBody>
                  <a:tcPr>
                    <a:solidFill>
                      <a:srgbClr val="FFFFFF"/>
                    </a:solidFill>
                  </a:tcPr>
                </a:tc>
                <a:tc>
                  <a:txBody>
                    <a:bodyPr/>
                    <a:lstStyle/>
                    <a:p>
                      <a:pPr algn="ctr">
                        <a:defRPr sz="1300">
                          <a:solidFill>
                            <a:srgbClr val="2C3E50"/>
                          </a:solidFill>
                          <a:latin typeface="微软雅黑"/>
                        </a:defRPr>
                      </a:pPr>
                      <a:r>
                        <a:t>both...and...</a:t>
                      </a:r>
                    </a:p>
                  </a:txBody>
                  <a:tcPr>
                    <a:solidFill>
                      <a:srgbClr val="FFFFFF"/>
                    </a:solidFill>
                  </a:tcPr>
                </a:tc>
                <a:tc>
                  <a:txBody>
                    <a:bodyPr/>
                    <a:lstStyle/>
                    <a:p>
                      <a:pPr algn="ctr">
                        <a:defRPr sz="1300">
                          <a:solidFill>
                            <a:srgbClr val="2C3E50"/>
                          </a:solidFill>
                          <a:latin typeface="微软雅黑"/>
                        </a:defRPr>
                      </a:pPr>
                      <a:r>
                        <a:t>复数</a:t>
                      </a:r>
                    </a:p>
                  </a:txBody>
                  <a:tcPr>
                    <a:solidFill>
                      <a:srgbClr val="FFFFFF"/>
                    </a:solidFill>
                  </a:tcPr>
                </a:tc>
              </a:tr>
              <a:tr h="548640">
                <a:tc>
                  <a:txBody>
                    <a:bodyPr/>
                    <a:lstStyle/>
                    <a:p>
                      <a:pPr algn="ctr">
                        <a:defRPr sz="1300">
                          <a:solidFill>
                            <a:srgbClr val="2C3E50"/>
                          </a:solidFill>
                          <a:latin typeface="微软雅黑"/>
                        </a:defRPr>
                      </a:pPr>
                      <a:r>
                        <a:t>either</a:t>
                      </a:r>
                    </a:p>
                  </a:txBody>
                  <a:tcPr>
                    <a:solidFill>
                      <a:srgbClr val="EBF5FB"/>
                    </a:solidFill>
                  </a:tcPr>
                </a:tc>
                <a:tc>
                  <a:txBody>
                    <a:bodyPr/>
                    <a:lstStyle/>
                    <a:p>
                      <a:pPr algn="ctr">
                        <a:defRPr sz="1300">
                          <a:solidFill>
                            <a:srgbClr val="2C3E50"/>
                          </a:solidFill>
                          <a:latin typeface="微软雅黑"/>
                        </a:defRPr>
                      </a:pPr>
                      <a:r>
                        <a:t>either...or...</a:t>
                      </a:r>
                    </a:p>
                  </a:txBody>
                  <a:tcPr>
                    <a:solidFill>
                      <a:srgbClr val="EBF5FB"/>
                    </a:solidFill>
                  </a:tcPr>
                </a:tc>
                <a:tc>
                  <a:txBody>
                    <a:bodyPr/>
                    <a:lstStyle/>
                    <a:p>
                      <a:pPr algn="ctr">
                        <a:defRPr sz="1300">
                          <a:solidFill>
                            <a:srgbClr val="2C3E50"/>
                          </a:solidFill>
                          <a:latin typeface="微软雅黑"/>
                        </a:defRPr>
                      </a:pPr>
                      <a:r>
                        <a:t>就近原则</a:t>
                      </a:r>
                    </a:p>
                  </a:txBody>
                  <a:tcPr>
                    <a:solidFill>
                      <a:srgbClr val="EBF5FB"/>
                    </a:solidFill>
                  </a:tcPr>
                </a:tc>
              </a:tr>
              <a:tr h="548640">
                <a:tc>
                  <a:txBody>
                    <a:bodyPr/>
                    <a:lstStyle/>
                    <a:p>
                      <a:pPr algn="ctr">
                        <a:defRPr sz="1300">
                          <a:solidFill>
                            <a:srgbClr val="2C3E50"/>
                          </a:solidFill>
                          <a:latin typeface="微软雅黑"/>
                        </a:defRPr>
                      </a:pPr>
                      <a:r>
                        <a:t>neither</a:t>
                      </a:r>
                    </a:p>
                  </a:txBody>
                  <a:tcPr>
                    <a:solidFill>
                      <a:srgbClr val="FFFFFF"/>
                    </a:solidFill>
                  </a:tcPr>
                </a:tc>
                <a:tc>
                  <a:txBody>
                    <a:bodyPr/>
                    <a:lstStyle/>
                    <a:p>
                      <a:pPr algn="ctr">
                        <a:defRPr sz="1300">
                          <a:solidFill>
                            <a:srgbClr val="2C3E50"/>
                          </a:solidFill>
                          <a:latin typeface="微软雅黑"/>
                        </a:defRPr>
                      </a:pPr>
                      <a:r>
                        <a:t>neither...nor...</a:t>
                      </a:r>
                    </a:p>
                  </a:txBody>
                  <a:tcPr>
                    <a:solidFill>
                      <a:srgbClr val="FFFFFF"/>
                    </a:solidFill>
                  </a:tcPr>
                </a:tc>
                <a:tc>
                  <a:txBody>
                    <a:bodyPr/>
                    <a:lstStyle/>
                    <a:p>
                      <a:pPr algn="ctr">
                        <a:defRPr sz="1300">
                          <a:solidFill>
                            <a:srgbClr val="2C3E50"/>
                          </a:solidFill>
                          <a:latin typeface="微软雅黑"/>
                        </a:defRPr>
                      </a:pPr>
                      <a:r>
                        <a:t>就近原则</a:t>
                      </a:r>
                    </a:p>
                  </a:txBody>
                  <a:tcPr>
                    <a:solidFill>
                      <a:srgbClr val="FFFFFF"/>
                    </a:solidFill>
                  </a:tcPr>
                </a:tc>
              </a:tr>
              <a:tr h="548640">
                <a:tc>
                  <a:txBody>
                    <a:bodyPr/>
                    <a:lstStyle/>
                    <a:p>
                      <a:pPr algn="ctr">
                        <a:defRPr sz="1300">
                          <a:solidFill>
                            <a:srgbClr val="2C3E50"/>
                          </a:solidFill>
                          <a:latin typeface="微软雅黑"/>
                        </a:defRPr>
                      </a:pPr>
                      <a:r>
                        <a:t>—</a:t>
                      </a:r>
                    </a:p>
                  </a:txBody>
                  <a:tcPr>
                    <a:solidFill>
                      <a:srgbClr val="EBF5FB"/>
                    </a:solidFill>
                  </a:tcPr>
                </a:tc>
                <a:tc>
                  <a:txBody>
                    <a:bodyPr/>
                    <a:lstStyle/>
                    <a:p>
                      <a:pPr algn="ctr">
                        <a:defRPr sz="1300">
                          <a:solidFill>
                            <a:srgbClr val="2C3E50"/>
                          </a:solidFill>
                          <a:latin typeface="微软雅黑"/>
                        </a:defRPr>
                      </a:pPr>
                      <a:r>
                        <a:t>not only...but also...</a:t>
                      </a:r>
                    </a:p>
                  </a:txBody>
                  <a:tcPr>
                    <a:solidFill>
                      <a:srgbClr val="EBF5FB"/>
                    </a:solidFill>
                  </a:tcPr>
                </a:tc>
                <a:tc>
                  <a:txBody>
                    <a:bodyPr/>
                    <a:lstStyle/>
                    <a:p>
                      <a:pPr algn="ctr">
                        <a:defRPr sz="1300">
                          <a:solidFill>
                            <a:srgbClr val="2C3E50"/>
                          </a:solidFill>
                          <a:latin typeface="微软雅黑"/>
                        </a:defRPr>
                      </a:pPr>
                      <a:r>
                        <a:t>就近原则</a:t>
                      </a:r>
                    </a:p>
                  </a:txBody>
                  <a:tcPr>
                    <a:solidFill>
                      <a:srgbClr val="EBF5FB"/>
                    </a:solidFill>
                  </a:tcPr>
                </a:tc>
              </a:tr>
            </a:tbl>
          </a:graphicData>
        </a:graphic>
      </p:graphicFrame>
      <p:sp>
        <p:nvSpPr>
          <p:cNvPr id="12" name="Rounded Rectangle 11"/>
          <p:cNvSpPr/>
          <p:nvPr/>
        </p:nvSpPr>
        <p:spPr>
          <a:xfrm>
            <a:off x="457200" y="4846320"/>
            <a:ext cx="8229600" cy="1371600"/>
          </a:xfrm>
          <a:prstGeom prst="roundRect">
            <a:avLst/>
          </a:prstGeom>
          <a:solidFill>
            <a:srgbClr val="FDF2E9"/>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0">
                <a:solidFill>
                  <a:srgbClr val="2C3E50"/>
                </a:solidFill>
                <a:latin typeface="微软雅黑"/>
              </a:defRPr>
            </a:pPr>
            <a:r>
              <a:t>就近原则口诀：「远亲不如近邻」</a:t>
            </a:r>
            <a:br/>
            <a:r>
              <a:t>either...or... / neither...nor... / not only...but also...</a:t>
            </a:r>
            <a:br/>
            <a:r>
              <a:t>→ 谓语动词与最近的主语保持一致！</a:t>
            </a:r>
            <a:br/>
            <a:r>
              <a:t>例：Neither he nor I AM wrong. (am 跟 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并列连词 · 经典例题</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Practice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44</a:t>
            </a:r>
          </a:p>
        </p:txBody>
      </p:sp>
      <p:sp>
        <p:nvSpPr>
          <p:cNvPr id="9" name="Rounded Rectangle 8"/>
          <p:cNvSpPr/>
          <p:nvPr/>
        </p:nvSpPr>
        <p:spPr>
          <a:xfrm>
            <a:off x="457200" y="1097280"/>
            <a:ext cx="1371600" cy="3200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15568"/>
            <a:ext cx="1371600" cy="301752"/>
          </a:xfrm>
          <a:prstGeom prst="rect">
            <a:avLst/>
          </a:prstGeom>
          <a:noFill/>
        </p:spPr>
        <p:txBody>
          <a:bodyPr wrap="square">
            <a:spAutoFit/>
          </a:bodyPr>
          <a:lstStyle/>
          <a:p>
            <a:pPr algn="ctr">
              <a:lnSpc>
                <a:spcPts val="1439"/>
              </a:lnSpc>
              <a:defRPr sz="1200" b="1" i="0">
                <a:solidFill>
                  <a:srgbClr val="FFFFFF"/>
                </a:solidFill>
                <a:latin typeface="微软雅黑"/>
              </a:defRPr>
            </a:pPr>
            <a:r>
              <a:t>课后作业</a:t>
            </a:r>
          </a:p>
        </p:txBody>
      </p:sp>
      <p:sp>
        <p:nvSpPr>
          <p:cNvPr id="11" name="Rounded Rectangle 10"/>
          <p:cNvSpPr/>
          <p:nvPr/>
        </p:nvSpPr>
        <p:spPr>
          <a:xfrm>
            <a:off x="457200" y="1554480"/>
            <a:ext cx="8229600" cy="1188720"/>
          </a:xfrm>
          <a:prstGeom prst="roundRect">
            <a:avLst/>
          </a:prstGeom>
          <a:solidFill>
            <a:srgbClr val="EBF5FB"/>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0">
                <a:solidFill>
                  <a:srgbClr val="2C3E50"/>
                </a:solidFill>
                <a:latin typeface="微软雅黑"/>
              </a:defRPr>
            </a:pPr>
            <a:r>
              <a:t>________ Mars ________ Venus has as much water as Earth does; our planet is unique in the solar system.</a:t>
            </a:r>
            <a:br/>
            <a:br/>
            <a:r>
              <a:t>A. Neither...nor    B. Either...or    C. Both...and    D. Not only...but also</a:t>
            </a:r>
          </a:p>
        </p:txBody>
      </p:sp>
      <p:sp>
        <p:nvSpPr>
          <p:cNvPr id="12" name="Rounded Rectangle 11"/>
          <p:cNvSpPr/>
          <p:nvPr/>
        </p:nvSpPr>
        <p:spPr>
          <a:xfrm>
            <a:off x="457200" y="2926080"/>
            <a:ext cx="8229600" cy="54864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1">
                <a:solidFill>
                  <a:srgbClr val="2C3E50"/>
                </a:solidFill>
                <a:latin typeface="微软雅黑"/>
              </a:defRPr>
            </a:pPr>
            <a:r>
              <a:t>Answer: A. Neither...nor — 火星和金星都没有像地球一样多的水</a:t>
            </a:r>
          </a:p>
        </p:txBody>
      </p:sp>
      <p:sp>
        <p:nvSpPr>
          <p:cNvPr id="13" name="Rounded Rectangle 12"/>
          <p:cNvSpPr/>
          <p:nvPr/>
        </p:nvSpPr>
        <p:spPr>
          <a:xfrm>
            <a:off x="457200" y="3840480"/>
            <a:ext cx="1371600" cy="3200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858768"/>
            <a:ext cx="1371600" cy="301752"/>
          </a:xfrm>
          <a:prstGeom prst="rect">
            <a:avLst/>
          </a:prstGeom>
          <a:noFill/>
        </p:spPr>
        <p:txBody>
          <a:bodyPr wrap="square">
            <a:spAutoFit/>
          </a:bodyPr>
          <a:lstStyle/>
          <a:p>
            <a:pPr algn="ctr">
              <a:lnSpc>
                <a:spcPts val="1439"/>
              </a:lnSpc>
              <a:defRPr sz="1200" b="1" i="0">
                <a:solidFill>
                  <a:srgbClr val="FFFFFF"/>
                </a:solidFill>
                <a:latin typeface="微软雅黑"/>
              </a:defRPr>
            </a:pPr>
            <a:r>
              <a:t>江苏期中</a:t>
            </a:r>
          </a:p>
        </p:txBody>
      </p:sp>
      <p:sp>
        <p:nvSpPr>
          <p:cNvPr id="15" name="Rounded Rectangle 14"/>
          <p:cNvSpPr/>
          <p:nvPr/>
        </p:nvSpPr>
        <p:spPr>
          <a:xfrm>
            <a:off x="457200" y="4297680"/>
            <a:ext cx="8229600" cy="914400"/>
          </a:xfrm>
          <a:prstGeom prst="roundRect">
            <a:avLst/>
          </a:prstGeom>
          <a:solidFill>
            <a:srgbClr val="EBF5FB"/>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0">
                <a:solidFill>
                  <a:srgbClr val="2C3E50"/>
                </a:solidFill>
                <a:latin typeface="微软雅黑"/>
              </a:defRPr>
            </a:pPr>
            <a:r>
              <a:t>Simon is interested in tie-dyeing. I'm interested in tie-dyeing, too.</a:t>
            </a:r>
            <a:br/>
            <a:r>
              <a:t>→ ________ Simon ________ I ________ interested in tie-dyeing.</a:t>
            </a:r>
          </a:p>
        </p:txBody>
      </p:sp>
      <p:sp>
        <p:nvSpPr>
          <p:cNvPr id="16" name="Rounded Rectangle 15"/>
          <p:cNvSpPr/>
          <p:nvPr/>
        </p:nvSpPr>
        <p:spPr>
          <a:xfrm>
            <a:off x="457200" y="5394960"/>
            <a:ext cx="8229600" cy="54864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1">
                <a:solidFill>
                  <a:srgbClr val="2C3E50"/>
                </a:solidFill>
                <a:latin typeface="微软雅黑"/>
              </a:defRPr>
            </a:pPr>
            <a:r>
              <a:t>Answer: Both Simon and I are interested in tie-dyeing.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no-类用法总结 · Negative Pronouns</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Grammar</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45</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400"/>
              </a:lnSpc>
              <a:defRPr sz="2000" b="1" i="0">
                <a:solidFill>
                  <a:srgbClr val="E74C3C"/>
                </a:solidFill>
                <a:latin typeface="微软雅黑"/>
              </a:defRPr>
            </a:pPr>
            <a:r>
              <a:t>否定三剑客：no one / nobody / nothing / none</a:t>
            </a:r>
          </a:p>
        </p:txBody>
      </p:sp>
      <p:graphicFrame>
        <p:nvGraphicFramePr>
          <p:cNvPr id="10" name="Table 9"/>
          <p:cNvGraphicFramePr>
            <a:graphicFrameLocks noGrp="1"/>
          </p:cNvGraphicFramePr>
          <p:nvPr/>
        </p:nvGraphicFramePr>
        <p:xfrm>
          <a:off x="182880" y="1645920"/>
          <a:ext cx="8778240" cy="2743200"/>
        </p:xfrm>
        <a:graphic>
          <a:graphicData uri="http://schemas.openxmlformats.org/drawingml/2006/table">
            <a:tbl>
              <a:tblPr firstRow="1" bandRow="1">
                <a:tableStyleId>{5C22544A-7EE6-4342-B048-85BDC9FD1C3A}</a:tableStyleId>
              </a:tblPr>
              <a:tblGrid>
                <a:gridCol w="1755648"/>
                <a:gridCol w="1755648"/>
                <a:gridCol w="1755648"/>
                <a:gridCol w="1755648"/>
                <a:gridCol w="1755648"/>
              </a:tblGrid>
              <a:tr h="685800">
                <a:tc>
                  <a:txBody>
                    <a:bodyPr/>
                    <a:lstStyle/>
                    <a:p>
                      <a:pPr algn="ctr">
                        <a:defRPr sz="1400" b="1">
                          <a:solidFill>
                            <a:srgbClr val="FFFFFF"/>
                          </a:solidFill>
                          <a:latin typeface="微软雅黑"/>
                        </a:defRPr>
                      </a:pPr>
                      <a:r>
                        <a:t>不定代词</a:t>
                      </a:r>
                    </a:p>
                  </a:txBody>
                  <a:tcPr>
                    <a:solidFill>
                      <a:srgbClr val="E74C3C"/>
                    </a:solidFill>
                  </a:tcPr>
                </a:tc>
                <a:tc>
                  <a:txBody>
                    <a:bodyPr/>
                    <a:lstStyle/>
                    <a:p>
                      <a:pPr algn="ctr">
                        <a:defRPr sz="1400" b="1">
                          <a:solidFill>
                            <a:srgbClr val="FFFFFF"/>
                          </a:solidFill>
                          <a:latin typeface="微软雅黑"/>
                        </a:defRPr>
                      </a:pPr>
                      <a:r>
                        <a:t>含义</a:t>
                      </a:r>
                    </a:p>
                  </a:txBody>
                  <a:tcPr>
                    <a:solidFill>
                      <a:srgbClr val="E74C3C"/>
                    </a:solidFill>
                  </a:tcPr>
                </a:tc>
                <a:tc>
                  <a:txBody>
                    <a:bodyPr/>
                    <a:lstStyle/>
                    <a:p>
                      <a:pPr algn="ctr">
                        <a:defRPr sz="1400" b="1">
                          <a:solidFill>
                            <a:srgbClr val="FFFFFF"/>
                          </a:solidFill>
                          <a:latin typeface="微软雅黑"/>
                        </a:defRPr>
                      </a:pPr>
                      <a:r>
                        <a:t>指代</a:t>
                      </a:r>
                    </a:p>
                  </a:txBody>
                  <a:tcPr>
                    <a:solidFill>
                      <a:srgbClr val="E74C3C"/>
                    </a:solidFill>
                  </a:tcPr>
                </a:tc>
                <a:tc>
                  <a:txBody>
                    <a:bodyPr/>
                    <a:lstStyle/>
                    <a:p>
                      <a:pPr algn="ctr">
                        <a:defRPr sz="1400" b="1">
                          <a:solidFill>
                            <a:srgbClr val="FFFFFF"/>
                          </a:solidFill>
                          <a:latin typeface="微软雅黑"/>
                        </a:defRPr>
                      </a:pPr>
                      <a:r>
                        <a:t>回答</a:t>
                      </a:r>
                    </a:p>
                  </a:txBody>
                  <a:tcPr>
                    <a:solidFill>
                      <a:srgbClr val="E74C3C"/>
                    </a:solidFill>
                  </a:tcPr>
                </a:tc>
                <a:tc>
                  <a:txBody>
                    <a:bodyPr/>
                    <a:lstStyle/>
                    <a:p>
                      <a:pPr algn="ctr">
                        <a:defRPr sz="1400" b="1">
                          <a:solidFill>
                            <a:srgbClr val="FFFFFF"/>
                          </a:solidFill>
                          <a:latin typeface="微软雅黑"/>
                        </a:defRPr>
                      </a:pPr>
                      <a:r>
                        <a:t>例句</a:t>
                      </a:r>
                    </a:p>
                  </a:txBody>
                  <a:tcPr>
                    <a:solidFill>
                      <a:srgbClr val="E74C3C"/>
                    </a:solidFill>
                  </a:tcPr>
                </a:tc>
              </a:tr>
              <a:tr h="685800">
                <a:tc>
                  <a:txBody>
                    <a:bodyPr/>
                    <a:lstStyle/>
                    <a:p>
                      <a:pPr algn="ctr">
                        <a:defRPr sz="1300">
                          <a:solidFill>
                            <a:srgbClr val="2C3E50"/>
                          </a:solidFill>
                          <a:latin typeface="微软雅黑"/>
                        </a:defRPr>
                      </a:pPr>
                      <a:r>
                        <a:t>no one / nobody</a:t>
                      </a:r>
                    </a:p>
                  </a:txBody>
                  <a:tcPr>
                    <a:solidFill>
                      <a:srgbClr val="FFFFFF"/>
                    </a:solidFill>
                  </a:tcPr>
                </a:tc>
                <a:tc>
                  <a:txBody>
                    <a:bodyPr/>
                    <a:lstStyle/>
                    <a:p>
                      <a:pPr algn="ctr">
                        <a:defRPr sz="1300">
                          <a:solidFill>
                            <a:srgbClr val="2C3E50"/>
                          </a:solidFill>
                          <a:latin typeface="微软雅黑"/>
                        </a:defRPr>
                      </a:pPr>
                      <a:r>
                        <a:t>没有人</a:t>
                      </a:r>
                    </a:p>
                  </a:txBody>
                  <a:tcPr>
                    <a:solidFill>
                      <a:srgbClr val="FFFFFF"/>
                    </a:solidFill>
                  </a:tcPr>
                </a:tc>
                <a:tc>
                  <a:txBody>
                    <a:bodyPr/>
                    <a:lstStyle/>
                    <a:p>
                      <a:pPr algn="ctr">
                        <a:defRPr sz="1300">
                          <a:solidFill>
                            <a:srgbClr val="2C3E50"/>
                          </a:solidFill>
                          <a:latin typeface="微软雅黑"/>
                        </a:defRPr>
                      </a:pPr>
                      <a:r>
                        <a:t>只指人</a:t>
                      </a:r>
                    </a:p>
                  </a:txBody>
                  <a:tcPr>
                    <a:solidFill>
                      <a:srgbClr val="FFFFFF"/>
                    </a:solidFill>
                  </a:tcPr>
                </a:tc>
                <a:tc>
                  <a:txBody>
                    <a:bodyPr/>
                    <a:lstStyle/>
                    <a:p>
                      <a:pPr algn="ctr">
                        <a:defRPr sz="1300">
                          <a:solidFill>
                            <a:srgbClr val="2C3E50"/>
                          </a:solidFill>
                          <a:latin typeface="微软雅黑"/>
                        </a:defRPr>
                      </a:pPr>
                      <a:r>
                        <a:t>回答 Who</a:t>
                      </a:r>
                    </a:p>
                  </a:txBody>
                  <a:tcPr>
                    <a:solidFill>
                      <a:srgbClr val="FFFFFF"/>
                    </a:solidFill>
                  </a:tcPr>
                </a:tc>
                <a:tc>
                  <a:txBody>
                    <a:bodyPr/>
                    <a:lstStyle/>
                    <a:p>
                      <a:pPr algn="ctr">
                        <a:defRPr sz="1300">
                          <a:solidFill>
                            <a:srgbClr val="2C3E50"/>
                          </a:solidFill>
                          <a:latin typeface="微软雅黑"/>
                        </a:defRPr>
                      </a:pPr>
                      <a:r>
                        <a:t>Who is there? — No one.</a:t>
                      </a:r>
                    </a:p>
                  </a:txBody>
                  <a:tcPr>
                    <a:solidFill>
                      <a:srgbClr val="FFFFFF"/>
                    </a:solidFill>
                  </a:tcPr>
                </a:tc>
              </a:tr>
              <a:tr h="685800">
                <a:tc>
                  <a:txBody>
                    <a:bodyPr/>
                    <a:lstStyle/>
                    <a:p>
                      <a:pPr algn="ctr">
                        <a:defRPr sz="1300">
                          <a:solidFill>
                            <a:srgbClr val="2C3E50"/>
                          </a:solidFill>
                          <a:latin typeface="微软雅黑"/>
                        </a:defRPr>
                      </a:pPr>
                      <a:r>
                        <a:t>nothing</a:t>
                      </a:r>
                    </a:p>
                  </a:txBody>
                  <a:tcPr>
                    <a:solidFill>
                      <a:srgbClr val="EBF5FB"/>
                    </a:solidFill>
                  </a:tcPr>
                </a:tc>
                <a:tc>
                  <a:txBody>
                    <a:bodyPr/>
                    <a:lstStyle/>
                    <a:p>
                      <a:pPr algn="ctr">
                        <a:defRPr sz="1300">
                          <a:solidFill>
                            <a:srgbClr val="2C3E50"/>
                          </a:solidFill>
                          <a:latin typeface="微软雅黑"/>
                        </a:defRPr>
                      </a:pPr>
                      <a:r>
                        <a:t>没有什么</a:t>
                      </a:r>
                    </a:p>
                  </a:txBody>
                  <a:tcPr>
                    <a:solidFill>
                      <a:srgbClr val="EBF5FB"/>
                    </a:solidFill>
                  </a:tcPr>
                </a:tc>
                <a:tc>
                  <a:txBody>
                    <a:bodyPr/>
                    <a:lstStyle/>
                    <a:p>
                      <a:pPr algn="ctr">
                        <a:defRPr sz="1300">
                          <a:solidFill>
                            <a:srgbClr val="2C3E50"/>
                          </a:solidFill>
                          <a:latin typeface="微软雅黑"/>
                        </a:defRPr>
                      </a:pPr>
                      <a:r>
                        <a:t>只指物</a:t>
                      </a:r>
                    </a:p>
                  </a:txBody>
                  <a:tcPr>
                    <a:solidFill>
                      <a:srgbClr val="EBF5FB"/>
                    </a:solidFill>
                  </a:tcPr>
                </a:tc>
                <a:tc>
                  <a:txBody>
                    <a:bodyPr/>
                    <a:lstStyle/>
                    <a:p>
                      <a:pPr algn="ctr">
                        <a:defRPr sz="1300">
                          <a:solidFill>
                            <a:srgbClr val="2C3E50"/>
                          </a:solidFill>
                          <a:latin typeface="微软雅黑"/>
                        </a:defRPr>
                      </a:pPr>
                      <a:r>
                        <a:t>回答 What</a:t>
                      </a:r>
                    </a:p>
                  </a:txBody>
                  <a:tcPr>
                    <a:solidFill>
                      <a:srgbClr val="EBF5FB"/>
                    </a:solidFill>
                  </a:tcPr>
                </a:tc>
                <a:tc>
                  <a:txBody>
                    <a:bodyPr/>
                    <a:lstStyle/>
                    <a:p>
                      <a:pPr algn="ctr">
                        <a:defRPr sz="1300">
                          <a:solidFill>
                            <a:srgbClr val="2C3E50"/>
                          </a:solidFill>
                          <a:latin typeface="微软雅黑"/>
                        </a:defRPr>
                      </a:pPr>
                      <a:r>
                        <a:t>What's in the box? — Nothing.</a:t>
                      </a:r>
                    </a:p>
                  </a:txBody>
                  <a:tcPr>
                    <a:solidFill>
                      <a:srgbClr val="EBF5FB"/>
                    </a:solidFill>
                  </a:tcPr>
                </a:tc>
              </a:tr>
              <a:tr h="685800">
                <a:tc>
                  <a:txBody>
                    <a:bodyPr/>
                    <a:lstStyle/>
                    <a:p>
                      <a:pPr algn="ctr">
                        <a:defRPr sz="1300">
                          <a:solidFill>
                            <a:srgbClr val="2C3E50"/>
                          </a:solidFill>
                          <a:latin typeface="微软雅黑"/>
                        </a:defRPr>
                      </a:pPr>
                      <a:r>
                        <a:t>none</a:t>
                      </a:r>
                    </a:p>
                  </a:txBody>
                  <a:tcPr>
                    <a:solidFill>
                      <a:srgbClr val="FFFFFF"/>
                    </a:solidFill>
                  </a:tcPr>
                </a:tc>
                <a:tc>
                  <a:txBody>
                    <a:bodyPr/>
                    <a:lstStyle/>
                    <a:p>
                      <a:pPr algn="ctr">
                        <a:defRPr sz="1300">
                          <a:solidFill>
                            <a:srgbClr val="2C3E50"/>
                          </a:solidFill>
                          <a:latin typeface="微软雅黑"/>
                        </a:defRPr>
                      </a:pPr>
                      <a:r>
                        <a:t>一个也没有</a:t>
                      </a:r>
                    </a:p>
                  </a:txBody>
                  <a:tcPr>
                    <a:solidFill>
                      <a:srgbClr val="FFFFFF"/>
                    </a:solidFill>
                  </a:tcPr>
                </a:tc>
                <a:tc>
                  <a:txBody>
                    <a:bodyPr/>
                    <a:lstStyle/>
                    <a:p>
                      <a:pPr algn="ctr">
                        <a:defRPr sz="1300">
                          <a:solidFill>
                            <a:srgbClr val="2C3E50"/>
                          </a:solidFill>
                          <a:latin typeface="微软雅黑"/>
                        </a:defRPr>
                      </a:pPr>
                      <a:r>
                        <a:t>人/物均可</a:t>
                      </a:r>
                    </a:p>
                  </a:txBody>
                  <a:tcPr>
                    <a:solidFill>
                      <a:srgbClr val="FFFFFF"/>
                    </a:solidFill>
                  </a:tcPr>
                </a:tc>
                <a:tc>
                  <a:txBody>
                    <a:bodyPr/>
                    <a:lstStyle/>
                    <a:p>
                      <a:pPr algn="ctr">
                        <a:defRPr sz="1300">
                          <a:solidFill>
                            <a:srgbClr val="2C3E50"/>
                          </a:solidFill>
                          <a:latin typeface="微软雅黑"/>
                        </a:defRPr>
                      </a:pPr>
                      <a:r>
                        <a:t>回答 How many/much</a:t>
                      </a:r>
                    </a:p>
                  </a:txBody>
                  <a:tcPr>
                    <a:solidFill>
                      <a:srgbClr val="FFFFFF"/>
                    </a:solidFill>
                  </a:tcPr>
                </a:tc>
                <a:tc>
                  <a:txBody>
                    <a:bodyPr/>
                    <a:lstStyle/>
                    <a:p>
                      <a:pPr algn="ctr">
                        <a:defRPr sz="1300">
                          <a:solidFill>
                            <a:srgbClr val="2C3E50"/>
                          </a:solidFill>
                          <a:latin typeface="微软雅黑"/>
                        </a:defRPr>
                      </a:pPr>
                      <a:r>
                        <a:t>How many? — None.</a:t>
                      </a:r>
                    </a:p>
                  </a:txBody>
                  <a:tcPr>
                    <a:solidFill>
                      <a:srgbClr val="FFFFFF"/>
                    </a:solidFill>
                  </a:tcPr>
                </a:tc>
              </a:tr>
            </a:tbl>
          </a:graphicData>
        </a:graphic>
      </p:graphicFrame>
      <p:sp>
        <p:nvSpPr>
          <p:cNvPr id="11" name="Rounded Rectangle 10"/>
          <p:cNvSpPr/>
          <p:nvPr/>
        </p:nvSpPr>
        <p:spPr>
          <a:xfrm>
            <a:off x="457200" y="4754880"/>
            <a:ext cx="8229600" cy="1371600"/>
          </a:xfrm>
          <a:prstGeom prst="roundRect">
            <a:avLst/>
          </a:prstGeom>
          <a:solidFill>
            <a:srgbClr val="FDF2E9"/>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0">
                <a:solidFill>
                  <a:srgbClr val="2C3E50"/>
                </a:solidFill>
                <a:latin typeface="微软雅黑"/>
              </a:defRPr>
            </a:pPr>
            <a:r>
              <a:t>核心区分口诀：</a:t>
            </a:r>
            <a:br/>
            <a:r>
              <a:t>• 问 Who → 用 No one / Nobody    问 What → 用 Nothing</a:t>
            </a:r>
            <a:br/>
            <a:r>
              <a:t>• 问 How many / How much → 用 None</a:t>
            </a:r>
            <a:br/>
            <a:r>
              <a:t>• None 强调数量为零，可指人也可指物！</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否定三剑客 · Practice</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Practice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46</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160"/>
              </a:lnSpc>
              <a:defRPr sz="1800" b="1" i="0">
                <a:solidFill>
                  <a:srgbClr val="E74C3C"/>
                </a:solidFill>
                <a:latin typeface="微软雅黑"/>
              </a:defRPr>
            </a:pPr>
            <a:r>
              <a:t>用 none / nobody / nothing 回答下列问题</a:t>
            </a:r>
          </a:p>
        </p:txBody>
      </p:sp>
      <p:sp>
        <p:nvSpPr>
          <p:cNvPr id="10" name="TextBox 9"/>
          <p:cNvSpPr txBox="1"/>
          <p:nvPr/>
        </p:nvSpPr>
        <p:spPr>
          <a:xfrm>
            <a:off x="457200" y="1737360"/>
            <a:ext cx="5486400" cy="365760"/>
          </a:xfrm>
          <a:prstGeom prst="rect">
            <a:avLst/>
          </a:prstGeom>
          <a:noFill/>
        </p:spPr>
        <p:txBody>
          <a:bodyPr wrap="square">
            <a:spAutoFit/>
          </a:bodyPr>
          <a:lstStyle/>
          <a:p>
            <a:pPr algn="l">
              <a:lnSpc>
                <a:spcPts val="1800"/>
              </a:lnSpc>
              <a:defRPr sz="1500" b="0" i="0">
                <a:solidFill>
                  <a:srgbClr val="2C3E50"/>
                </a:solidFill>
                <a:latin typeface="微软雅黑"/>
              </a:defRPr>
            </a:pPr>
            <a:r>
              <a:t>1. A: What did you eat for breakfast?</a:t>
            </a:r>
          </a:p>
        </p:txBody>
      </p:sp>
      <p:sp>
        <p:nvSpPr>
          <p:cNvPr id="11" name="Rounded Rectangle 10"/>
          <p:cNvSpPr/>
          <p:nvPr/>
        </p:nvSpPr>
        <p:spPr>
          <a:xfrm>
            <a:off x="457200" y="2148840"/>
            <a:ext cx="3657600" cy="365760"/>
          </a:xfrm>
          <a:prstGeom prst="roundRect">
            <a:avLst/>
          </a:prstGeom>
          <a:solidFill>
            <a:srgbClr val="E8F8EE"/>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167128"/>
            <a:ext cx="3474720" cy="329184"/>
          </a:xfrm>
          <a:prstGeom prst="rect">
            <a:avLst/>
          </a:prstGeom>
          <a:noFill/>
        </p:spPr>
        <p:txBody>
          <a:bodyPr wrap="square">
            <a:spAutoFit/>
          </a:bodyPr>
          <a:lstStyle/>
          <a:p>
            <a:pPr algn="l">
              <a:lnSpc>
                <a:spcPts val="1680"/>
              </a:lnSpc>
              <a:defRPr sz="1400" b="1" i="0">
                <a:solidFill>
                  <a:srgbClr val="27AE60"/>
                </a:solidFill>
                <a:latin typeface="微软雅黑"/>
              </a:defRPr>
            </a:pPr>
            <a:r>
              <a:t>B: Nothing.</a:t>
            </a:r>
          </a:p>
        </p:txBody>
      </p:sp>
      <p:sp>
        <p:nvSpPr>
          <p:cNvPr id="13" name="TextBox 12"/>
          <p:cNvSpPr txBox="1"/>
          <p:nvPr/>
        </p:nvSpPr>
        <p:spPr>
          <a:xfrm>
            <a:off x="4572000" y="2167128"/>
            <a:ext cx="4114800" cy="329184"/>
          </a:xfrm>
          <a:prstGeom prst="rect">
            <a:avLst/>
          </a:prstGeom>
          <a:noFill/>
        </p:spPr>
        <p:txBody>
          <a:bodyPr wrap="square">
            <a:spAutoFit/>
          </a:bodyPr>
          <a:lstStyle/>
          <a:p>
            <a:pPr algn="l">
              <a:lnSpc>
                <a:spcPts val="1439"/>
              </a:lnSpc>
              <a:defRPr sz="1200" b="0" i="0">
                <a:solidFill>
                  <a:srgbClr val="95A5A6"/>
                </a:solidFill>
                <a:latin typeface="微软雅黑"/>
              </a:defRPr>
            </a:pPr>
            <a:r>
              <a:t>💡 问 What → Nothing</a:t>
            </a:r>
          </a:p>
        </p:txBody>
      </p:sp>
      <p:sp>
        <p:nvSpPr>
          <p:cNvPr id="14" name="TextBox 13"/>
          <p:cNvSpPr txBox="1"/>
          <p:nvPr/>
        </p:nvSpPr>
        <p:spPr>
          <a:xfrm>
            <a:off x="457200" y="2926080"/>
            <a:ext cx="5486400" cy="365760"/>
          </a:xfrm>
          <a:prstGeom prst="rect">
            <a:avLst/>
          </a:prstGeom>
          <a:noFill/>
        </p:spPr>
        <p:txBody>
          <a:bodyPr wrap="square">
            <a:spAutoFit/>
          </a:bodyPr>
          <a:lstStyle/>
          <a:p>
            <a:pPr algn="l">
              <a:lnSpc>
                <a:spcPts val="1800"/>
              </a:lnSpc>
              <a:defRPr sz="1500" b="0" i="0">
                <a:solidFill>
                  <a:srgbClr val="2C3E50"/>
                </a:solidFill>
                <a:latin typeface="微软雅黑"/>
              </a:defRPr>
            </a:pPr>
            <a:r>
              <a:t>2. A: Who helped you with your homework?</a:t>
            </a:r>
          </a:p>
        </p:txBody>
      </p:sp>
      <p:sp>
        <p:nvSpPr>
          <p:cNvPr id="15" name="Rounded Rectangle 14"/>
          <p:cNvSpPr/>
          <p:nvPr/>
        </p:nvSpPr>
        <p:spPr>
          <a:xfrm>
            <a:off x="457200" y="3337560"/>
            <a:ext cx="3657600" cy="365760"/>
          </a:xfrm>
          <a:prstGeom prst="roundRect">
            <a:avLst/>
          </a:prstGeom>
          <a:solidFill>
            <a:srgbClr val="E8F8EE"/>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355848"/>
            <a:ext cx="3474720" cy="329184"/>
          </a:xfrm>
          <a:prstGeom prst="rect">
            <a:avLst/>
          </a:prstGeom>
          <a:noFill/>
        </p:spPr>
        <p:txBody>
          <a:bodyPr wrap="square">
            <a:spAutoFit/>
          </a:bodyPr>
          <a:lstStyle/>
          <a:p>
            <a:pPr algn="l">
              <a:lnSpc>
                <a:spcPts val="1680"/>
              </a:lnSpc>
              <a:defRPr sz="1400" b="1" i="0">
                <a:solidFill>
                  <a:srgbClr val="27AE60"/>
                </a:solidFill>
                <a:latin typeface="微软雅黑"/>
              </a:defRPr>
            </a:pPr>
            <a:r>
              <a:t>B: Nobody / No one.</a:t>
            </a:r>
          </a:p>
        </p:txBody>
      </p:sp>
      <p:sp>
        <p:nvSpPr>
          <p:cNvPr id="17" name="TextBox 16"/>
          <p:cNvSpPr txBox="1"/>
          <p:nvPr/>
        </p:nvSpPr>
        <p:spPr>
          <a:xfrm>
            <a:off x="4572000" y="3355848"/>
            <a:ext cx="4114800" cy="329184"/>
          </a:xfrm>
          <a:prstGeom prst="rect">
            <a:avLst/>
          </a:prstGeom>
          <a:noFill/>
        </p:spPr>
        <p:txBody>
          <a:bodyPr wrap="square">
            <a:spAutoFit/>
          </a:bodyPr>
          <a:lstStyle/>
          <a:p>
            <a:pPr algn="l">
              <a:lnSpc>
                <a:spcPts val="1439"/>
              </a:lnSpc>
              <a:defRPr sz="1200" b="0" i="0">
                <a:solidFill>
                  <a:srgbClr val="95A5A6"/>
                </a:solidFill>
                <a:latin typeface="微软雅黑"/>
              </a:defRPr>
            </a:pPr>
            <a:r>
              <a:t>💡 问 Who → Nobody</a:t>
            </a:r>
          </a:p>
        </p:txBody>
      </p:sp>
      <p:sp>
        <p:nvSpPr>
          <p:cNvPr id="18" name="TextBox 17"/>
          <p:cNvSpPr txBox="1"/>
          <p:nvPr/>
        </p:nvSpPr>
        <p:spPr>
          <a:xfrm>
            <a:off x="457200" y="4114800"/>
            <a:ext cx="5486400" cy="365760"/>
          </a:xfrm>
          <a:prstGeom prst="rect">
            <a:avLst/>
          </a:prstGeom>
          <a:noFill/>
        </p:spPr>
        <p:txBody>
          <a:bodyPr wrap="square">
            <a:spAutoFit/>
          </a:bodyPr>
          <a:lstStyle/>
          <a:p>
            <a:pPr algn="l">
              <a:lnSpc>
                <a:spcPts val="1800"/>
              </a:lnSpc>
              <a:defRPr sz="1500" b="0" i="0">
                <a:solidFill>
                  <a:srgbClr val="2C3E50"/>
                </a:solidFill>
                <a:latin typeface="微软雅黑"/>
              </a:defRPr>
            </a:pPr>
            <a:r>
              <a:t>3. A: How many cakes are left on the plate?</a:t>
            </a:r>
          </a:p>
        </p:txBody>
      </p:sp>
      <p:sp>
        <p:nvSpPr>
          <p:cNvPr id="19" name="Rounded Rectangle 18"/>
          <p:cNvSpPr/>
          <p:nvPr/>
        </p:nvSpPr>
        <p:spPr>
          <a:xfrm>
            <a:off x="457200" y="4526280"/>
            <a:ext cx="3657600" cy="365760"/>
          </a:xfrm>
          <a:prstGeom prst="roundRect">
            <a:avLst/>
          </a:prstGeom>
          <a:solidFill>
            <a:srgbClr val="E8F8EE"/>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44568"/>
            <a:ext cx="3474720" cy="329184"/>
          </a:xfrm>
          <a:prstGeom prst="rect">
            <a:avLst/>
          </a:prstGeom>
          <a:noFill/>
        </p:spPr>
        <p:txBody>
          <a:bodyPr wrap="square">
            <a:spAutoFit/>
          </a:bodyPr>
          <a:lstStyle/>
          <a:p>
            <a:pPr algn="l">
              <a:lnSpc>
                <a:spcPts val="1680"/>
              </a:lnSpc>
              <a:defRPr sz="1400" b="1" i="0">
                <a:solidFill>
                  <a:srgbClr val="27AE60"/>
                </a:solidFill>
                <a:latin typeface="微软雅黑"/>
              </a:defRPr>
            </a:pPr>
            <a:r>
              <a:t>B: None.</a:t>
            </a:r>
          </a:p>
        </p:txBody>
      </p:sp>
      <p:sp>
        <p:nvSpPr>
          <p:cNvPr id="21" name="TextBox 20"/>
          <p:cNvSpPr txBox="1"/>
          <p:nvPr/>
        </p:nvSpPr>
        <p:spPr>
          <a:xfrm>
            <a:off x="4572000" y="4544568"/>
            <a:ext cx="4114800" cy="329184"/>
          </a:xfrm>
          <a:prstGeom prst="rect">
            <a:avLst/>
          </a:prstGeom>
          <a:noFill/>
        </p:spPr>
        <p:txBody>
          <a:bodyPr wrap="square">
            <a:spAutoFit/>
          </a:bodyPr>
          <a:lstStyle/>
          <a:p>
            <a:pPr algn="l">
              <a:lnSpc>
                <a:spcPts val="1439"/>
              </a:lnSpc>
              <a:defRPr sz="1200" b="0" i="0">
                <a:solidFill>
                  <a:srgbClr val="95A5A6"/>
                </a:solidFill>
                <a:latin typeface="微软雅黑"/>
              </a:defRPr>
            </a:pPr>
            <a:r>
              <a:t>💡 问 How many → None</a:t>
            </a:r>
          </a:p>
        </p:txBody>
      </p:sp>
      <p:sp>
        <p:nvSpPr>
          <p:cNvPr id="22" name="TextBox 21"/>
          <p:cNvSpPr txBox="1"/>
          <p:nvPr/>
        </p:nvSpPr>
        <p:spPr>
          <a:xfrm>
            <a:off x="457200" y="5303520"/>
            <a:ext cx="5486400" cy="365760"/>
          </a:xfrm>
          <a:prstGeom prst="rect">
            <a:avLst/>
          </a:prstGeom>
          <a:noFill/>
        </p:spPr>
        <p:txBody>
          <a:bodyPr wrap="square">
            <a:spAutoFit/>
          </a:bodyPr>
          <a:lstStyle/>
          <a:p>
            <a:pPr algn="l">
              <a:lnSpc>
                <a:spcPts val="1800"/>
              </a:lnSpc>
              <a:defRPr sz="1500" b="0" i="0">
                <a:solidFill>
                  <a:srgbClr val="2C3E50"/>
                </a:solidFill>
                <a:latin typeface="微软雅黑"/>
              </a:defRPr>
            </a:pPr>
            <a:r>
              <a:t>4. A: Is there any juice in the fridge?</a:t>
            </a:r>
          </a:p>
        </p:txBody>
      </p:sp>
      <p:sp>
        <p:nvSpPr>
          <p:cNvPr id="23" name="Rounded Rectangle 22"/>
          <p:cNvSpPr/>
          <p:nvPr/>
        </p:nvSpPr>
        <p:spPr>
          <a:xfrm>
            <a:off x="457200" y="5715000"/>
            <a:ext cx="3657600" cy="365760"/>
          </a:xfrm>
          <a:prstGeom prst="roundRect">
            <a:avLst/>
          </a:prstGeom>
          <a:solidFill>
            <a:srgbClr val="E8F8EE"/>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5733288"/>
            <a:ext cx="3474720" cy="329184"/>
          </a:xfrm>
          <a:prstGeom prst="rect">
            <a:avLst/>
          </a:prstGeom>
          <a:noFill/>
        </p:spPr>
        <p:txBody>
          <a:bodyPr wrap="square">
            <a:spAutoFit/>
          </a:bodyPr>
          <a:lstStyle/>
          <a:p>
            <a:pPr algn="l">
              <a:lnSpc>
                <a:spcPts val="1680"/>
              </a:lnSpc>
              <a:defRPr sz="1400" b="1" i="0">
                <a:solidFill>
                  <a:srgbClr val="27AE60"/>
                </a:solidFill>
                <a:latin typeface="微软雅黑"/>
              </a:defRPr>
            </a:pPr>
            <a:r>
              <a:t>B: None.</a:t>
            </a:r>
          </a:p>
        </p:txBody>
      </p:sp>
      <p:sp>
        <p:nvSpPr>
          <p:cNvPr id="25" name="TextBox 24"/>
          <p:cNvSpPr txBox="1"/>
          <p:nvPr/>
        </p:nvSpPr>
        <p:spPr>
          <a:xfrm>
            <a:off x="4572000" y="5733288"/>
            <a:ext cx="4114800" cy="329184"/>
          </a:xfrm>
          <a:prstGeom prst="rect">
            <a:avLst/>
          </a:prstGeom>
          <a:noFill/>
        </p:spPr>
        <p:txBody>
          <a:bodyPr wrap="square">
            <a:spAutoFit/>
          </a:bodyPr>
          <a:lstStyle/>
          <a:p>
            <a:pPr algn="l">
              <a:lnSpc>
                <a:spcPts val="1439"/>
              </a:lnSpc>
              <a:defRPr sz="1200" b="0" i="0">
                <a:solidFill>
                  <a:srgbClr val="95A5A6"/>
                </a:solidFill>
                <a:latin typeface="微软雅黑"/>
              </a:defRPr>
            </a:pPr>
            <a:r>
              <a:t>💡 问数量(any) → None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no-类 · 经典例题</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Practice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47</a:t>
            </a:r>
          </a:p>
        </p:txBody>
      </p:sp>
      <p:sp>
        <p:nvSpPr>
          <p:cNvPr id="9" name="Rounded Rectangle 8"/>
          <p:cNvSpPr/>
          <p:nvPr/>
        </p:nvSpPr>
        <p:spPr>
          <a:xfrm>
            <a:off x="457200" y="1097280"/>
            <a:ext cx="1371600" cy="3200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15568"/>
            <a:ext cx="1371600" cy="301752"/>
          </a:xfrm>
          <a:prstGeom prst="rect">
            <a:avLst/>
          </a:prstGeom>
          <a:noFill/>
        </p:spPr>
        <p:txBody>
          <a:bodyPr wrap="square">
            <a:spAutoFit/>
          </a:bodyPr>
          <a:lstStyle/>
          <a:p>
            <a:pPr algn="ctr">
              <a:lnSpc>
                <a:spcPts val="1439"/>
              </a:lnSpc>
              <a:defRPr sz="1200" b="1" i="0">
                <a:solidFill>
                  <a:srgbClr val="FFFFFF"/>
                </a:solidFill>
                <a:latin typeface="微软雅黑"/>
              </a:defRPr>
            </a:pPr>
            <a:r>
              <a:t>江苏月考</a:t>
            </a:r>
          </a:p>
        </p:txBody>
      </p:sp>
      <p:sp>
        <p:nvSpPr>
          <p:cNvPr id="11" name="Rounded Rectangle 10"/>
          <p:cNvSpPr/>
          <p:nvPr/>
        </p:nvSpPr>
        <p:spPr>
          <a:xfrm>
            <a:off x="457200" y="1554480"/>
            <a:ext cx="8229600" cy="1371600"/>
          </a:xfrm>
          <a:prstGeom prst="roundRect">
            <a:avLst/>
          </a:prstGeom>
          <a:solidFill>
            <a:srgbClr val="EBF5FB"/>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600" b="0">
                <a:solidFill>
                  <a:srgbClr val="2C3E50"/>
                </a:solidFill>
                <a:latin typeface="微软雅黑"/>
              </a:defRPr>
            </a:pPr>
            <a:r>
              <a:t>—Mum, can I have a cake?</a:t>
            </a:r>
            <a:br/>
            <a:r>
              <a:t>—Sorry, there is ________ left. There is ________ to eat at home now.</a:t>
            </a:r>
            <a:br/>
            <a:br/>
            <a:r>
              <a:t>A. none, none    B. none, nothing    C. nothing, none    D. nothing, nothing</a:t>
            </a:r>
          </a:p>
        </p:txBody>
      </p:sp>
      <p:sp>
        <p:nvSpPr>
          <p:cNvPr id="12" name="Rounded Rectangle 11"/>
          <p:cNvSpPr/>
          <p:nvPr/>
        </p:nvSpPr>
        <p:spPr>
          <a:xfrm>
            <a:off x="457200" y="3200400"/>
            <a:ext cx="8229600" cy="182880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0">
                <a:solidFill>
                  <a:srgbClr val="2C3E50"/>
                </a:solidFill>
                <a:latin typeface="微软雅黑"/>
              </a:defRPr>
            </a:pPr>
            <a:r>
              <a:t>Answer: B. none, nothing</a:t>
            </a:r>
            <a:br/>
            <a:br/>
            <a:r>
              <a:t>解析：</a:t>
            </a:r>
            <a:br/>
            <a:r>
              <a:t>第一空：there is ________ left → cake 可数，问数量 → none</a:t>
            </a:r>
            <a:br/>
            <a:r>
              <a:t>（none = 一个也没有，强调数量为零）</a:t>
            </a:r>
            <a:br/>
            <a:r>
              <a:t>第二空：there is ________ to eat → 泛指"没什么东西吃" → nothing</a:t>
            </a:r>
            <a:br/>
            <a:r>
              <a:t>（nothing 指"没有什么东西"，强调事物）</a:t>
            </a:r>
          </a:p>
        </p:txBody>
      </p:sp>
      <p:sp>
        <p:nvSpPr>
          <p:cNvPr id="13" name="TextBox 12"/>
          <p:cNvSpPr txBox="1"/>
          <p:nvPr/>
        </p:nvSpPr>
        <p:spPr>
          <a:xfrm>
            <a:off x="457200" y="5303520"/>
            <a:ext cx="8229600" cy="365760"/>
          </a:xfrm>
          <a:prstGeom prst="rect">
            <a:avLst/>
          </a:prstGeom>
          <a:noFill/>
        </p:spPr>
        <p:txBody>
          <a:bodyPr wrap="square">
            <a:spAutoFit/>
          </a:bodyPr>
          <a:lstStyle/>
          <a:p>
            <a:pPr algn="l">
              <a:lnSpc>
                <a:spcPts val="1800"/>
              </a:lnSpc>
              <a:defRPr sz="1500" b="1" i="0">
                <a:solidFill>
                  <a:srgbClr val="E74C3C"/>
                </a:solidFill>
                <a:latin typeface="微软雅黑"/>
              </a:defRPr>
            </a:pPr>
            <a:r>
              <a:t>单元测试 · 翻译：没有一则新闻是非常令人激动的。</a:t>
            </a:r>
          </a:p>
        </p:txBody>
      </p:sp>
      <p:sp>
        <p:nvSpPr>
          <p:cNvPr id="14" name="Rounded Rectangle 13"/>
          <p:cNvSpPr/>
          <p:nvPr/>
        </p:nvSpPr>
        <p:spPr>
          <a:xfrm>
            <a:off x="457200" y="5669280"/>
            <a:ext cx="8229600" cy="457200"/>
          </a:xfrm>
          <a:prstGeom prst="roundRect">
            <a:avLst/>
          </a:prstGeom>
          <a:solidFill>
            <a:srgbClr val="FDF2E9"/>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1">
                <a:solidFill>
                  <a:srgbClr val="2C3E50"/>
                </a:solidFill>
                <a:latin typeface="微软雅黑"/>
              </a:defRPr>
            </a:pPr>
            <a:r>
              <a:t>None of the news is very exciting.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other 系列 · 五胞胎详解</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Grammar</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48</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640"/>
              </a:lnSpc>
              <a:defRPr sz="2200" b="1" i="0">
                <a:solidFill>
                  <a:srgbClr val="F39C12"/>
                </a:solidFill>
                <a:latin typeface="微软雅黑"/>
              </a:defRPr>
            </a:pPr>
            <a:r>
              <a:t>other 五兄弟 · The Other Family</a:t>
            </a:r>
          </a:p>
        </p:txBody>
      </p:sp>
      <p:graphicFrame>
        <p:nvGraphicFramePr>
          <p:cNvPr id="10" name="Table 9"/>
          <p:cNvGraphicFramePr>
            <a:graphicFrameLocks noGrp="1"/>
          </p:cNvGraphicFramePr>
          <p:nvPr/>
        </p:nvGraphicFramePr>
        <p:xfrm>
          <a:off x="182880" y="1645920"/>
          <a:ext cx="8778240" cy="3657600"/>
        </p:xfrm>
        <a:graphic>
          <a:graphicData uri="http://schemas.openxmlformats.org/drawingml/2006/table">
            <a:tbl>
              <a:tblPr firstRow="1" bandRow="1">
                <a:tableStyleId>{5C22544A-7EE6-4342-B048-85BDC9FD1C3A}</a:tableStyleId>
              </a:tblPr>
              <a:tblGrid>
                <a:gridCol w="1755648"/>
                <a:gridCol w="1755648"/>
                <a:gridCol w="1755648"/>
                <a:gridCol w="1755648"/>
                <a:gridCol w="1755648"/>
              </a:tblGrid>
              <a:tr h="609600">
                <a:tc>
                  <a:txBody>
                    <a:bodyPr/>
                    <a:lstStyle/>
                    <a:p>
                      <a:pPr algn="ctr">
                        <a:defRPr sz="1400" b="1">
                          <a:solidFill>
                            <a:srgbClr val="FFFFFF"/>
                          </a:solidFill>
                          <a:latin typeface="微软雅黑"/>
                        </a:defRPr>
                      </a:pPr>
                      <a:r>
                        <a:t>单词</a:t>
                      </a:r>
                    </a:p>
                  </a:txBody>
                  <a:tcPr>
                    <a:solidFill>
                      <a:srgbClr val="F39C12"/>
                    </a:solidFill>
                  </a:tcPr>
                </a:tc>
                <a:tc>
                  <a:txBody>
                    <a:bodyPr/>
                    <a:lstStyle/>
                    <a:p>
                      <a:pPr algn="ctr">
                        <a:defRPr sz="1400" b="1">
                          <a:solidFill>
                            <a:srgbClr val="FFFFFF"/>
                          </a:solidFill>
                          <a:latin typeface="微软雅黑"/>
                        </a:defRPr>
                      </a:pPr>
                      <a:r>
                        <a:t>含义</a:t>
                      </a:r>
                    </a:p>
                  </a:txBody>
                  <a:tcPr>
                    <a:solidFill>
                      <a:srgbClr val="F39C12"/>
                    </a:solidFill>
                  </a:tcPr>
                </a:tc>
                <a:tc>
                  <a:txBody>
                    <a:bodyPr/>
                    <a:lstStyle/>
                    <a:p>
                      <a:pPr algn="ctr">
                        <a:defRPr sz="1400" b="1">
                          <a:solidFill>
                            <a:srgbClr val="FFFFFF"/>
                          </a:solidFill>
                          <a:latin typeface="微软雅黑"/>
                        </a:defRPr>
                      </a:pPr>
                      <a:r>
                        <a:t>单/复</a:t>
                      </a:r>
                    </a:p>
                  </a:txBody>
                  <a:tcPr>
                    <a:solidFill>
                      <a:srgbClr val="F39C12"/>
                    </a:solidFill>
                  </a:tcPr>
                </a:tc>
                <a:tc>
                  <a:txBody>
                    <a:bodyPr/>
                    <a:lstStyle/>
                    <a:p>
                      <a:pPr algn="ctr">
                        <a:defRPr sz="1400" b="1">
                          <a:solidFill>
                            <a:srgbClr val="FFFFFF"/>
                          </a:solidFill>
                          <a:latin typeface="微软雅黑"/>
                        </a:defRPr>
                      </a:pPr>
                      <a:r>
                        <a:t>特定/不特定</a:t>
                      </a:r>
                    </a:p>
                  </a:txBody>
                  <a:tcPr>
                    <a:solidFill>
                      <a:srgbClr val="F39C12"/>
                    </a:solidFill>
                  </a:tcPr>
                </a:tc>
                <a:tc>
                  <a:txBody>
                    <a:bodyPr/>
                    <a:lstStyle/>
                    <a:p>
                      <a:pPr algn="ctr">
                        <a:defRPr sz="1400" b="1">
                          <a:solidFill>
                            <a:srgbClr val="FFFFFF"/>
                          </a:solidFill>
                          <a:latin typeface="微软雅黑"/>
                        </a:defRPr>
                      </a:pPr>
                      <a:r>
                        <a:t>用法</a:t>
                      </a:r>
                    </a:p>
                  </a:txBody>
                  <a:tcPr>
                    <a:solidFill>
                      <a:srgbClr val="F39C12"/>
                    </a:solidFill>
                  </a:tcPr>
                </a:tc>
              </a:tr>
              <a:tr h="609600">
                <a:tc>
                  <a:txBody>
                    <a:bodyPr/>
                    <a:lstStyle/>
                    <a:p>
                      <a:pPr algn="ctr">
                        <a:defRPr sz="1300">
                          <a:solidFill>
                            <a:srgbClr val="2C3E50"/>
                          </a:solidFill>
                          <a:latin typeface="微软雅黑"/>
                        </a:defRPr>
                      </a:pPr>
                      <a:r>
                        <a:t>other</a:t>
                      </a:r>
                    </a:p>
                  </a:txBody>
                  <a:tcPr>
                    <a:solidFill>
                      <a:srgbClr val="FFFFFF"/>
                    </a:solidFill>
                  </a:tcPr>
                </a:tc>
                <a:tc>
                  <a:txBody>
                    <a:bodyPr/>
                    <a:lstStyle/>
                    <a:p>
                      <a:pPr algn="ctr">
                        <a:defRPr sz="1300">
                          <a:solidFill>
                            <a:srgbClr val="2C3E50"/>
                          </a:solidFill>
                          <a:latin typeface="微软雅黑"/>
                        </a:defRPr>
                      </a:pPr>
                      <a:r>
                        <a:t>其他的</a:t>
                      </a:r>
                    </a:p>
                  </a:txBody>
                  <a:tcPr>
                    <a:solidFill>
                      <a:srgbClr val="FFFFFF"/>
                    </a:solidFill>
                  </a:tcPr>
                </a:tc>
                <a:tc>
                  <a:txBody>
                    <a:bodyPr/>
                    <a:lstStyle/>
                    <a:p>
                      <a:pPr algn="ctr">
                        <a:defRPr sz="1300">
                          <a:solidFill>
                            <a:srgbClr val="2C3E50"/>
                          </a:solidFill>
                          <a:latin typeface="微软雅黑"/>
                        </a:defRPr>
                      </a:pPr>
                      <a:r>
                        <a:t>—</a:t>
                      </a:r>
                    </a:p>
                  </a:txBody>
                  <a:tcPr>
                    <a:solidFill>
                      <a:srgbClr val="FFFFFF"/>
                    </a:solidFill>
                  </a:tcPr>
                </a:tc>
                <a:tc>
                  <a:txBody>
                    <a:bodyPr/>
                    <a:lstStyle/>
                    <a:p>
                      <a:pPr algn="ctr">
                        <a:defRPr sz="1300">
                          <a:solidFill>
                            <a:srgbClr val="2C3E50"/>
                          </a:solidFill>
                          <a:latin typeface="微软雅黑"/>
                        </a:defRPr>
                      </a:pPr>
                      <a:r>
                        <a:t>不特定</a:t>
                      </a:r>
                    </a:p>
                  </a:txBody>
                  <a:tcPr>
                    <a:solidFill>
                      <a:srgbClr val="FFFFFF"/>
                    </a:solidFill>
                  </a:tcPr>
                </a:tc>
                <a:tc>
                  <a:txBody>
                    <a:bodyPr/>
                    <a:lstStyle/>
                    <a:p>
                      <a:pPr algn="ctr">
                        <a:defRPr sz="1300">
                          <a:solidFill>
                            <a:srgbClr val="2C3E50"/>
                          </a:solidFill>
                          <a:latin typeface="微软雅黑"/>
                        </a:defRPr>
                      </a:pPr>
                      <a:r>
                        <a:t>形容词，修饰复数名词</a:t>
                      </a:r>
                    </a:p>
                  </a:txBody>
                  <a:tcPr>
                    <a:solidFill>
                      <a:srgbClr val="FFFFFF"/>
                    </a:solidFill>
                  </a:tcPr>
                </a:tc>
              </a:tr>
              <a:tr h="609600">
                <a:tc>
                  <a:txBody>
                    <a:bodyPr/>
                    <a:lstStyle/>
                    <a:p>
                      <a:pPr algn="ctr">
                        <a:defRPr sz="1300">
                          <a:solidFill>
                            <a:srgbClr val="2C3E50"/>
                          </a:solidFill>
                          <a:latin typeface="微软雅黑"/>
                        </a:defRPr>
                      </a:pPr>
                      <a:r>
                        <a:t>the other</a:t>
                      </a:r>
                    </a:p>
                  </a:txBody>
                  <a:tcPr>
                    <a:solidFill>
                      <a:srgbClr val="EBF5FB"/>
                    </a:solidFill>
                  </a:tcPr>
                </a:tc>
                <a:tc>
                  <a:txBody>
                    <a:bodyPr/>
                    <a:lstStyle/>
                    <a:p>
                      <a:pPr algn="ctr">
                        <a:defRPr sz="1300">
                          <a:solidFill>
                            <a:srgbClr val="2C3E50"/>
                          </a:solidFill>
                          <a:latin typeface="微软雅黑"/>
                        </a:defRPr>
                      </a:pPr>
                      <a:r>
                        <a:t>另一个</a:t>
                      </a:r>
                    </a:p>
                  </a:txBody>
                  <a:tcPr>
                    <a:solidFill>
                      <a:srgbClr val="EBF5FB"/>
                    </a:solidFill>
                  </a:tcPr>
                </a:tc>
                <a:tc>
                  <a:txBody>
                    <a:bodyPr/>
                    <a:lstStyle/>
                    <a:p>
                      <a:pPr algn="ctr">
                        <a:defRPr sz="1300">
                          <a:solidFill>
                            <a:srgbClr val="2C3E50"/>
                          </a:solidFill>
                          <a:latin typeface="微软雅黑"/>
                        </a:defRPr>
                      </a:pPr>
                      <a:r>
                        <a:t>单数</a:t>
                      </a:r>
                    </a:p>
                  </a:txBody>
                  <a:tcPr>
                    <a:solidFill>
                      <a:srgbClr val="EBF5FB"/>
                    </a:solidFill>
                  </a:tcPr>
                </a:tc>
                <a:tc>
                  <a:txBody>
                    <a:bodyPr/>
                    <a:lstStyle/>
                    <a:p>
                      <a:pPr algn="ctr">
                        <a:defRPr sz="1300">
                          <a:solidFill>
                            <a:srgbClr val="2C3E50"/>
                          </a:solidFill>
                          <a:latin typeface="微软雅黑"/>
                        </a:defRPr>
                      </a:pPr>
                      <a:r>
                        <a:t>特定(两者中)</a:t>
                      </a:r>
                    </a:p>
                  </a:txBody>
                  <a:tcPr>
                    <a:solidFill>
                      <a:srgbClr val="EBF5FB"/>
                    </a:solidFill>
                  </a:tcPr>
                </a:tc>
                <a:tc>
                  <a:txBody>
                    <a:bodyPr/>
                    <a:lstStyle/>
                    <a:p>
                      <a:pPr algn="ctr">
                        <a:defRPr sz="1300">
                          <a:solidFill>
                            <a:srgbClr val="2C3E50"/>
                          </a:solidFill>
                          <a:latin typeface="微软雅黑"/>
                        </a:defRPr>
                      </a:pPr>
                      <a:r>
                        <a:t>两者中剩下的那一个</a:t>
                      </a:r>
                    </a:p>
                  </a:txBody>
                  <a:tcPr>
                    <a:solidFill>
                      <a:srgbClr val="EBF5FB"/>
                    </a:solidFill>
                  </a:tcPr>
                </a:tc>
              </a:tr>
              <a:tr h="609600">
                <a:tc>
                  <a:txBody>
                    <a:bodyPr/>
                    <a:lstStyle/>
                    <a:p>
                      <a:pPr algn="ctr">
                        <a:defRPr sz="1300">
                          <a:solidFill>
                            <a:srgbClr val="2C3E50"/>
                          </a:solidFill>
                          <a:latin typeface="微软雅黑"/>
                        </a:defRPr>
                      </a:pPr>
                      <a:r>
                        <a:t>another</a:t>
                      </a:r>
                    </a:p>
                  </a:txBody>
                  <a:tcPr>
                    <a:solidFill>
                      <a:srgbClr val="FFFFFF"/>
                    </a:solidFill>
                  </a:tcPr>
                </a:tc>
                <a:tc>
                  <a:txBody>
                    <a:bodyPr/>
                    <a:lstStyle/>
                    <a:p>
                      <a:pPr algn="ctr">
                        <a:defRPr sz="1300">
                          <a:solidFill>
                            <a:srgbClr val="2C3E50"/>
                          </a:solidFill>
                          <a:latin typeface="微软雅黑"/>
                        </a:defRPr>
                      </a:pPr>
                      <a:r>
                        <a:t>另一个(再来1个)</a:t>
                      </a:r>
                    </a:p>
                  </a:txBody>
                  <a:tcPr>
                    <a:solidFill>
                      <a:srgbClr val="FFFFFF"/>
                    </a:solidFill>
                  </a:tcPr>
                </a:tc>
                <a:tc>
                  <a:txBody>
                    <a:bodyPr/>
                    <a:lstStyle/>
                    <a:p>
                      <a:pPr algn="ctr">
                        <a:defRPr sz="1300">
                          <a:solidFill>
                            <a:srgbClr val="2C3E50"/>
                          </a:solidFill>
                          <a:latin typeface="微软雅黑"/>
                        </a:defRPr>
                      </a:pPr>
                      <a:r>
                        <a:t>单数</a:t>
                      </a:r>
                    </a:p>
                  </a:txBody>
                  <a:tcPr>
                    <a:solidFill>
                      <a:srgbClr val="FFFFFF"/>
                    </a:solidFill>
                  </a:tcPr>
                </a:tc>
                <a:tc>
                  <a:txBody>
                    <a:bodyPr/>
                    <a:lstStyle/>
                    <a:p>
                      <a:pPr algn="ctr">
                        <a:defRPr sz="1300">
                          <a:solidFill>
                            <a:srgbClr val="2C3E50"/>
                          </a:solidFill>
                          <a:latin typeface="微软雅黑"/>
                        </a:defRPr>
                      </a:pPr>
                      <a:r>
                        <a:t>不特定</a:t>
                      </a:r>
                    </a:p>
                  </a:txBody>
                  <a:tcPr>
                    <a:solidFill>
                      <a:srgbClr val="FFFFFF"/>
                    </a:solidFill>
                  </a:tcPr>
                </a:tc>
                <a:tc>
                  <a:txBody>
                    <a:bodyPr/>
                    <a:lstStyle/>
                    <a:p>
                      <a:pPr algn="ctr">
                        <a:defRPr sz="1300">
                          <a:solidFill>
                            <a:srgbClr val="2C3E50"/>
                          </a:solidFill>
                          <a:latin typeface="微软雅黑"/>
                        </a:defRPr>
                      </a:pPr>
                      <a:r>
                        <a:t>三者及以上中的任意一个</a:t>
                      </a:r>
                    </a:p>
                  </a:txBody>
                  <a:tcPr>
                    <a:solidFill>
                      <a:srgbClr val="FFFFFF"/>
                    </a:solidFill>
                  </a:tcPr>
                </a:tc>
              </a:tr>
              <a:tr h="609600">
                <a:tc>
                  <a:txBody>
                    <a:bodyPr/>
                    <a:lstStyle/>
                    <a:p>
                      <a:pPr algn="ctr">
                        <a:defRPr sz="1300">
                          <a:solidFill>
                            <a:srgbClr val="2C3E50"/>
                          </a:solidFill>
                          <a:latin typeface="微软雅黑"/>
                        </a:defRPr>
                      </a:pPr>
                      <a:r>
                        <a:t>others</a:t>
                      </a:r>
                    </a:p>
                  </a:txBody>
                  <a:tcPr>
                    <a:solidFill>
                      <a:srgbClr val="EBF5FB"/>
                    </a:solidFill>
                  </a:tcPr>
                </a:tc>
                <a:tc>
                  <a:txBody>
                    <a:bodyPr/>
                    <a:lstStyle/>
                    <a:p>
                      <a:pPr algn="ctr">
                        <a:defRPr sz="1300">
                          <a:solidFill>
                            <a:srgbClr val="2C3E50"/>
                          </a:solidFill>
                          <a:latin typeface="微软雅黑"/>
                        </a:defRPr>
                      </a:pPr>
                      <a:r>
                        <a:t>另一些</a:t>
                      </a:r>
                    </a:p>
                  </a:txBody>
                  <a:tcPr>
                    <a:solidFill>
                      <a:srgbClr val="EBF5FB"/>
                    </a:solidFill>
                  </a:tcPr>
                </a:tc>
                <a:tc>
                  <a:txBody>
                    <a:bodyPr/>
                    <a:lstStyle/>
                    <a:p>
                      <a:pPr algn="ctr">
                        <a:defRPr sz="1300">
                          <a:solidFill>
                            <a:srgbClr val="2C3E50"/>
                          </a:solidFill>
                          <a:latin typeface="微软雅黑"/>
                        </a:defRPr>
                      </a:pPr>
                      <a:r>
                        <a:t>复数</a:t>
                      </a:r>
                    </a:p>
                  </a:txBody>
                  <a:tcPr>
                    <a:solidFill>
                      <a:srgbClr val="EBF5FB"/>
                    </a:solidFill>
                  </a:tcPr>
                </a:tc>
                <a:tc>
                  <a:txBody>
                    <a:bodyPr/>
                    <a:lstStyle/>
                    <a:p>
                      <a:pPr algn="ctr">
                        <a:defRPr sz="1300">
                          <a:solidFill>
                            <a:srgbClr val="2C3E50"/>
                          </a:solidFill>
                          <a:latin typeface="微软雅黑"/>
                        </a:defRPr>
                      </a:pPr>
                      <a:r>
                        <a:t>不特定</a:t>
                      </a:r>
                    </a:p>
                  </a:txBody>
                  <a:tcPr>
                    <a:solidFill>
                      <a:srgbClr val="EBF5FB"/>
                    </a:solidFill>
                  </a:tcPr>
                </a:tc>
                <a:tc>
                  <a:txBody>
                    <a:bodyPr/>
                    <a:lstStyle/>
                    <a:p>
                      <a:pPr algn="ctr">
                        <a:defRPr sz="1300">
                          <a:solidFill>
                            <a:srgbClr val="2C3E50"/>
                          </a:solidFill>
                          <a:latin typeface="微软雅黑"/>
                        </a:defRPr>
                      </a:pPr>
                      <a:r>
                        <a:t>泛指其他人/物</a:t>
                      </a:r>
                    </a:p>
                  </a:txBody>
                  <a:tcPr>
                    <a:solidFill>
                      <a:srgbClr val="EBF5FB"/>
                    </a:solidFill>
                  </a:tcPr>
                </a:tc>
              </a:tr>
              <a:tr h="609600">
                <a:tc>
                  <a:txBody>
                    <a:bodyPr/>
                    <a:lstStyle/>
                    <a:p>
                      <a:pPr algn="ctr">
                        <a:defRPr sz="1300">
                          <a:solidFill>
                            <a:srgbClr val="2C3E50"/>
                          </a:solidFill>
                          <a:latin typeface="微软雅黑"/>
                        </a:defRPr>
                      </a:pPr>
                      <a:r>
                        <a:t>the others</a:t>
                      </a:r>
                    </a:p>
                  </a:txBody>
                  <a:tcPr>
                    <a:solidFill>
                      <a:srgbClr val="FFFFFF"/>
                    </a:solidFill>
                  </a:tcPr>
                </a:tc>
                <a:tc>
                  <a:txBody>
                    <a:bodyPr/>
                    <a:lstStyle/>
                    <a:p>
                      <a:pPr algn="ctr">
                        <a:defRPr sz="1300">
                          <a:solidFill>
                            <a:srgbClr val="2C3E50"/>
                          </a:solidFill>
                          <a:latin typeface="微软雅黑"/>
                        </a:defRPr>
                      </a:pPr>
                      <a:r>
                        <a:t>另一些(剩余的)</a:t>
                      </a:r>
                    </a:p>
                  </a:txBody>
                  <a:tcPr>
                    <a:solidFill>
                      <a:srgbClr val="FFFFFF"/>
                    </a:solidFill>
                  </a:tcPr>
                </a:tc>
                <a:tc>
                  <a:txBody>
                    <a:bodyPr/>
                    <a:lstStyle/>
                    <a:p>
                      <a:pPr algn="ctr">
                        <a:defRPr sz="1300">
                          <a:solidFill>
                            <a:srgbClr val="2C3E50"/>
                          </a:solidFill>
                          <a:latin typeface="微软雅黑"/>
                        </a:defRPr>
                      </a:pPr>
                      <a:r>
                        <a:t>复数</a:t>
                      </a:r>
                    </a:p>
                  </a:txBody>
                  <a:tcPr>
                    <a:solidFill>
                      <a:srgbClr val="FFFFFF"/>
                    </a:solidFill>
                  </a:tcPr>
                </a:tc>
                <a:tc>
                  <a:txBody>
                    <a:bodyPr/>
                    <a:lstStyle/>
                    <a:p>
                      <a:pPr algn="ctr">
                        <a:defRPr sz="1300">
                          <a:solidFill>
                            <a:srgbClr val="2C3E50"/>
                          </a:solidFill>
                          <a:latin typeface="微软雅黑"/>
                        </a:defRPr>
                      </a:pPr>
                      <a:r>
                        <a:t>特定</a:t>
                      </a:r>
                    </a:p>
                  </a:txBody>
                  <a:tcPr>
                    <a:solidFill>
                      <a:srgbClr val="FFFFFF"/>
                    </a:solidFill>
                  </a:tcPr>
                </a:tc>
                <a:tc>
                  <a:txBody>
                    <a:bodyPr/>
                    <a:lstStyle/>
                    <a:p>
                      <a:pPr algn="ctr">
                        <a:defRPr sz="1300">
                          <a:solidFill>
                            <a:srgbClr val="2C3E50"/>
                          </a:solidFill>
                          <a:latin typeface="微软雅黑"/>
                        </a:defRPr>
                      </a:pPr>
                      <a:r>
                        <a:t>特定范围内剩余的全部</a:t>
                      </a:r>
                    </a:p>
                  </a:txBody>
                  <a:tcPr>
                    <a:solidFill>
                      <a:srgbClr val="FFFFFF"/>
                    </a:solidFill>
                  </a:tcPr>
                </a:tc>
              </a:tr>
            </a:tbl>
          </a:graphicData>
        </a:graphic>
      </p:graphicFrame>
      <p:sp>
        <p:nvSpPr>
          <p:cNvPr id="11" name="Rounded Rectangle 10"/>
          <p:cNvSpPr/>
          <p:nvPr/>
        </p:nvSpPr>
        <p:spPr>
          <a:xfrm>
            <a:off x="457200" y="5486400"/>
            <a:ext cx="8229600" cy="640080"/>
          </a:xfrm>
          <a:prstGeom prst="roundRect">
            <a:avLst/>
          </a:prstGeom>
          <a:solidFill>
            <a:srgbClr val="FDF2E9"/>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0">
                <a:solidFill>
                  <a:srgbClr val="2C3E50"/>
                </a:solidFill>
                <a:latin typeface="微软雅黑"/>
              </a:defRPr>
            </a:pPr>
            <a:r>
              <a:t>记忆口诀：有 the 就特定，有 s 就复数。another = an + other = 再来一个</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other 系列 · 综合练习</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Practice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49</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1920"/>
              </a:lnSpc>
              <a:defRPr sz="1600" b="1" i="0">
                <a:solidFill>
                  <a:srgbClr val="F39C12"/>
                </a:solidFill>
                <a:latin typeface="微软雅黑"/>
              </a:defRPr>
            </a:pPr>
            <a:r>
              <a:t>从方框中选择正确的单词 (Children's Day Story)</a:t>
            </a:r>
          </a:p>
        </p:txBody>
      </p:sp>
      <p:sp>
        <p:nvSpPr>
          <p:cNvPr id="10" name="Rounded Rectangle 9"/>
          <p:cNvSpPr/>
          <p:nvPr/>
        </p:nvSpPr>
        <p:spPr>
          <a:xfrm>
            <a:off x="457200" y="1554480"/>
            <a:ext cx="8229600" cy="365760"/>
          </a:xfrm>
          <a:prstGeom prst="roundRect">
            <a:avLst/>
          </a:prstGeom>
          <a:solidFill>
            <a:srgbClr val="EBF5FB"/>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1">
                <a:solidFill>
                  <a:srgbClr val="2C3E50"/>
                </a:solidFill>
                <a:latin typeface="微软雅黑"/>
              </a:defRPr>
            </a:pPr>
            <a:r>
              <a:t>A. other    B. the other    C. another    D. others    E. the others</a:t>
            </a:r>
          </a:p>
        </p:txBody>
      </p:sp>
      <p:sp>
        <p:nvSpPr>
          <p:cNvPr id="11" name="TextBox 10"/>
          <p:cNvSpPr txBox="1"/>
          <p:nvPr/>
        </p:nvSpPr>
        <p:spPr>
          <a:xfrm>
            <a:off x="457200" y="2103120"/>
            <a:ext cx="5943600" cy="365760"/>
          </a:xfrm>
          <a:prstGeom prst="rect">
            <a:avLst/>
          </a:prstGeom>
          <a:noFill/>
        </p:spPr>
        <p:txBody>
          <a:bodyPr wrap="square">
            <a:spAutoFit/>
          </a:bodyPr>
          <a:lstStyle/>
          <a:p>
            <a:pPr algn="l">
              <a:lnSpc>
                <a:spcPts val="1560"/>
              </a:lnSpc>
              <a:defRPr sz="1300" b="0" i="0">
                <a:solidFill>
                  <a:srgbClr val="2C3E50"/>
                </a:solidFill>
                <a:latin typeface="微软雅黑"/>
              </a:defRPr>
            </a:pPr>
            <a:r>
              <a:t>(1) Some are strawberry-flavored, and ________ are chocolate-flavored.</a:t>
            </a:r>
          </a:p>
        </p:txBody>
      </p:sp>
      <p:sp>
        <p:nvSpPr>
          <p:cNvPr id="12" name="Rounded Rectangle 11"/>
          <p:cNvSpPr/>
          <p:nvPr/>
        </p:nvSpPr>
        <p:spPr>
          <a:xfrm>
            <a:off x="6217920" y="2103120"/>
            <a:ext cx="2560320" cy="365760"/>
          </a:xfrm>
          <a:prstGeom prst="roundRect">
            <a:avLst/>
          </a:prstGeom>
          <a:solidFill>
            <a:srgbClr val="E8F8EE"/>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2121408"/>
            <a:ext cx="2377440" cy="329184"/>
          </a:xfrm>
          <a:prstGeom prst="rect">
            <a:avLst/>
          </a:prstGeom>
          <a:noFill/>
        </p:spPr>
        <p:txBody>
          <a:bodyPr wrap="square">
            <a:spAutoFit/>
          </a:bodyPr>
          <a:lstStyle/>
          <a:p>
            <a:pPr algn="l">
              <a:lnSpc>
                <a:spcPts val="1200"/>
              </a:lnSpc>
              <a:defRPr sz="1000" b="1" i="0">
                <a:solidFill>
                  <a:srgbClr val="27AE60"/>
                </a:solidFill>
                <a:latin typeface="微软雅黑"/>
              </a:defRPr>
            </a:pPr>
            <a:r>
              <a:t>E. the others — 特定范围内剩余的全部</a:t>
            </a:r>
          </a:p>
        </p:txBody>
      </p:sp>
      <p:sp>
        <p:nvSpPr>
          <p:cNvPr id="14" name="TextBox 13"/>
          <p:cNvSpPr txBox="1"/>
          <p:nvPr/>
        </p:nvSpPr>
        <p:spPr>
          <a:xfrm>
            <a:off x="457200" y="2971800"/>
            <a:ext cx="5943600" cy="365760"/>
          </a:xfrm>
          <a:prstGeom prst="rect">
            <a:avLst/>
          </a:prstGeom>
          <a:noFill/>
        </p:spPr>
        <p:txBody>
          <a:bodyPr wrap="square">
            <a:spAutoFit/>
          </a:bodyPr>
          <a:lstStyle/>
          <a:p>
            <a:pPr algn="l">
              <a:lnSpc>
                <a:spcPts val="1560"/>
              </a:lnSpc>
              <a:defRPr sz="1300" b="0" i="0">
                <a:solidFill>
                  <a:srgbClr val="2C3E50"/>
                </a:solidFill>
                <a:latin typeface="微软雅黑"/>
              </a:defRPr>
            </a:pPr>
            <a:r>
              <a:t>(2) I eat it quickly and ask for ________ one.</a:t>
            </a:r>
          </a:p>
        </p:txBody>
      </p:sp>
      <p:sp>
        <p:nvSpPr>
          <p:cNvPr id="15" name="Rounded Rectangle 14"/>
          <p:cNvSpPr/>
          <p:nvPr/>
        </p:nvSpPr>
        <p:spPr>
          <a:xfrm>
            <a:off x="6217920" y="2971800"/>
            <a:ext cx="2560320" cy="365760"/>
          </a:xfrm>
          <a:prstGeom prst="roundRect">
            <a:avLst/>
          </a:prstGeom>
          <a:solidFill>
            <a:srgbClr val="E8F8EE"/>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2990088"/>
            <a:ext cx="2377440" cy="329184"/>
          </a:xfrm>
          <a:prstGeom prst="rect">
            <a:avLst/>
          </a:prstGeom>
          <a:noFill/>
        </p:spPr>
        <p:txBody>
          <a:bodyPr wrap="square">
            <a:spAutoFit/>
          </a:bodyPr>
          <a:lstStyle/>
          <a:p>
            <a:pPr algn="l">
              <a:lnSpc>
                <a:spcPts val="1200"/>
              </a:lnSpc>
              <a:defRPr sz="1000" b="1" i="0">
                <a:solidFill>
                  <a:srgbClr val="27AE60"/>
                </a:solidFill>
                <a:latin typeface="微软雅黑"/>
              </a:defRPr>
            </a:pPr>
            <a:r>
              <a:t>C. another — 再来一个（不特定）</a:t>
            </a:r>
          </a:p>
        </p:txBody>
      </p:sp>
      <p:sp>
        <p:nvSpPr>
          <p:cNvPr id="17" name="TextBox 16"/>
          <p:cNvSpPr txBox="1"/>
          <p:nvPr/>
        </p:nvSpPr>
        <p:spPr>
          <a:xfrm>
            <a:off x="457200" y="3840479"/>
            <a:ext cx="5943600" cy="365760"/>
          </a:xfrm>
          <a:prstGeom prst="rect">
            <a:avLst/>
          </a:prstGeom>
          <a:noFill/>
        </p:spPr>
        <p:txBody>
          <a:bodyPr wrap="square">
            <a:spAutoFit/>
          </a:bodyPr>
          <a:lstStyle/>
          <a:p>
            <a:pPr algn="l">
              <a:lnSpc>
                <a:spcPts val="1560"/>
              </a:lnSpc>
              <a:defRPr sz="1300" b="0" i="0">
                <a:solidFill>
                  <a:srgbClr val="2C3E50"/>
                </a:solidFill>
                <a:latin typeface="微软雅黑"/>
              </a:defRPr>
            </a:pPr>
            <a:r>
              <a:t>(3) Some students share candies with ________ classmates.</a:t>
            </a:r>
          </a:p>
        </p:txBody>
      </p:sp>
      <p:sp>
        <p:nvSpPr>
          <p:cNvPr id="18" name="Rounded Rectangle 17"/>
          <p:cNvSpPr/>
          <p:nvPr/>
        </p:nvSpPr>
        <p:spPr>
          <a:xfrm>
            <a:off x="6217920" y="3840479"/>
            <a:ext cx="2560320" cy="365760"/>
          </a:xfrm>
          <a:prstGeom prst="roundRect">
            <a:avLst/>
          </a:prstGeom>
          <a:solidFill>
            <a:srgbClr val="E8F8EE"/>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3858767"/>
            <a:ext cx="2377440" cy="329184"/>
          </a:xfrm>
          <a:prstGeom prst="rect">
            <a:avLst/>
          </a:prstGeom>
          <a:noFill/>
        </p:spPr>
        <p:txBody>
          <a:bodyPr wrap="square">
            <a:spAutoFit/>
          </a:bodyPr>
          <a:lstStyle/>
          <a:p>
            <a:pPr algn="l">
              <a:lnSpc>
                <a:spcPts val="1200"/>
              </a:lnSpc>
              <a:defRPr sz="1000" b="1" i="0">
                <a:solidFill>
                  <a:srgbClr val="27AE60"/>
                </a:solidFill>
                <a:latin typeface="微软雅黑"/>
              </a:defRPr>
            </a:pPr>
            <a:r>
              <a:t>A. other — 形容词修饰名词</a:t>
            </a:r>
          </a:p>
        </p:txBody>
      </p:sp>
      <p:sp>
        <p:nvSpPr>
          <p:cNvPr id="20" name="TextBox 19"/>
          <p:cNvSpPr txBox="1"/>
          <p:nvPr/>
        </p:nvSpPr>
        <p:spPr>
          <a:xfrm>
            <a:off x="457200" y="4709159"/>
            <a:ext cx="5943600" cy="365760"/>
          </a:xfrm>
          <a:prstGeom prst="rect">
            <a:avLst/>
          </a:prstGeom>
          <a:noFill/>
        </p:spPr>
        <p:txBody>
          <a:bodyPr wrap="square">
            <a:spAutoFit/>
          </a:bodyPr>
          <a:lstStyle/>
          <a:p>
            <a:pPr algn="l">
              <a:lnSpc>
                <a:spcPts val="1560"/>
              </a:lnSpc>
              <a:defRPr sz="1300" b="0" i="0">
                <a:solidFill>
                  <a:srgbClr val="2C3E50"/>
                </a:solidFill>
                <a:latin typeface="微软雅黑"/>
              </a:defRPr>
            </a:pPr>
            <a:r>
              <a:t>(4) Some are quiet, and ________ are talking happily.</a:t>
            </a:r>
          </a:p>
        </p:txBody>
      </p:sp>
      <p:sp>
        <p:nvSpPr>
          <p:cNvPr id="21" name="Rounded Rectangle 20"/>
          <p:cNvSpPr/>
          <p:nvPr/>
        </p:nvSpPr>
        <p:spPr>
          <a:xfrm>
            <a:off x="6217920" y="4709159"/>
            <a:ext cx="2560320" cy="365760"/>
          </a:xfrm>
          <a:prstGeom prst="roundRect">
            <a:avLst/>
          </a:prstGeom>
          <a:solidFill>
            <a:srgbClr val="E8F8EE"/>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4727447"/>
            <a:ext cx="2377440" cy="329184"/>
          </a:xfrm>
          <a:prstGeom prst="rect">
            <a:avLst/>
          </a:prstGeom>
          <a:noFill/>
        </p:spPr>
        <p:txBody>
          <a:bodyPr wrap="square">
            <a:spAutoFit/>
          </a:bodyPr>
          <a:lstStyle/>
          <a:p>
            <a:pPr algn="l">
              <a:lnSpc>
                <a:spcPts val="1200"/>
              </a:lnSpc>
              <a:defRPr sz="1000" b="1" i="0">
                <a:solidFill>
                  <a:srgbClr val="27AE60"/>
                </a:solidFill>
                <a:latin typeface="微软雅黑"/>
              </a:defRPr>
            </a:pPr>
            <a:r>
              <a:t>D. others — 泛指另一些（与 some 对应）</a:t>
            </a:r>
          </a:p>
        </p:txBody>
      </p:sp>
      <p:sp>
        <p:nvSpPr>
          <p:cNvPr id="23" name="TextBox 22"/>
          <p:cNvSpPr txBox="1"/>
          <p:nvPr/>
        </p:nvSpPr>
        <p:spPr>
          <a:xfrm>
            <a:off x="457200" y="5577840"/>
            <a:ext cx="5943600" cy="365760"/>
          </a:xfrm>
          <a:prstGeom prst="rect">
            <a:avLst/>
          </a:prstGeom>
          <a:noFill/>
        </p:spPr>
        <p:txBody>
          <a:bodyPr wrap="square">
            <a:spAutoFit/>
          </a:bodyPr>
          <a:lstStyle/>
          <a:p>
            <a:pPr algn="l">
              <a:lnSpc>
                <a:spcPts val="1560"/>
              </a:lnSpc>
              <a:defRPr sz="1300" b="0" i="0">
                <a:solidFill>
                  <a:srgbClr val="2C3E50"/>
                </a:solidFill>
                <a:latin typeface="微软雅黑"/>
              </a:defRPr>
            </a:pPr>
            <a:r>
              <a:t>(5) 30 are given out, and ________ are left in the bottles.</a:t>
            </a:r>
          </a:p>
        </p:txBody>
      </p:sp>
      <p:sp>
        <p:nvSpPr>
          <p:cNvPr id="24" name="Rounded Rectangle 23"/>
          <p:cNvSpPr/>
          <p:nvPr/>
        </p:nvSpPr>
        <p:spPr>
          <a:xfrm>
            <a:off x="6217920" y="5577840"/>
            <a:ext cx="2560320" cy="365760"/>
          </a:xfrm>
          <a:prstGeom prst="roundRect">
            <a:avLst/>
          </a:prstGeom>
          <a:solidFill>
            <a:srgbClr val="E8F8EE"/>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5596128"/>
            <a:ext cx="2377440" cy="329184"/>
          </a:xfrm>
          <a:prstGeom prst="rect">
            <a:avLst/>
          </a:prstGeom>
          <a:noFill/>
        </p:spPr>
        <p:txBody>
          <a:bodyPr wrap="square">
            <a:spAutoFit/>
          </a:bodyPr>
          <a:lstStyle/>
          <a:p>
            <a:pPr algn="l">
              <a:lnSpc>
                <a:spcPts val="1200"/>
              </a:lnSpc>
              <a:defRPr sz="1000" b="1" i="0">
                <a:solidFill>
                  <a:srgbClr val="27AE60"/>
                </a:solidFill>
                <a:latin typeface="微软雅黑"/>
              </a:defRPr>
            </a:pPr>
            <a:r>
              <a:t>E. the others — 特定范围内剩余的全部</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写作迁移运用 · Writing Application</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Writing</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50</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400"/>
              </a:lnSpc>
              <a:defRPr sz="2000" b="1" i="0">
                <a:solidFill>
                  <a:srgbClr val="F39C12"/>
                </a:solidFill>
                <a:latin typeface="微软雅黑"/>
              </a:defRPr>
            </a:pPr>
            <a:r>
              <a:t>将语法知识运用到写作中</a:t>
            </a:r>
          </a:p>
        </p:txBody>
      </p:sp>
      <p:sp>
        <p:nvSpPr>
          <p:cNvPr id="10" name="Rounded Rectangle 9"/>
          <p:cNvSpPr/>
          <p:nvPr/>
        </p:nvSpPr>
        <p:spPr>
          <a:xfrm>
            <a:off x="457200" y="1645920"/>
            <a:ext cx="1645920" cy="32004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664208"/>
            <a:ext cx="1645920" cy="301752"/>
          </a:xfrm>
          <a:prstGeom prst="rect">
            <a:avLst/>
          </a:prstGeom>
          <a:noFill/>
        </p:spPr>
        <p:txBody>
          <a:bodyPr wrap="square">
            <a:spAutoFit/>
          </a:bodyPr>
          <a:lstStyle/>
          <a:p>
            <a:pPr algn="ctr">
              <a:lnSpc>
                <a:spcPts val="1439"/>
              </a:lnSpc>
              <a:defRPr sz="1200" b="1" i="0">
                <a:solidFill>
                  <a:srgbClr val="FFFFFF"/>
                </a:solidFill>
                <a:latin typeface="微软雅黑"/>
              </a:defRPr>
            </a:pPr>
            <a:r>
              <a:t>提出建议类</a:t>
            </a:r>
          </a:p>
        </p:txBody>
      </p:sp>
      <p:sp>
        <p:nvSpPr>
          <p:cNvPr id="12" name="Rounded Rectangle 11"/>
          <p:cNvSpPr/>
          <p:nvPr/>
        </p:nvSpPr>
        <p:spPr>
          <a:xfrm>
            <a:off x="457200" y="2103120"/>
            <a:ext cx="8229600" cy="1371600"/>
          </a:xfrm>
          <a:prstGeom prst="roundRect">
            <a:avLst/>
          </a:prstGeom>
          <a:solidFill>
            <a:srgbClr val="EBF5FB"/>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0">
                <a:solidFill>
                  <a:srgbClr val="2C3E50"/>
                </a:solidFill>
                <a:latin typeface="微软雅黑"/>
              </a:defRPr>
            </a:pPr>
            <a:r>
              <a:t>旅游对我们有好处。一方面，它是放松的好方式。另一方面，我们可以更多了解这个世界。</a:t>
            </a:r>
            <a:br/>
            <a:br/>
            <a:r>
              <a:t>Traveling is good for us. On the one hand, it's a good way to relax.</a:t>
            </a:r>
            <a:br/>
            <a:r>
              <a:t>On the other hand, we can learn more about this world.</a:t>
            </a:r>
          </a:p>
        </p:txBody>
      </p:sp>
      <p:sp>
        <p:nvSpPr>
          <p:cNvPr id="13" name="Rounded Rectangle 12"/>
          <p:cNvSpPr/>
          <p:nvPr/>
        </p:nvSpPr>
        <p:spPr>
          <a:xfrm>
            <a:off x="457200" y="3840480"/>
            <a:ext cx="1645920" cy="32004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858768"/>
            <a:ext cx="1645920" cy="301752"/>
          </a:xfrm>
          <a:prstGeom prst="rect">
            <a:avLst/>
          </a:prstGeom>
          <a:noFill/>
        </p:spPr>
        <p:txBody>
          <a:bodyPr wrap="square">
            <a:spAutoFit/>
          </a:bodyPr>
          <a:lstStyle/>
          <a:p>
            <a:pPr algn="ctr">
              <a:lnSpc>
                <a:spcPts val="1439"/>
              </a:lnSpc>
              <a:defRPr sz="1200" b="1" i="0">
                <a:solidFill>
                  <a:srgbClr val="FFFFFF"/>
                </a:solidFill>
                <a:latin typeface="微软雅黑"/>
              </a:defRPr>
            </a:pPr>
            <a:r>
              <a:t>观点表达类</a:t>
            </a:r>
          </a:p>
        </p:txBody>
      </p:sp>
      <p:sp>
        <p:nvSpPr>
          <p:cNvPr id="15" name="Rounded Rectangle 14"/>
          <p:cNvSpPr/>
          <p:nvPr/>
        </p:nvSpPr>
        <p:spPr>
          <a:xfrm>
            <a:off x="457200" y="4297680"/>
            <a:ext cx="8229600" cy="1371600"/>
          </a:xfrm>
          <a:prstGeom prst="roundRect">
            <a:avLst/>
          </a:prstGeom>
          <a:solidFill>
            <a:srgbClr val="FDF2E9"/>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0">
                <a:solidFill>
                  <a:srgbClr val="2C3E50"/>
                </a:solidFill>
                <a:latin typeface="微软雅黑"/>
              </a:defRPr>
            </a:pPr>
            <a:r>
              <a:t>人们对食物有不同看法。有些人信奉严格的节食，而另一些人则采取更灵活的方式。</a:t>
            </a:r>
            <a:br/>
            <a:br/>
            <a:r>
              <a:t>In general, people have different views on food and diet.</a:t>
            </a:r>
            <a:br/>
            <a:r>
              <a:t>Some believe in strict dieting, while others are more flexible.</a:t>
            </a:r>
          </a:p>
        </p:txBody>
      </p:sp>
      <p:sp>
        <p:nvSpPr>
          <p:cNvPr id="16" name="Rounded Rectangle 15"/>
          <p:cNvSpPr/>
          <p:nvPr/>
        </p:nvSpPr>
        <p:spPr>
          <a:xfrm>
            <a:off x="457200" y="5852160"/>
            <a:ext cx="8229600" cy="45720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1">
                <a:solidFill>
                  <a:srgbClr val="2C3E50"/>
                </a:solidFill>
                <a:latin typeface="微软雅黑"/>
              </a:defRPr>
            </a:pPr>
            <a:r>
              <a:t>高分句型：Some...while others... / On the one hand...On the other hand...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真题链接 · Exam Practice (1)</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Test</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51</a:t>
            </a:r>
          </a:p>
        </p:txBody>
      </p:sp>
      <p:sp>
        <p:nvSpPr>
          <p:cNvPr id="9" name="Rounded Rectangle 8"/>
          <p:cNvSpPr/>
          <p:nvPr/>
        </p:nvSpPr>
        <p:spPr>
          <a:xfrm>
            <a:off x="457200" y="1097280"/>
            <a:ext cx="1371600" cy="27432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15568"/>
            <a:ext cx="1371600" cy="256032"/>
          </a:xfrm>
          <a:prstGeom prst="rect">
            <a:avLst/>
          </a:prstGeom>
          <a:noFill/>
        </p:spPr>
        <p:txBody>
          <a:bodyPr wrap="square">
            <a:spAutoFit/>
          </a:bodyPr>
          <a:lstStyle/>
          <a:p>
            <a:pPr algn="ctr">
              <a:lnSpc>
                <a:spcPts val="1320"/>
              </a:lnSpc>
              <a:defRPr sz="1100" b="1" i="0">
                <a:solidFill>
                  <a:srgbClr val="FFFFFF"/>
                </a:solidFill>
                <a:latin typeface="微软雅黑"/>
              </a:defRPr>
            </a:pPr>
            <a:r>
              <a:t>黑龙江期末</a:t>
            </a:r>
          </a:p>
        </p:txBody>
      </p:sp>
      <p:sp>
        <p:nvSpPr>
          <p:cNvPr id="11" name="Rounded Rectangle 10"/>
          <p:cNvSpPr/>
          <p:nvPr/>
        </p:nvSpPr>
        <p:spPr>
          <a:xfrm>
            <a:off x="457200" y="1463040"/>
            <a:ext cx="5029200" cy="1097280"/>
          </a:xfrm>
          <a:prstGeom prst="roundRect">
            <a:avLst/>
          </a:prstGeom>
          <a:solidFill>
            <a:srgbClr val="EBF5FB"/>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0">
                <a:solidFill>
                  <a:srgbClr val="2C3E50"/>
                </a:solidFill>
                <a:latin typeface="微软雅黑"/>
              </a:defRPr>
            </a:pPr>
            <a:r>
              <a:t>—Do you want to go to the zoo or the park this weekend?</a:t>
            </a:r>
            <a:br/>
            <a:r>
              <a:t>—________. I just want to stay at home and rest. But if I have to choose one, I can go to ________ of them.</a:t>
            </a:r>
            <a:br/>
            <a:br/>
            <a:r>
              <a:t>A. Either; neither    B. Neither; either    C. Both; neither    D. Neither; both</a:t>
            </a:r>
          </a:p>
        </p:txBody>
      </p:sp>
      <p:sp>
        <p:nvSpPr>
          <p:cNvPr id="12" name="Rounded Rectangle 11"/>
          <p:cNvSpPr/>
          <p:nvPr/>
        </p:nvSpPr>
        <p:spPr>
          <a:xfrm>
            <a:off x="5669280" y="1463040"/>
            <a:ext cx="3108960" cy="109728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100" b="0">
                <a:solidFill>
                  <a:srgbClr val="2C3E50"/>
                </a:solidFill>
                <a:latin typeface="微软雅黑"/>
              </a:defRPr>
            </a:pPr>
            <a:r>
              <a:t>Answer: B. Neither; either</a:t>
            </a:r>
            <a:br/>
            <a:br/>
            <a:r>
              <a:t>第一空：两个都不想去 → Neither</a:t>
            </a:r>
            <a:br/>
            <a:r>
              <a:t>第二空：如果必须选一个 → either（两者之一）</a:t>
            </a:r>
          </a:p>
        </p:txBody>
      </p:sp>
      <p:sp>
        <p:nvSpPr>
          <p:cNvPr id="13" name="Rounded Rectangle 12"/>
          <p:cNvSpPr/>
          <p:nvPr/>
        </p:nvSpPr>
        <p:spPr>
          <a:xfrm>
            <a:off x="457200" y="3840480"/>
            <a:ext cx="1371600" cy="27432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858768"/>
            <a:ext cx="1371600" cy="256032"/>
          </a:xfrm>
          <a:prstGeom prst="rect">
            <a:avLst/>
          </a:prstGeom>
          <a:noFill/>
        </p:spPr>
        <p:txBody>
          <a:bodyPr wrap="square">
            <a:spAutoFit/>
          </a:bodyPr>
          <a:lstStyle/>
          <a:p>
            <a:pPr algn="ctr">
              <a:lnSpc>
                <a:spcPts val="1320"/>
              </a:lnSpc>
              <a:defRPr sz="1100" b="1" i="0">
                <a:solidFill>
                  <a:srgbClr val="FFFFFF"/>
                </a:solidFill>
                <a:latin typeface="微软雅黑"/>
              </a:defRPr>
            </a:pPr>
            <a:r>
              <a:t>黑龙江二模</a:t>
            </a:r>
          </a:p>
        </p:txBody>
      </p:sp>
      <p:sp>
        <p:nvSpPr>
          <p:cNvPr id="15" name="Rounded Rectangle 14"/>
          <p:cNvSpPr/>
          <p:nvPr/>
        </p:nvSpPr>
        <p:spPr>
          <a:xfrm>
            <a:off x="457200" y="4206240"/>
            <a:ext cx="5029200" cy="1097280"/>
          </a:xfrm>
          <a:prstGeom prst="roundRect">
            <a:avLst/>
          </a:prstGeom>
          <a:solidFill>
            <a:srgbClr val="EBF5FB"/>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0">
                <a:solidFill>
                  <a:srgbClr val="2C3E50"/>
                </a:solidFill>
                <a:latin typeface="微软雅黑"/>
              </a:defRPr>
            </a:pPr>
            <a:r>
              <a:t>The boys were so hungry that they finished almost ________ on the plates. And ________ of them said a word during the meal.</a:t>
            </a:r>
            <a:br/>
            <a:br/>
            <a:r>
              <a:t>A. everything; none    B. something; no one</a:t>
            </a:r>
            <a:br/>
            <a:r>
              <a:t>C. anything; neither    D. nothing; all</a:t>
            </a:r>
          </a:p>
        </p:txBody>
      </p:sp>
      <p:sp>
        <p:nvSpPr>
          <p:cNvPr id="16" name="Rounded Rectangle 15"/>
          <p:cNvSpPr/>
          <p:nvPr/>
        </p:nvSpPr>
        <p:spPr>
          <a:xfrm>
            <a:off x="5669280" y="4206240"/>
            <a:ext cx="3108960" cy="109728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100" b="0">
                <a:solidFill>
                  <a:srgbClr val="2C3E50"/>
                </a:solidFill>
                <a:latin typeface="微软雅黑"/>
              </a:defRPr>
            </a:pPr>
            <a:r>
              <a:t>Answer: A. everything; none</a:t>
            </a:r>
            <a:br/>
            <a:br/>
            <a:r>
              <a:t>第一空：太饿了，几乎吃完了盘子里的所有东西 → everything</a:t>
            </a:r>
            <a:br/>
            <a:r>
              <a:t>第二空：没有人说一句话 → none（三者及以上都没有）</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真题链接 · Exam Practice (2)</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Test</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52</a:t>
            </a:r>
          </a:p>
        </p:txBody>
      </p:sp>
      <p:sp>
        <p:nvSpPr>
          <p:cNvPr id="9" name="Rounded Rectangle 8"/>
          <p:cNvSpPr/>
          <p:nvPr/>
        </p:nvSpPr>
        <p:spPr>
          <a:xfrm>
            <a:off x="457200" y="1097280"/>
            <a:ext cx="1371600" cy="27432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15568"/>
            <a:ext cx="1371600" cy="256032"/>
          </a:xfrm>
          <a:prstGeom prst="rect">
            <a:avLst/>
          </a:prstGeom>
          <a:noFill/>
        </p:spPr>
        <p:txBody>
          <a:bodyPr wrap="square">
            <a:spAutoFit/>
          </a:bodyPr>
          <a:lstStyle/>
          <a:p>
            <a:pPr algn="ctr">
              <a:lnSpc>
                <a:spcPts val="1320"/>
              </a:lnSpc>
              <a:defRPr sz="1100" b="1" i="0">
                <a:solidFill>
                  <a:srgbClr val="FFFFFF"/>
                </a:solidFill>
                <a:latin typeface="微软雅黑"/>
              </a:defRPr>
            </a:pPr>
            <a:r>
              <a:t>单元测试</a:t>
            </a:r>
          </a:p>
        </p:txBody>
      </p:sp>
      <p:sp>
        <p:nvSpPr>
          <p:cNvPr id="11" name="Rounded Rectangle 10"/>
          <p:cNvSpPr/>
          <p:nvPr/>
        </p:nvSpPr>
        <p:spPr>
          <a:xfrm>
            <a:off x="457200" y="1463040"/>
            <a:ext cx="5029200" cy="1097280"/>
          </a:xfrm>
          <a:prstGeom prst="roundRect">
            <a:avLst/>
          </a:prstGeom>
          <a:solidFill>
            <a:srgbClr val="EBF5FB"/>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0">
                <a:solidFill>
                  <a:srgbClr val="2C3E50"/>
                </a:solidFill>
                <a:latin typeface="微软雅黑"/>
              </a:defRPr>
            </a:pPr>
            <a:r>
              <a:t>—Mum, I want to wear my brown gloves, but there is only one.</a:t>
            </a:r>
            <a:br/>
            <a:r>
              <a:t>—Wear ________ pair if you can't find ________ one.</a:t>
            </a:r>
            <a:br/>
            <a:br/>
            <a:r>
              <a:t>A. other; another    B. another; the other</a:t>
            </a:r>
            <a:br/>
            <a:r>
              <a:t>C. the other; the other    D. another; other</a:t>
            </a:r>
          </a:p>
        </p:txBody>
      </p:sp>
      <p:sp>
        <p:nvSpPr>
          <p:cNvPr id="12" name="Rounded Rectangle 11"/>
          <p:cNvSpPr/>
          <p:nvPr/>
        </p:nvSpPr>
        <p:spPr>
          <a:xfrm>
            <a:off x="5669280" y="1463040"/>
            <a:ext cx="3108960" cy="109728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100" b="0">
                <a:solidFill>
                  <a:srgbClr val="2C3E50"/>
                </a:solidFill>
                <a:latin typeface="微软雅黑"/>
              </a:defRPr>
            </a:pPr>
            <a:r>
              <a:t>Answer: B. another; the other</a:t>
            </a:r>
            <a:br/>
            <a:br/>
            <a:r>
              <a:t>第一空：穿另一副手套 → another（不特定的另一个）</a:t>
            </a:r>
            <a:br/>
            <a:r>
              <a:t>第二空：找不到另一只（两只手套中的另一只）→ the other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真题链接 · Exam Practice (3)</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2 · Test</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53</a:t>
            </a:r>
          </a:p>
        </p:txBody>
      </p:sp>
      <p:sp>
        <p:nvSpPr>
          <p:cNvPr id="9" name="Rounded Rectangle 8"/>
          <p:cNvSpPr/>
          <p:nvPr/>
        </p:nvSpPr>
        <p:spPr>
          <a:xfrm>
            <a:off x="457200" y="1097280"/>
            <a:ext cx="1371600" cy="3200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15568"/>
            <a:ext cx="1371600" cy="301752"/>
          </a:xfrm>
          <a:prstGeom prst="rect">
            <a:avLst/>
          </a:prstGeom>
          <a:noFill/>
        </p:spPr>
        <p:txBody>
          <a:bodyPr wrap="square">
            <a:spAutoFit/>
          </a:bodyPr>
          <a:lstStyle/>
          <a:p>
            <a:pPr algn="ctr">
              <a:lnSpc>
                <a:spcPts val="1439"/>
              </a:lnSpc>
              <a:defRPr sz="1200" b="1" i="0">
                <a:solidFill>
                  <a:srgbClr val="FFFFFF"/>
                </a:solidFill>
                <a:latin typeface="微软雅黑"/>
              </a:defRPr>
            </a:pPr>
            <a:r>
              <a:t>单元测试</a:t>
            </a:r>
          </a:p>
        </p:txBody>
      </p:sp>
      <p:sp>
        <p:nvSpPr>
          <p:cNvPr id="11" name="Rounded Rectangle 10"/>
          <p:cNvSpPr/>
          <p:nvPr/>
        </p:nvSpPr>
        <p:spPr>
          <a:xfrm>
            <a:off x="457200" y="1554480"/>
            <a:ext cx="8229600" cy="914400"/>
          </a:xfrm>
          <a:prstGeom prst="roundRect">
            <a:avLst/>
          </a:prstGeom>
          <a:solidFill>
            <a:srgbClr val="EBF5FB"/>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600" b="0">
                <a:solidFill>
                  <a:srgbClr val="2C3E50"/>
                </a:solidFill>
                <a:latin typeface="微软雅黑"/>
              </a:defRPr>
            </a:pPr>
            <a:r>
              <a:t>Both of the twins like moon cakes with eggs in them. (改为否定句)</a:t>
            </a:r>
            <a:br/>
            <a:r>
              <a:t>________ of the twins ________ moon cakes with eggs in them.</a:t>
            </a:r>
          </a:p>
        </p:txBody>
      </p:sp>
      <p:sp>
        <p:nvSpPr>
          <p:cNvPr id="12" name="Rounded Rectangle 11"/>
          <p:cNvSpPr/>
          <p:nvPr/>
        </p:nvSpPr>
        <p:spPr>
          <a:xfrm>
            <a:off x="457200" y="2743200"/>
            <a:ext cx="8229600" cy="73152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1">
                <a:solidFill>
                  <a:srgbClr val="2C3E50"/>
                </a:solidFill>
                <a:latin typeface="微软雅黑"/>
              </a:defRPr>
            </a:pPr>
            <a:r>
              <a:t>Answer: Neither of the twins likes moon cakes with eggs in them.</a:t>
            </a:r>
            <a:br/>
            <a:r>
              <a:t>both 否定 → neither，谓语改为单数 likes</a:t>
            </a:r>
          </a:p>
        </p:txBody>
      </p:sp>
      <p:sp>
        <p:nvSpPr>
          <p:cNvPr id="13" name="Rounded Rectangle 12"/>
          <p:cNvSpPr/>
          <p:nvPr/>
        </p:nvSpPr>
        <p:spPr>
          <a:xfrm>
            <a:off x="457200" y="3840480"/>
            <a:ext cx="1371600" cy="3200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858768"/>
            <a:ext cx="1371600" cy="301752"/>
          </a:xfrm>
          <a:prstGeom prst="rect">
            <a:avLst/>
          </a:prstGeom>
          <a:noFill/>
        </p:spPr>
        <p:txBody>
          <a:bodyPr wrap="square">
            <a:spAutoFit/>
          </a:bodyPr>
          <a:lstStyle/>
          <a:p>
            <a:pPr algn="ctr">
              <a:lnSpc>
                <a:spcPts val="1439"/>
              </a:lnSpc>
              <a:defRPr sz="1200" b="1" i="0">
                <a:solidFill>
                  <a:srgbClr val="FFFFFF"/>
                </a:solidFill>
                <a:latin typeface="微软雅黑"/>
              </a:defRPr>
            </a:pPr>
            <a:r>
              <a:t>课后作业</a:t>
            </a:r>
          </a:p>
        </p:txBody>
      </p:sp>
      <p:sp>
        <p:nvSpPr>
          <p:cNvPr id="15" name="Rounded Rectangle 14"/>
          <p:cNvSpPr/>
          <p:nvPr/>
        </p:nvSpPr>
        <p:spPr>
          <a:xfrm>
            <a:off x="457200" y="4297680"/>
            <a:ext cx="8229600" cy="731520"/>
          </a:xfrm>
          <a:prstGeom prst="roundRect">
            <a:avLst/>
          </a:prstGeom>
          <a:solidFill>
            <a:srgbClr val="EBF5FB"/>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600" b="0">
                <a:solidFill>
                  <a:srgbClr val="2C3E50"/>
                </a:solidFill>
                <a:latin typeface="微软雅黑"/>
              </a:defRPr>
            </a:pPr>
            <a:r>
              <a:t>你能把它们再煮3分钟吗？</a:t>
            </a:r>
            <a:br/>
            <a:r>
              <a:t>Can you ________ them for ________?</a:t>
            </a:r>
          </a:p>
        </p:txBody>
      </p:sp>
      <p:sp>
        <p:nvSpPr>
          <p:cNvPr id="16" name="Rounded Rectangle 15"/>
          <p:cNvSpPr/>
          <p:nvPr/>
        </p:nvSpPr>
        <p:spPr>
          <a:xfrm>
            <a:off x="457200" y="5303520"/>
            <a:ext cx="8229600" cy="73152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1">
                <a:solidFill>
                  <a:srgbClr val="2C3E50"/>
                </a:solidFill>
                <a:latin typeface="微软雅黑"/>
              </a:defRPr>
            </a:pPr>
            <a:r>
              <a:t>Answer: Can you cook them for another three minutes?</a:t>
            </a:r>
            <a:br/>
            <a:r>
              <a:t>another + 数词 + 名词 = 再来……（又……）</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_green.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14400" y="731520"/>
            <a:ext cx="1828800" cy="457200"/>
          </a:xfrm>
          <a:prstGeom prst="rect">
            <a:avLst/>
          </a:prstGeom>
          <a:noFill/>
        </p:spPr>
        <p:txBody>
          <a:bodyPr wrap="square">
            <a:spAutoFit/>
          </a:bodyPr>
          <a:lstStyle/>
          <a:p>
            <a:pPr algn="l">
              <a:lnSpc>
                <a:spcPts val="2160"/>
              </a:lnSpc>
              <a:defRPr sz="1800" b="1" i="0">
                <a:solidFill>
                  <a:srgbClr val="F39C12"/>
                </a:solidFill>
                <a:latin typeface="Arial"/>
              </a:defRPr>
            </a:pPr>
            <a:r>
              <a:t>PART 3</a:t>
            </a:r>
          </a:p>
        </p:txBody>
      </p:sp>
      <p:sp>
        <p:nvSpPr>
          <p:cNvPr id="4" name="Rectangle 3"/>
          <p:cNvSpPr/>
          <p:nvPr/>
        </p:nvSpPr>
        <p:spPr>
          <a:xfrm>
            <a:off x="914400" y="1188720"/>
            <a:ext cx="18288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7315200" cy="1097280"/>
          </a:xfrm>
          <a:prstGeom prst="rect">
            <a:avLst/>
          </a:prstGeom>
          <a:noFill/>
        </p:spPr>
        <p:txBody>
          <a:bodyPr wrap="square">
            <a:spAutoFit/>
          </a:bodyPr>
          <a:lstStyle/>
          <a:p>
            <a:pPr algn="l">
              <a:lnSpc>
                <a:spcPts val="5280"/>
              </a:lnSpc>
              <a:defRPr sz="4400" b="1" i="0">
                <a:solidFill>
                  <a:srgbClr val="FFFFFF"/>
                </a:solidFill>
                <a:latin typeface="微软雅黑"/>
              </a:defRPr>
            </a:pPr>
            <a:r>
              <a:t>Listening — 听力训练</a:t>
            </a:r>
          </a:p>
        </p:txBody>
      </p:sp>
      <p:sp>
        <p:nvSpPr>
          <p:cNvPr id="6" name="TextBox 5"/>
          <p:cNvSpPr txBox="1"/>
          <p:nvPr/>
        </p:nvSpPr>
        <p:spPr>
          <a:xfrm>
            <a:off x="914400" y="2743200"/>
            <a:ext cx="7315200" cy="548640"/>
          </a:xfrm>
          <a:prstGeom prst="rect">
            <a:avLst/>
          </a:prstGeom>
          <a:noFill/>
        </p:spPr>
        <p:txBody>
          <a:bodyPr wrap="square">
            <a:spAutoFit/>
          </a:bodyPr>
          <a:lstStyle/>
          <a:p>
            <a:pPr algn="l">
              <a:lnSpc>
                <a:spcPts val="2160"/>
              </a:lnSpc>
              <a:defRPr sz="1800" b="0" i="0">
                <a:solidFill>
                  <a:srgbClr val="F39C12"/>
                </a:solidFill>
                <a:latin typeface="微软雅黑"/>
              </a:defRPr>
            </a:pPr>
            <a:r>
              <a:t>听后选择之信息提取  |  数字计算类  |  短对话</a:t>
            </a:r>
          </a:p>
        </p:txBody>
      </p:sp>
      <p:pic>
        <p:nvPicPr>
          <p:cNvPr id="7" name="Picture 6" descr="headphones.png"/>
          <p:cNvPicPr>
            <a:picLocks noChangeAspect="1"/>
          </p:cNvPicPr>
          <p:nvPr/>
        </p:nvPicPr>
        <p:blipFill>
          <a:blip r:embed="rId3"/>
          <a:stretch>
            <a:fillRect/>
          </a:stretch>
        </p:blipFill>
        <p:spPr>
          <a:xfrm>
            <a:off x="5943600" y="3200400"/>
            <a:ext cx="2286000" cy="2286000"/>
          </a:xfrm>
          <a:prstGeom prst="rect">
            <a:avLst/>
          </a:prstGeom>
        </p:spPr>
      </p:pic>
      <p:sp>
        <p:nvSpPr>
          <p:cNvPr id="8" name="TextBox 7"/>
          <p:cNvSpPr txBox="1"/>
          <p:nvPr/>
        </p:nvSpPr>
        <p:spPr>
          <a:xfrm>
            <a:off x="914400" y="4114800"/>
            <a:ext cx="4572000" cy="914400"/>
          </a:xfrm>
          <a:prstGeom prst="rect">
            <a:avLst/>
          </a:prstGeom>
          <a:noFill/>
        </p:spPr>
        <p:txBody>
          <a:bodyPr wrap="square">
            <a:spAutoFit/>
          </a:bodyPr>
          <a:lstStyle/>
          <a:p>
            <a:pPr algn="l">
              <a:lnSpc>
                <a:spcPts val="2400"/>
              </a:lnSpc>
              <a:defRPr sz="2000" b="0" i="0">
                <a:solidFill>
                  <a:srgbClr val="FFFFFF"/>
                </a:solidFill>
                <a:latin typeface="微软雅黑"/>
              </a:defRPr>
            </a:pPr>
            <a:r>
              <a:t>掌握数字类听力的解题技巧</a:t>
            </a:r>
            <a:br/>
            <a:r>
              <a:t>精准捕捉关键信息！</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Listening Strategy · 听力策略</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3 · Listening</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55</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400"/>
              </a:lnSpc>
              <a:defRPr sz="2000" b="1" i="0">
                <a:solidFill>
                  <a:srgbClr val="27AE60"/>
                </a:solidFill>
                <a:latin typeface="微软雅黑"/>
              </a:defRPr>
            </a:pPr>
            <a:r>
              <a:t>听后选择之信息提取（数字计算类）三步法</a:t>
            </a:r>
          </a:p>
        </p:txBody>
      </p:sp>
      <p:sp>
        <p:nvSpPr>
          <p:cNvPr id="10" name="Rounded Rectangle 9"/>
          <p:cNvSpPr/>
          <p:nvPr/>
        </p:nvSpPr>
        <p:spPr>
          <a:xfrm>
            <a:off x="274320" y="1737360"/>
            <a:ext cx="2743200" cy="2743200"/>
          </a:xfrm>
          <a:prstGeom prst="roundRect">
            <a:avLst/>
          </a:prstGeom>
          <a:solidFill>
            <a:srgbClr val="FFFFFF"/>
          </a:solidFill>
          <a:ln w="2540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5840" y="1920240"/>
            <a:ext cx="1280160" cy="1280160"/>
          </a:xfrm>
          <a:prstGeom prst="ellipse">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057400"/>
            <a:ext cx="1280160" cy="1005840"/>
          </a:xfrm>
          <a:prstGeom prst="rect">
            <a:avLst/>
          </a:prstGeom>
          <a:noFill/>
        </p:spPr>
        <p:txBody>
          <a:bodyPr wrap="square">
            <a:spAutoFit/>
          </a:bodyPr>
          <a:lstStyle/>
          <a:p>
            <a:pPr algn="ctr">
              <a:lnSpc>
                <a:spcPts val="1920"/>
              </a:lnSpc>
              <a:defRPr sz="1600" b="1" i="0">
                <a:solidFill>
                  <a:srgbClr val="FFFFFF"/>
                </a:solidFill>
                <a:latin typeface="微软雅黑"/>
              </a:defRPr>
            </a:pPr>
            <a:r>
              <a:t>Step 1</a:t>
            </a:r>
            <a:br/>
            <a:r>
              <a:t>审题</a:t>
            </a:r>
          </a:p>
        </p:txBody>
      </p:sp>
      <p:sp>
        <p:nvSpPr>
          <p:cNvPr id="13" name="TextBox 12"/>
          <p:cNvSpPr txBox="1"/>
          <p:nvPr/>
        </p:nvSpPr>
        <p:spPr>
          <a:xfrm>
            <a:off x="457200" y="3383280"/>
            <a:ext cx="2377440" cy="914400"/>
          </a:xfrm>
          <a:prstGeom prst="rect">
            <a:avLst/>
          </a:prstGeom>
          <a:noFill/>
        </p:spPr>
        <p:txBody>
          <a:bodyPr wrap="square">
            <a:spAutoFit/>
          </a:bodyPr>
          <a:lstStyle/>
          <a:p>
            <a:pPr algn="ctr">
              <a:lnSpc>
                <a:spcPts val="1560"/>
              </a:lnSpc>
              <a:defRPr sz="1300" b="0" i="0">
                <a:solidFill>
                  <a:srgbClr val="2C3E50"/>
                </a:solidFill>
                <a:latin typeface="微软雅黑"/>
              </a:defRPr>
            </a:pPr>
            <a:r>
              <a:t>速览题干，圈画关键词</a:t>
            </a:r>
            <a:br/>
            <a:r>
              <a:t>特殊疑问词、数字、专有名词等</a:t>
            </a:r>
          </a:p>
        </p:txBody>
      </p:sp>
      <p:sp>
        <p:nvSpPr>
          <p:cNvPr id="14" name="Rounded Rectangle 13"/>
          <p:cNvSpPr/>
          <p:nvPr/>
        </p:nvSpPr>
        <p:spPr>
          <a:xfrm>
            <a:off x="3200400" y="1737360"/>
            <a:ext cx="2743200" cy="2743200"/>
          </a:xfrm>
          <a:prstGeom prst="roundRect">
            <a:avLst/>
          </a:prstGeom>
          <a:solidFill>
            <a:srgbClr val="FFFFFF"/>
          </a:solidFill>
          <a:ln w="254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931920" y="1920240"/>
            <a:ext cx="1280160" cy="128016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31920" y="2057400"/>
            <a:ext cx="1280160" cy="1005840"/>
          </a:xfrm>
          <a:prstGeom prst="rect">
            <a:avLst/>
          </a:prstGeom>
          <a:noFill/>
        </p:spPr>
        <p:txBody>
          <a:bodyPr wrap="square">
            <a:spAutoFit/>
          </a:bodyPr>
          <a:lstStyle/>
          <a:p>
            <a:pPr algn="ctr">
              <a:lnSpc>
                <a:spcPts val="1920"/>
              </a:lnSpc>
              <a:defRPr sz="1600" b="1" i="0">
                <a:solidFill>
                  <a:srgbClr val="FFFFFF"/>
                </a:solidFill>
                <a:latin typeface="微软雅黑"/>
              </a:defRPr>
            </a:pPr>
            <a:r>
              <a:t>Step 2</a:t>
            </a:r>
            <a:br/>
            <a:r>
              <a:t>预测</a:t>
            </a:r>
          </a:p>
        </p:txBody>
      </p:sp>
      <p:sp>
        <p:nvSpPr>
          <p:cNvPr id="17" name="TextBox 16"/>
          <p:cNvSpPr txBox="1"/>
          <p:nvPr/>
        </p:nvSpPr>
        <p:spPr>
          <a:xfrm>
            <a:off x="3383280" y="3383280"/>
            <a:ext cx="2377440" cy="914400"/>
          </a:xfrm>
          <a:prstGeom prst="rect">
            <a:avLst/>
          </a:prstGeom>
          <a:noFill/>
        </p:spPr>
        <p:txBody>
          <a:bodyPr wrap="square">
            <a:spAutoFit/>
          </a:bodyPr>
          <a:lstStyle/>
          <a:p>
            <a:pPr algn="ctr">
              <a:lnSpc>
                <a:spcPts val="1560"/>
              </a:lnSpc>
              <a:defRPr sz="1300" b="0" i="0">
                <a:solidFill>
                  <a:srgbClr val="2C3E50"/>
                </a:solidFill>
                <a:latin typeface="微软雅黑"/>
              </a:defRPr>
            </a:pPr>
            <a:r>
              <a:t>看图片/看选项</a:t>
            </a:r>
            <a:br/>
            <a:r>
              <a:t>画关键词，预测录音内容</a:t>
            </a:r>
          </a:p>
        </p:txBody>
      </p:sp>
      <p:sp>
        <p:nvSpPr>
          <p:cNvPr id="18" name="Rounded Rectangle 17"/>
          <p:cNvSpPr/>
          <p:nvPr/>
        </p:nvSpPr>
        <p:spPr>
          <a:xfrm>
            <a:off x="6126480" y="1737360"/>
            <a:ext cx="2743200" cy="2743200"/>
          </a:xfrm>
          <a:prstGeom prst="round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0" y="1920240"/>
            <a:ext cx="1280160" cy="128016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0" y="2057400"/>
            <a:ext cx="1280160" cy="1005840"/>
          </a:xfrm>
          <a:prstGeom prst="rect">
            <a:avLst/>
          </a:prstGeom>
          <a:noFill/>
        </p:spPr>
        <p:txBody>
          <a:bodyPr wrap="square">
            <a:spAutoFit/>
          </a:bodyPr>
          <a:lstStyle/>
          <a:p>
            <a:pPr algn="ctr">
              <a:lnSpc>
                <a:spcPts val="1920"/>
              </a:lnSpc>
              <a:defRPr sz="1600" b="1" i="0">
                <a:solidFill>
                  <a:srgbClr val="FFFFFF"/>
                </a:solidFill>
                <a:latin typeface="微软雅黑"/>
              </a:defRPr>
            </a:pPr>
            <a:r>
              <a:t>Step 3</a:t>
            </a:r>
            <a:br/>
            <a:r>
              <a:t>听力</a:t>
            </a:r>
          </a:p>
        </p:txBody>
      </p:sp>
      <p:sp>
        <p:nvSpPr>
          <p:cNvPr id="21" name="TextBox 20"/>
          <p:cNvSpPr txBox="1"/>
          <p:nvPr/>
        </p:nvSpPr>
        <p:spPr>
          <a:xfrm>
            <a:off x="6309360" y="3383280"/>
            <a:ext cx="2377440" cy="914400"/>
          </a:xfrm>
          <a:prstGeom prst="rect">
            <a:avLst/>
          </a:prstGeom>
          <a:noFill/>
        </p:spPr>
        <p:txBody>
          <a:bodyPr wrap="square">
            <a:spAutoFit/>
          </a:bodyPr>
          <a:lstStyle/>
          <a:p>
            <a:pPr algn="ctr">
              <a:lnSpc>
                <a:spcPts val="1560"/>
              </a:lnSpc>
              <a:defRPr sz="1300" b="0" i="0">
                <a:solidFill>
                  <a:srgbClr val="2C3E50"/>
                </a:solidFill>
                <a:latin typeface="微软雅黑"/>
              </a:defRPr>
            </a:pPr>
            <a:r>
              <a:t>听懂句意</a:t>
            </a:r>
            <a:br/>
            <a:r>
              <a:t>捕捉关键信息，注意转折词</a:t>
            </a:r>
          </a:p>
        </p:txBody>
      </p:sp>
      <p:sp>
        <p:nvSpPr>
          <p:cNvPr id="22" name="Rounded Rectangle 21"/>
          <p:cNvSpPr/>
          <p:nvPr/>
        </p:nvSpPr>
        <p:spPr>
          <a:xfrm>
            <a:off x="457200" y="4846320"/>
            <a:ext cx="8229600" cy="1097280"/>
          </a:xfrm>
          <a:prstGeom prst="roundRect">
            <a:avLst/>
          </a:prstGeom>
          <a:solidFill>
            <a:srgbClr val="FDF2E9"/>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0">
                <a:solidFill>
                  <a:srgbClr val="2C3E50"/>
                </a:solidFill>
                <a:latin typeface="微软雅黑"/>
              </a:defRPr>
            </a:pPr>
            <a:r>
              <a:t>听力易错点 · 数字发音关注：</a:t>
            </a:r>
            <a:br/>
            <a:r>
              <a:t>fourteen /fɔːrˈtiːn/ (重音在后) vs forty /ˈfɔːrti/ (重音在前)</a:t>
            </a:r>
            <a:br/>
            <a:r>
              <a:t>thirteen vs thirty  |  fifteen vs fifty  |  sixteen vs sixty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数字计算 · Calculation Types</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3 · Listening</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56</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400"/>
              </a:lnSpc>
              <a:defRPr sz="2000" b="1" i="0">
                <a:solidFill>
                  <a:srgbClr val="27AE60"/>
                </a:solidFill>
                <a:latin typeface="微软雅黑"/>
              </a:defRPr>
            </a:pPr>
            <a:r>
              <a:t>听力数字计算三大类型</a:t>
            </a:r>
          </a:p>
        </p:txBody>
      </p:sp>
      <p:sp>
        <p:nvSpPr>
          <p:cNvPr id="10" name="Rounded Rectangle 9"/>
          <p:cNvSpPr/>
          <p:nvPr/>
        </p:nvSpPr>
        <p:spPr>
          <a:xfrm>
            <a:off x="457200" y="1737360"/>
            <a:ext cx="1828800" cy="36576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755648"/>
            <a:ext cx="1828800" cy="329184"/>
          </a:xfrm>
          <a:prstGeom prst="rect">
            <a:avLst/>
          </a:prstGeom>
          <a:noFill/>
        </p:spPr>
        <p:txBody>
          <a:bodyPr wrap="square">
            <a:spAutoFit/>
          </a:bodyPr>
          <a:lstStyle/>
          <a:p>
            <a:pPr algn="ctr">
              <a:lnSpc>
                <a:spcPts val="1800"/>
              </a:lnSpc>
              <a:defRPr sz="1500" b="1" i="0">
                <a:solidFill>
                  <a:srgbClr val="FFFFFF"/>
                </a:solidFill>
                <a:latin typeface="微软雅黑"/>
              </a:defRPr>
            </a:pPr>
            <a:r>
              <a:t>时间计算</a:t>
            </a:r>
          </a:p>
        </p:txBody>
      </p:sp>
      <p:sp>
        <p:nvSpPr>
          <p:cNvPr id="12" name="Rounded Rectangle 11"/>
          <p:cNvSpPr/>
          <p:nvPr/>
        </p:nvSpPr>
        <p:spPr>
          <a:xfrm>
            <a:off x="2560320" y="1645920"/>
            <a:ext cx="6217920" cy="1188720"/>
          </a:xfrm>
          <a:prstGeom prst="roundRect">
            <a:avLst/>
          </a:prstGeom>
          <a:solidFill>
            <a:srgbClr val="FFFFFF"/>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0">
                <a:solidFill>
                  <a:srgbClr val="2C3E50"/>
                </a:solidFill>
                <a:latin typeface="微软雅黑"/>
              </a:defRPr>
            </a:pPr>
            <a:r>
              <a:t>When / What time / How soon</a:t>
            </a:r>
            <a:br/>
            <a:r>
              <a:t>注意：时间的加减、半小时(half an hour)、</a:t>
            </a:r>
            <a:br/>
            <a:r>
              <a:t>一刻钟(a quarter)</a:t>
            </a:r>
          </a:p>
        </p:txBody>
      </p:sp>
      <p:sp>
        <p:nvSpPr>
          <p:cNvPr id="13" name="Rounded Rectangle 12"/>
          <p:cNvSpPr/>
          <p:nvPr/>
        </p:nvSpPr>
        <p:spPr>
          <a:xfrm>
            <a:off x="457200" y="3383280"/>
            <a:ext cx="1828800" cy="36576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401568"/>
            <a:ext cx="1828800" cy="329184"/>
          </a:xfrm>
          <a:prstGeom prst="rect">
            <a:avLst/>
          </a:prstGeom>
          <a:noFill/>
        </p:spPr>
        <p:txBody>
          <a:bodyPr wrap="square">
            <a:spAutoFit/>
          </a:bodyPr>
          <a:lstStyle/>
          <a:p>
            <a:pPr algn="ctr">
              <a:lnSpc>
                <a:spcPts val="1800"/>
              </a:lnSpc>
              <a:defRPr sz="1500" b="1" i="0">
                <a:solidFill>
                  <a:srgbClr val="FFFFFF"/>
                </a:solidFill>
                <a:latin typeface="微软雅黑"/>
              </a:defRPr>
            </a:pPr>
            <a:r>
              <a:t>距离计算</a:t>
            </a:r>
          </a:p>
        </p:txBody>
      </p:sp>
      <p:sp>
        <p:nvSpPr>
          <p:cNvPr id="15" name="Rounded Rectangle 14"/>
          <p:cNvSpPr/>
          <p:nvPr/>
        </p:nvSpPr>
        <p:spPr>
          <a:xfrm>
            <a:off x="2560320" y="3291840"/>
            <a:ext cx="6217920" cy="1188720"/>
          </a:xfrm>
          <a:prstGeom prst="roundRect">
            <a:avLst/>
          </a:prstGeom>
          <a:solidFill>
            <a:srgbClr val="FFFFFF"/>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0">
                <a:solidFill>
                  <a:srgbClr val="2C3E50"/>
                </a:solidFill>
                <a:latin typeface="微软雅黑"/>
              </a:defRPr>
            </a:pPr>
            <a:r>
              <a:t>How far / How long</a:t>
            </a:r>
            <a:br/>
            <a:r>
              <a:t>注意：单位换算(km/miles)、</a:t>
            </a:r>
            <a:br/>
            <a:r>
              <a:t>总路程vs部分路程</a:t>
            </a:r>
          </a:p>
        </p:txBody>
      </p:sp>
      <p:sp>
        <p:nvSpPr>
          <p:cNvPr id="16" name="Rounded Rectangle 15"/>
          <p:cNvSpPr/>
          <p:nvPr/>
        </p:nvSpPr>
        <p:spPr>
          <a:xfrm>
            <a:off x="457200" y="5029200"/>
            <a:ext cx="1828800" cy="36576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5047488"/>
            <a:ext cx="1828800" cy="329184"/>
          </a:xfrm>
          <a:prstGeom prst="rect">
            <a:avLst/>
          </a:prstGeom>
          <a:noFill/>
        </p:spPr>
        <p:txBody>
          <a:bodyPr wrap="square">
            <a:spAutoFit/>
          </a:bodyPr>
          <a:lstStyle/>
          <a:p>
            <a:pPr algn="ctr">
              <a:lnSpc>
                <a:spcPts val="1800"/>
              </a:lnSpc>
              <a:defRPr sz="1500" b="1" i="0">
                <a:solidFill>
                  <a:srgbClr val="FFFFFF"/>
                </a:solidFill>
                <a:latin typeface="微软雅黑"/>
              </a:defRPr>
            </a:pPr>
            <a:r>
              <a:t>价格计算</a:t>
            </a:r>
          </a:p>
        </p:txBody>
      </p:sp>
      <p:sp>
        <p:nvSpPr>
          <p:cNvPr id="18" name="Rounded Rectangle 17"/>
          <p:cNvSpPr/>
          <p:nvPr/>
        </p:nvSpPr>
        <p:spPr>
          <a:xfrm>
            <a:off x="2560320" y="4937760"/>
            <a:ext cx="6217920" cy="1188720"/>
          </a:xfrm>
          <a:prstGeom prst="roundRect">
            <a:avLst/>
          </a:prstGeom>
          <a:solidFill>
            <a:srgbClr val="FFFFFF"/>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0">
                <a:solidFill>
                  <a:srgbClr val="2C3E50"/>
                </a:solidFill>
                <a:latin typeface="微软雅黑"/>
              </a:defRPr>
            </a:pPr>
            <a:r>
              <a:t>How much</a:t>
            </a:r>
            <a:br/>
            <a:r>
              <a:t>注意：折扣(discount/half price)、</a:t>
            </a:r>
            <a:br/>
            <a:r>
              <a:t>数量×单价、找零(change)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Listening · 经典例题 1</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3 · Practice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57</a:t>
            </a:r>
          </a:p>
        </p:txBody>
      </p:sp>
      <p:sp>
        <p:nvSpPr>
          <p:cNvPr id="9" name="Rounded Rectangle 8"/>
          <p:cNvSpPr/>
          <p:nvPr/>
        </p:nvSpPr>
        <p:spPr>
          <a:xfrm>
            <a:off x="457200" y="1097280"/>
            <a:ext cx="1371600" cy="3200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15568"/>
            <a:ext cx="1371600" cy="301752"/>
          </a:xfrm>
          <a:prstGeom prst="rect">
            <a:avLst/>
          </a:prstGeom>
          <a:noFill/>
        </p:spPr>
        <p:txBody>
          <a:bodyPr wrap="square">
            <a:spAutoFit/>
          </a:bodyPr>
          <a:lstStyle/>
          <a:p>
            <a:pPr algn="ctr">
              <a:lnSpc>
                <a:spcPts val="1439"/>
              </a:lnSpc>
              <a:defRPr sz="1200" b="1" i="0">
                <a:solidFill>
                  <a:srgbClr val="FFFFFF"/>
                </a:solidFill>
                <a:latin typeface="微软雅黑"/>
              </a:defRPr>
            </a:pPr>
            <a:r>
              <a:t>福建二模</a:t>
            </a:r>
          </a:p>
        </p:txBody>
      </p:sp>
      <p:sp>
        <p:nvSpPr>
          <p:cNvPr id="11" name="Rounded Rectangle 10"/>
          <p:cNvSpPr/>
          <p:nvPr/>
        </p:nvSpPr>
        <p:spPr>
          <a:xfrm>
            <a:off x="2011680" y="1097280"/>
            <a:ext cx="1097280" cy="32004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11680" y="1115568"/>
            <a:ext cx="1097280" cy="301752"/>
          </a:xfrm>
          <a:prstGeom prst="rect">
            <a:avLst/>
          </a:prstGeom>
          <a:noFill/>
        </p:spPr>
        <p:txBody>
          <a:bodyPr wrap="square">
            <a:spAutoFit/>
          </a:bodyPr>
          <a:lstStyle/>
          <a:p>
            <a:pPr algn="ctr">
              <a:lnSpc>
                <a:spcPts val="1439"/>
              </a:lnSpc>
              <a:defRPr sz="1200" b="1" i="0">
                <a:solidFill>
                  <a:srgbClr val="FFFFFF"/>
                </a:solidFill>
                <a:latin typeface="微软雅黑"/>
              </a:defRPr>
            </a:pPr>
            <a:r>
              <a:t>时间</a:t>
            </a:r>
          </a:p>
        </p:txBody>
      </p:sp>
      <p:sp>
        <p:nvSpPr>
          <p:cNvPr id="13" name="TextBox 12"/>
          <p:cNvSpPr txBox="1"/>
          <p:nvPr/>
        </p:nvSpPr>
        <p:spPr>
          <a:xfrm>
            <a:off x="457200" y="1645920"/>
            <a:ext cx="8229600" cy="548640"/>
          </a:xfrm>
          <a:prstGeom prst="rect">
            <a:avLst/>
          </a:prstGeom>
          <a:noFill/>
        </p:spPr>
        <p:txBody>
          <a:bodyPr wrap="square">
            <a:spAutoFit/>
          </a:bodyPr>
          <a:lstStyle/>
          <a:p>
            <a:pPr algn="l">
              <a:lnSpc>
                <a:spcPts val="2640"/>
              </a:lnSpc>
              <a:defRPr sz="2200" b="1" i="0">
                <a:solidFill>
                  <a:srgbClr val="2C3E50"/>
                </a:solidFill>
                <a:latin typeface="Arial"/>
              </a:defRPr>
            </a:pPr>
            <a:r>
              <a:t>When will the meeting begin?</a:t>
            </a:r>
          </a:p>
        </p:txBody>
      </p:sp>
      <p:sp>
        <p:nvSpPr>
          <p:cNvPr id="14" name="Rounded Rectangle 13"/>
          <p:cNvSpPr/>
          <p:nvPr/>
        </p:nvSpPr>
        <p:spPr>
          <a:xfrm>
            <a:off x="457200" y="2560320"/>
            <a:ext cx="2560320" cy="914400"/>
          </a:xfrm>
          <a:prstGeom prst="roundRect">
            <a:avLst/>
          </a:prstGeom>
          <a:solidFill>
            <a:srgbClr val="EBF5FB"/>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743200"/>
            <a:ext cx="2560320" cy="640080"/>
          </a:xfrm>
          <a:prstGeom prst="rect">
            <a:avLst/>
          </a:prstGeom>
          <a:noFill/>
        </p:spPr>
        <p:txBody>
          <a:bodyPr wrap="square">
            <a:spAutoFit/>
          </a:bodyPr>
          <a:lstStyle/>
          <a:p>
            <a:pPr algn="ctr">
              <a:lnSpc>
                <a:spcPts val="2400"/>
              </a:lnSpc>
              <a:defRPr sz="2000" b="0" i="0">
                <a:solidFill>
                  <a:srgbClr val="2C3E50"/>
                </a:solidFill>
                <a:latin typeface="Arial"/>
              </a:defRPr>
            </a:pPr>
            <a:r>
              <a:t>A. At 8:30.</a:t>
            </a:r>
          </a:p>
        </p:txBody>
      </p:sp>
      <p:sp>
        <p:nvSpPr>
          <p:cNvPr id="16" name="Rounded Rectangle 15"/>
          <p:cNvSpPr/>
          <p:nvPr/>
        </p:nvSpPr>
        <p:spPr>
          <a:xfrm>
            <a:off x="3291840" y="2560320"/>
            <a:ext cx="2560320" cy="914400"/>
          </a:xfrm>
          <a:prstGeom prst="roundRect">
            <a:avLst/>
          </a:prstGeom>
          <a:solidFill>
            <a:srgbClr val="E8F8EE"/>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0" y="2743200"/>
            <a:ext cx="2560320" cy="640080"/>
          </a:xfrm>
          <a:prstGeom prst="rect">
            <a:avLst/>
          </a:prstGeom>
          <a:noFill/>
        </p:spPr>
        <p:txBody>
          <a:bodyPr wrap="square">
            <a:spAutoFit/>
          </a:bodyPr>
          <a:lstStyle/>
          <a:p>
            <a:pPr algn="ctr">
              <a:lnSpc>
                <a:spcPts val="2400"/>
              </a:lnSpc>
              <a:defRPr sz="2000" b="1" i="0">
                <a:solidFill>
                  <a:srgbClr val="2C3E50"/>
                </a:solidFill>
                <a:latin typeface="Arial"/>
              </a:defRPr>
            </a:pPr>
            <a:r>
              <a:t>B. At 8:45.</a:t>
            </a:r>
          </a:p>
        </p:txBody>
      </p:sp>
      <p:sp>
        <p:nvSpPr>
          <p:cNvPr id="18" name="Rounded Rectangle 17"/>
          <p:cNvSpPr/>
          <p:nvPr/>
        </p:nvSpPr>
        <p:spPr>
          <a:xfrm>
            <a:off x="6126480" y="2560320"/>
            <a:ext cx="2560320" cy="914400"/>
          </a:xfrm>
          <a:prstGeom prst="roundRect">
            <a:avLst/>
          </a:prstGeom>
          <a:solidFill>
            <a:srgbClr val="EBF5FB"/>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2743200"/>
            <a:ext cx="2560320" cy="640080"/>
          </a:xfrm>
          <a:prstGeom prst="rect">
            <a:avLst/>
          </a:prstGeom>
          <a:noFill/>
        </p:spPr>
        <p:txBody>
          <a:bodyPr wrap="square">
            <a:spAutoFit/>
          </a:bodyPr>
          <a:lstStyle/>
          <a:p>
            <a:pPr algn="ctr">
              <a:lnSpc>
                <a:spcPts val="2400"/>
              </a:lnSpc>
              <a:defRPr sz="2000" b="0" i="0">
                <a:solidFill>
                  <a:srgbClr val="2C3E50"/>
                </a:solidFill>
                <a:latin typeface="Arial"/>
              </a:defRPr>
            </a:pPr>
            <a:r>
              <a:t>C. At 9:00.</a:t>
            </a:r>
          </a:p>
        </p:txBody>
      </p:sp>
      <p:sp>
        <p:nvSpPr>
          <p:cNvPr id="20" name="Rounded Rectangle 19"/>
          <p:cNvSpPr/>
          <p:nvPr/>
        </p:nvSpPr>
        <p:spPr>
          <a:xfrm>
            <a:off x="457200" y="3840480"/>
            <a:ext cx="1828800" cy="45720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886200"/>
            <a:ext cx="1828800" cy="365760"/>
          </a:xfrm>
          <a:prstGeom prst="rect">
            <a:avLst/>
          </a:prstGeom>
          <a:noFill/>
        </p:spPr>
        <p:txBody>
          <a:bodyPr wrap="square">
            <a:spAutoFit/>
          </a:bodyPr>
          <a:lstStyle/>
          <a:p>
            <a:pPr algn="ctr">
              <a:lnSpc>
                <a:spcPts val="2160"/>
              </a:lnSpc>
              <a:defRPr sz="1800" b="1" i="0">
                <a:solidFill>
                  <a:srgbClr val="FFFFFF"/>
                </a:solidFill>
                <a:latin typeface="Arial"/>
              </a:defRPr>
            </a:pPr>
            <a:r>
              <a:t>Answer: B</a:t>
            </a:r>
          </a:p>
        </p:txBody>
      </p:sp>
      <p:sp>
        <p:nvSpPr>
          <p:cNvPr id="22" name="Rounded Rectangle 21"/>
          <p:cNvSpPr/>
          <p:nvPr/>
        </p:nvSpPr>
        <p:spPr>
          <a:xfrm>
            <a:off x="457200" y="4572000"/>
            <a:ext cx="8229600" cy="1371600"/>
          </a:xfrm>
          <a:prstGeom prst="roundRect">
            <a:avLst/>
          </a:prstGeom>
          <a:solidFill>
            <a:srgbClr val="FDF2E9"/>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0">
                <a:solidFill>
                  <a:srgbClr val="2C3E50"/>
                </a:solidFill>
                <a:latin typeface="微软雅黑"/>
              </a:defRPr>
            </a:pPr>
            <a:r>
              <a:t>解题策略：</a:t>
            </a:r>
            <a:br/>
            <a:r>
              <a:t>关键词：When → 时间类。注意听具体时间点，可能涉及推迟/提前。</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Listening · 经典例题 2</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3 · Practice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58</a:t>
            </a:r>
          </a:p>
        </p:txBody>
      </p:sp>
      <p:sp>
        <p:nvSpPr>
          <p:cNvPr id="9" name="Rounded Rectangle 8"/>
          <p:cNvSpPr/>
          <p:nvPr/>
        </p:nvSpPr>
        <p:spPr>
          <a:xfrm>
            <a:off x="457200" y="1097280"/>
            <a:ext cx="1371600" cy="3200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15568"/>
            <a:ext cx="1371600" cy="301752"/>
          </a:xfrm>
          <a:prstGeom prst="rect">
            <a:avLst/>
          </a:prstGeom>
          <a:noFill/>
        </p:spPr>
        <p:txBody>
          <a:bodyPr wrap="square">
            <a:spAutoFit/>
          </a:bodyPr>
          <a:lstStyle/>
          <a:p>
            <a:pPr algn="ctr">
              <a:lnSpc>
                <a:spcPts val="1439"/>
              </a:lnSpc>
              <a:defRPr sz="1200" b="1" i="0">
                <a:solidFill>
                  <a:srgbClr val="FFFFFF"/>
                </a:solidFill>
                <a:latin typeface="微软雅黑"/>
              </a:defRPr>
            </a:pPr>
            <a:r>
              <a:t>江西月考</a:t>
            </a:r>
          </a:p>
        </p:txBody>
      </p:sp>
      <p:sp>
        <p:nvSpPr>
          <p:cNvPr id="11" name="Rounded Rectangle 10"/>
          <p:cNvSpPr/>
          <p:nvPr/>
        </p:nvSpPr>
        <p:spPr>
          <a:xfrm>
            <a:off x="2011680" y="1097280"/>
            <a:ext cx="1097280" cy="32004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11680" y="1115568"/>
            <a:ext cx="1097280" cy="301752"/>
          </a:xfrm>
          <a:prstGeom prst="rect">
            <a:avLst/>
          </a:prstGeom>
          <a:noFill/>
        </p:spPr>
        <p:txBody>
          <a:bodyPr wrap="square">
            <a:spAutoFit/>
          </a:bodyPr>
          <a:lstStyle/>
          <a:p>
            <a:pPr algn="ctr">
              <a:lnSpc>
                <a:spcPts val="1439"/>
              </a:lnSpc>
              <a:defRPr sz="1200" b="1" i="0">
                <a:solidFill>
                  <a:srgbClr val="FFFFFF"/>
                </a:solidFill>
                <a:latin typeface="微软雅黑"/>
              </a:defRPr>
            </a:pPr>
            <a:r>
              <a:t>时间</a:t>
            </a:r>
          </a:p>
        </p:txBody>
      </p:sp>
      <p:sp>
        <p:nvSpPr>
          <p:cNvPr id="13" name="TextBox 12"/>
          <p:cNvSpPr txBox="1"/>
          <p:nvPr/>
        </p:nvSpPr>
        <p:spPr>
          <a:xfrm>
            <a:off x="457200" y="1645920"/>
            <a:ext cx="8229600" cy="548640"/>
          </a:xfrm>
          <a:prstGeom prst="rect">
            <a:avLst/>
          </a:prstGeom>
          <a:noFill/>
        </p:spPr>
        <p:txBody>
          <a:bodyPr wrap="square">
            <a:spAutoFit/>
          </a:bodyPr>
          <a:lstStyle/>
          <a:p>
            <a:pPr algn="l">
              <a:lnSpc>
                <a:spcPts val="2640"/>
              </a:lnSpc>
              <a:defRPr sz="2200" b="1" i="0">
                <a:solidFill>
                  <a:srgbClr val="2C3E50"/>
                </a:solidFill>
                <a:latin typeface="Arial"/>
              </a:defRPr>
            </a:pPr>
            <a:r>
              <a:t>How soon will the soccer game begin?</a:t>
            </a:r>
          </a:p>
        </p:txBody>
      </p:sp>
      <p:sp>
        <p:nvSpPr>
          <p:cNvPr id="14" name="Rounded Rectangle 13"/>
          <p:cNvSpPr/>
          <p:nvPr/>
        </p:nvSpPr>
        <p:spPr>
          <a:xfrm>
            <a:off x="457200" y="2560320"/>
            <a:ext cx="2560320" cy="914400"/>
          </a:xfrm>
          <a:prstGeom prst="roundRect">
            <a:avLst/>
          </a:prstGeom>
          <a:solidFill>
            <a:srgbClr val="EBF5FB"/>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743200"/>
            <a:ext cx="2560320" cy="640080"/>
          </a:xfrm>
          <a:prstGeom prst="rect">
            <a:avLst/>
          </a:prstGeom>
          <a:noFill/>
        </p:spPr>
        <p:txBody>
          <a:bodyPr wrap="square">
            <a:spAutoFit/>
          </a:bodyPr>
          <a:lstStyle/>
          <a:p>
            <a:pPr algn="ctr">
              <a:lnSpc>
                <a:spcPts val="2400"/>
              </a:lnSpc>
              <a:defRPr sz="2000" b="0" i="0">
                <a:solidFill>
                  <a:srgbClr val="2C3E50"/>
                </a:solidFill>
                <a:latin typeface="Arial"/>
              </a:defRPr>
            </a:pPr>
            <a:r>
              <a:t>A. In 10 minutes.</a:t>
            </a:r>
          </a:p>
        </p:txBody>
      </p:sp>
      <p:sp>
        <p:nvSpPr>
          <p:cNvPr id="16" name="Rounded Rectangle 15"/>
          <p:cNvSpPr/>
          <p:nvPr/>
        </p:nvSpPr>
        <p:spPr>
          <a:xfrm>
            <a:off x="3291840" y="2560320"/>
            <a:ext cx="2560320" cy="914400"/>
          </a:xfrm>
          <a:prstGeom prst="roundRect">
            <a:avLst/>
          </a:prstGeom>
          <a:solidFill>
            <a:srgbClr val="EBF5FB"/>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0" y="2743200"/>
            <a:ext cx="2560320" cy="640080"/>
          </a:xfrm>
          <a:prstGeom prst="rect">
            <a:avLst/>
          </a:prstGeom>
          <a:noFill/>
        </p:spPr>
        <p:txBody>
          <a:bodyPr wrap="square">
            <a:spAutoFit/>
          </a:bodyPr>
          <a:lstStyle/>
          <a:p>
            <a:pPr algn="ctr">
              <a:lnSpc>
                <a:spcPts val="2400"/>
              </a:lnSpc>
              <a:defRPr sz="2000" b="0" i="0">
                <a:solidFill>
                  <a:srgbClr val="2C3E50"/>
                </a:solidFill>
                <a:latin typeface="Arial"/>
              </a:defRPr>
            </a:pPr>
            <a:r>
              <a:t>B. In 20 minutes.</a:t>
            </a:r>
          </a:p>
        </p:txBody>
      </p:sp>
      <p:sp>
        <p:nvSpPr>
          <p:cNvPr id="18" name="Rounded Rectangle 17"/>
          <p:cNvSpPr/>
          <p:nvPr/>
        </p:nvSpPr>
        <p:spPr>
          <a:xfrm>
            <a:off x="6126480" y="2560320"/>
            <a:ext cx="2560320" cy="914400"/>
          </a:xfrm>
          <a:prstGeom prst="roundRect">
            <a:avLst/>
          </a:prstGeom>
          <a:solidFill>
            <a:srgbClr val="E8F8EE"/>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2743200"/>
            <a:ext cx="2560320" cy="640080"/>
          </a:xfrm>
          <a:prstGeom prst="rect">
            <a:avLst/>
          </a:prstGeom>
          <a:noFill/>
        </p:spPr>
        <p:txBody>
          <a:bodyPr wrap="square">
            <a:spAutoFit/>
          </a:bodyPr>
          <a:lstStyle/>
          <a:p>
            <a:pPr algn="ctr">
              <a:lnSpc>
                <a:spcPts val="2400"/>
              </a:lnSpc>
              <a:defRPr sz="2000" b="1" i="0">
                <a:solidFill>
                  <a:srgbClr val="2C3E50"/>
                </a:solidFill>
                <a:latin typeface="Arial"/>
              </a:defRPr>
            </a:pPr>
            <a:r>
              <a:t>C. In half an hour.</a:t>
            </a:r>
          </a:p>
        </p:txBody>
      </p:sp>
      <p:sp>
        <p:nvSpPr>
          <p:cNvPr id="20" name="Rounded Rectangle 19"/>
          <p:cNvSpPr/>
          <p:nvPr/>
        </p:nvSpPr>
        <p:spPr>
          <a:xfrm>
            <a:off x="457200" y="3840480"/>
            <a:ext cx="1828800" cy="45720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886200"/>
            <a:ext cx="1828800" cy="365760"/>
          </a:xfrm>
          <a:prstGeom prst="rect">
            <a:avLst/>
          </a:prstGeom>
          <a:noFill/>
        </p:spPr>
        <p:txBody>
          <a:bodyPr wrap="square">
            <a:spAutoFit/>
          </a:bodyPr>
          <a:lstStyle/>
          <a:p>
            <a:pPr algn="ctr">
              <a:lnSpc>
                <a:spcPts val="2160"/>
              </a:lnSpc>
              <a:defRPr sz="1800" b="1" i="0">
                <a:solidFill>
                  <a:srgbClr val="FFFFFF"/>
                </a:solidFill>
                <a:latin typeface="Arial"/>
              </a:defRPr>
            </a:pPr>
            <a:r>
              <a:t>Answer: C</a:t>
            </a:r>
          </a:p>
        </p:txBody>
      </p:sp>
      <p:sp>
        <p:nvSpPr>
          <p:cNvPr id="22" name="Rounded Rectangle 21"/>
          <p:cNvSpPr/>
          <p:nvPr/>
        </p:nvSpPr>
        <p:spPr>
          <a:xfrm>
            <a:off x="457200" y="4572000"/>
            <a:ext cx="8229600" cy="1371600"/>
          </a:xfrm>
          <a:prstGeom prst="roundRect">
            <a:avLst/>
          </a:prstGeom>
          <a:solidFill>
            <a:srgbClr val="FDF2E9"/>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0">
                <a:solidFill>
                  <a:srgbClr val="2C3E50"/>
                </a:solidFill>
                <a:latin typeface="微软雅黑"/>
              </a:defRPr>
            </a:pPr>
            <a:r>
              <a:t>解题策略：</a:t>
            </a:r>
            <a:br/>
            <a:r>
              <a:t>关键词：How soon → 还有多久。half an hour = 30 minutes。注意区分 How soon vs How long。</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Listening · 经典例题 3</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3 · Practice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59</a:t>
            </a:r>
          </a:p>
        </p:txBody>
      </p:sp>
      <p:sp>
        <p:nvSpPr>
          <p:cNvPr id="9" name="Rounded Rectangle 8"/>
          <p:cNvSpPr/>
          <p:nvPr/>
        </p:nvSpPr>
        <p:spPr>
          <a:xfrm>
            <a:off x="457200" y="1097280"/>
            <a:ext cx="1371600" cy="3200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15568"/>
            <a:ext cx="1371600" cy="301752"/>
          </a:xfrm>
          <a:prstGeom prst="rect">
            <a:avLst/>
          </a:prstGeom>
          <a:noFill/>
        </p:spPr>
        <p:txBody>
          <a:bodyPr wrap="square">
            <a:spAutoFit/>
          </a:bodyPr>
          <a:lstStyle/>
          <a:p>
            <a:pPr algn="ctr">
              <a:lnSpc>
                <a:spcPts val="1439"/>
              </a:lnSpc>
              <a:defRPr sz="1200" b="1" i="0">
                <a:solidFill>
                  <a:srgbClr val="FFFFFF"/>
                </a:solidFill>
                <a:latin typeface="微软雅黑"/>
              </a:defRPr>
            </a:pPr>
            <a:r>
              <a:t>江西月考</a:t>
            </a:r>
          </a:p>
        </p:txBody>
      </p:sp>
      <p:sp>
        <p:nvSpPr>
          <p:cNvPr id="11" name="Rounded Rectangle 10"/>
          <p:cNvSpPr/>
          <p:nvPr/>
        </p:nvSpPr>
        <p:spPr>
          <a:xfrm>
            <a:off x="2011680" y="1097280"/>
            <a:ext cx="1097280" cy="3200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11680" y="1115568"/>
            <a:ext cx="1097280" cy="301752"/>
          </a:xfrm>
          <a:prstGeom prst="rect">
            <a:avLst/>
          </a:prstGeom>
          <a:noFill/>
        </p:spPr>
        <p:txBody>
          <a:bodyPr wrap="square">
            <a:spAutoFit/>
          </a:bodyPr>
          <a:lstStyle/>
          <a:p>
            <a:pPr algn="ctr">
              <a:lnSpc>
                <a:spcPts val="1439"/>
              </a:lnSpc>
              <a:defRPr sz="1200" b="1" i="0">
                <a:solidFill>
                  <a:srgbClr val="FFFFFF"/>
                </a:solidFill>
                <a:latin typeface="微软雅黑"/>
              </a:defRPr>
            </a:pPr>
            <a:r>
              <a:t>距离</a:t>
            </a:r>
          </a:p>
        </p:txBody>
      </p:sp>
      <p:sp>
        <p:nvSpPr>
          <p:cNvPr id="13" name="TextBox 12"/>
          <p:cNvSpPr txBox="1"/>
          <p:nvPr/>
        </p:nvSpPr>
        <p:spPr>
          <a:xfrm>
            <a:off x="457200" y="1645920"/>
            <a:ext cx="8229600" cy="548640"/>
          </a:xfrm>
          <a:prstGeom prst="rect">
            <a:avLst/>
          </a:prstGeom>
          <a:noFill/>
        </p:spPr>
        <p:txBody>
          <a:bodyPr wrap="square">
            <a:spAutoFit/>
          </a:bodyPr>
          <a:lstStyle/>
          <a:p>
            <a:pPr algn="l">
              <a:lnSpc>
                <a:spcPts val="2640"/>
              </a:lnSpc>
              <a:defRPr sz="2200" b="1" i="0">
                <a:solidFill>
                  <a:srgbClr val="2C3E50"/>
                </a:solidFill>
                <a:latin typeface="Arial"/>
              </a:defRPr>
            </a:pPr>
            <a:r>
              <a:t>How far is it from Joe's home to his school?</a:t>
            </a:r>
          </a:p>
        </p:txBody>
      </p:sp>
      <p:sp>
        <p:nvSpPr>
          <p:cNvPr id="14" name="Rounded Rectangle 13"/>
          <p:cNvSpPr/>
          <p:nvPr/>
        </p:nvSpPr>
        <p:spPr>
          <a:xfrm>
            <a:off x="457200" y="2560320"/>
            <a:ext cx="2560320" cy="914400"/>
          </a:xfrm>
          <a:prstGeom prst="roundRect">
            <a:avLst/>
          </a:prstGeom>
          <a:solidFill>
            <a:srgbClr val="EBF5FB"/>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743200"/>
            <a:ext cx="2560320" cy="640080"/>
          </a:xfrm>
          <a:prstGeom prst="rect">
            <a:avLst/>
          </a:prstGeom>
          <a:noFill/>
        </p:spPr>
        <p:txBody>
          <a:bodyPr wrap="square">
            <a:spAutoFit/>
          </a:bodyPr>
          <a:lstStyle/>
          <a:p>
            <a:pPr algn="ctr">
              <a:lnSpc>
                <a:spcPts val="2400"/>
              </a:lnSpc>
              <a:defRPr sz="2000" b="0" i="0">
                <a:solidFill>
                  <a:srgbClr val="2C3E50"/>
                </a:solidFill>
                <a:latin typeface="Arial"/>
              </a:defRPr>
            </a:pPr>
            <a:r>
              <a:t>A. 2 kilometers.</a:t>
            </a:r>
          </a:p>
        </p:txBody>
      </p:sp>
      <p:sp>
        <p:nvSpPr>
          <p:cNvPr id="16" name="Rounded Rectangle 15"/>
          <p:cNvSpPr/>
          <p:nvPr/>
        </p:nvSpPr>
        <p:spPr>
          <a:xfrm>
            <a:off x="3291840" y="2560320"/>
            <a:ext cx="2560320" cy="914400"/>
          </a:xfrm>
          <a:prstGeom prst="roundRect">
            <a:avLst/>
          </a:prstGeom>
          <a:solidFill>
            <a:srgbClr val="EBF5FB"/>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0" y="2743200"/>
            <a:ext cx="2560320" cy="640080"/>
          </a:xfrm>
          <a:prstGeom prst="rect">
            <a:avLst/>
          </a:prstGeom>
          <a:noFill/>
        </p:spPr>
        <p:txBody>
          <a:bodyPr wrap="square">
            <a:spAutoFit/>
          </a:bodyPr>
          <a:lstStyle/>
          <a:p>
            <a:pPr algn="ctr">
              <a:lnSpc>
                <a:spcPts val="2400"/>
              </a:lnSpc>
              <a:defRPr sz="2000" b="0" i="0">
                <a:solidFill>
                  <a:srgbClr val="2C3E50"/>
                </a:solidFill>
                <a:latin typeface="Arial"/>
              </a:defRPr>
            </a:pPr>
            <a:r>
              <a:t>B. 7 kilometers.</a:t>
            </a:r>
          </a:p>
        </p:txBody>
      </p:sp>
      <p:sp>
        <p:nvSpPr>
          <p:cNvPr id="18" name="Rounded Rectangle 17"/>
          <p:cNvSpPr/>
          <p:nvPr/>
        </p:nvSpPr>
        <p:spPr>
          <a:xfrm>
            <a:off x="6126480" y="2560320"/>
            <a:ext cx="2560320" cy="914400"/>
          </a:xfrm>
          <a:prstGeom prst="roundRect">
            <a:avLst/>
          </a:prstGeom>
          <a:solidFill>
            <a:srgbClr val="E8F8EE"/>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2743200"/>
            <a:ext cx="2560320" cy="640080"/>
          </a:xfrm>
          <a:prstGeom prst="rect">
            <a:avLst/>
          </a:prstGeom>
          <a:noFill/>
        </p:spPr>
        <p:txBody>
          <a:bodyPr wrap="square">
            <a:spAutoFit/>
          </a:bodyPr>
          <a:lstStyle/>
          <a:p>
            <a:pPr algn="ctr">
              <a:lnSpc>
                <a:spcPts val="2400"/>
              </a:lnSpc>
              <a:defRPr sz="2000" b="1" i="0">
                <a:solidFill>
                  <a:srgbClr val="2C3E50"/>
                </a:solidFill>
                <a:latin typeface="Arial"/>
              </a:defRPr>
            </a:pPr>
            <a:r>
              <a:t>C. 9 kilometers.</a:t>
            </a:r>
          </a:p>
        </p:txBody>
      </p:sp>
      <p:sp>
        <p:nvSpPr>
          <p:cNvPr id="20" name="Rounded Rectangle 19"/>
          <p:cNvSpPr/>
          <p:nvPr/>
        </p:nvSpPr>
        <p:spPr>
          <a:xfrm>
            <a:off x="457200" y="3840480"/>
            <a:ext cx="1828800" cy="45720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886200"/>
            <a:ext cx="1828800" cy="365760"/>
          </a:xfrm>
          <a:prstGeom prst="rect">
            <a:avLst/>
          </a:prstGeom>
          <a:noFill/>
        </p:spPr>
        <p:txBody>
          <a:bodyPr wrap="square">
            <a:spAutoFit/>
          </a:bodyPr>
          <a:lstStyle/>
          <a:p>
            <a:pPr algn="ctr">
              <a:lnSpc>
                <a:spcPts val="2160"/>
              </a:lnSpc>
              <a:defRPr sz="1800" b="1" i="0">
                <a:solidFill>
                  <a:srgbClr val="FFFFFF"/>
                </a:solidFill>
                <a:latin typeface="Arial"/>
              </a:defRPr>
            </a:pPr>
            <a:r>
              <a:t>Answer: C</a:t>
            </a:r>
          </a:p>
        </p:txBody>
      </p:sp>
      <p:sp>
        <p:nvSpPr>
          <p:cNvPr id="22" name="Rounded Rectangle 21"/>
          <p:cNvSpPr/>
          <p:nvPr/>
        </p:nvSpPr>
        <p:spPr>
          <a:xfrm>
            <a:off x="457200" y="4572000"/>
            <a:ext cx="8229600" cy="1371600"/>
          </a:xfrm>
          <a:prstGeom prst="roundRect">
            <a:avLst/>
          </a:prstGeom>
          <a:solidFill>
            <a:srgbClr val="FDF2E9"/>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0">
                <a:solidFill>
                  <a:srgbClr val="2C3E50"/>
                </a:solidFill>
                <a:latin typeface="微软雅黑"/>
              </a:defRPr>
            </a:pPr>
            <a:r>
              <a:t>解题策略：</a:t>
            </a:r>
            <a:br/>
            <a:r>
              <a:t>关键词：How far → 距离类。可能涉及加法/减法计算，注意 from...to... 的起终点。</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Listening · 经典例题 4</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3 · Practice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60</a:t>
            </a:r>
          </a:p>
        </p:txBody>
      </p:sp>
      <p:sp>
        <p:nvSpPr>
          <p:cNvPr id="9" name="Rounded Rectangle 8"/>
          <p:cNvSpPr/>
          <p:nvPr/>
        </p:nvSpPr>
        <p:spPr>
          <a:xfrm>
            <a:off x="457200" y="1097280"/>
            <a:ext cx="1371600" cy="3200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15568"/>
            <a:ext cx="1371600" cy="301752"/>
          </a:xfrm>
          <a:prstGeom prst="rect">
            <a:avLst/>
          </a:prstGeom>
          <a:noFill/>
        </p:spPr>
        <p:txBody>
          <a:bodyPr wrap="square">
            <a:spAutoFit/>
          </a:bodyPr>
          <a:lstStyle/>
          <a:p>
            <a:pPr algn="ctr">
              <a:lnSpc>
                <a:spcPts val="1439"/>
              </a:lnSpc>
              <a:defRPr sz="1200" b="1" i="0">
                <a:solidFill>
                  <a:srgbClr val="FFFFFF"/>
                </a:solidFill>
                <a:latin typeface="微软雅黑"/>
              </a:defRPr>
            </a:pPr>
            <a:r>
              <a:t>江苏期末</a:t>
            </a:r>
          </a:p>
        </p:txBody>
      </p:sp>
      <p:sp>
        <p:nvSpPr>
          <p:cNvPr id="11" name="Rounded Rectangle 10"/>
          <p:cNvSpPr/>
          <p:nvPr/>
        </p:nvSpPr>
        <p:spPr>
          <a:xfrm>
            <a:off x="2011680" y="1097280"/>
            <a:ext cx="1097280" cy="32004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11680" y="1115568"/>
            <a:ext cx="1097280" cy="301752"/>
          </a:xfrm>
          <a:prstGeom prst="rect">
            <a:avLst/>
          </a:prstGeom>
          <a:noFill/>
        </p:spPr>
        <p:txBody>
          <a:bodyPr wrap="square">
            <a:spAutoFit/>
          </a:bodyPr>
          <a:lstStyle/>
          <a:p>
            <a:pPr algn="ctr">
              <a:lnSpc>
                <a:spcPts val="1439"/>
              </a:lnSpc>
              <a:defRPr sz="1200" b="1" i="0">
                <a:solidFill>
                  <a:srgbClr val="FFFFFF"/>
                </a:solidFill>
                <a:latin typeface="微软雅黑"/>
              </a:defRPr>
            </a:pPr>
            <a:r>
              <a:t>价格</a:t>
            </a:r>
          </a:p>
        </p:txBody>
      </p:sp>
      <p:sp>
        <p:nvSpPr>
          <p:cNvPr id="13" name="TextBox 12"/>
          <p:cNvSpPr txBox="1"/>
          <p:nvPr/>
        </p:nvSpPr>
        <p:spPr>
          <a:xfrm>
            <a:off x="457200" y="1645920"/>
            <a:ext cx="8229600" cy="548640"/>
          </a:xfrm>
          <a:prstGeom prst="rect">
            <a:avLst/>
          </a:prstGeom>
          <a:noFill/>
        </p:spPr>
        <p:txBody>
          <a:bodyPr wrap="square">
            <a:spAutoFit/>
          </a:bodyPr>
          <a:lstStyle/>
          <a:p>
            <a:pPr algn="l">
              <a:lnSpc>
                <a:spcPts val="2640"/>
              </a:lnSpc>
              <a:defRPr sz="2200" b="1" i="0">
                <a:solidFill>
                  <a:srgbClr val="2C3E50"/>
                </a:solidFill>
                <a:latin typeface="Arial"/>
              </a:defRPr>
            </a:pPr>
            <a:r>
              <a:t>How much will the lady pay if she wants to buy the boots?</a:t>
            </a:r>
          </a:p>
        </p:txBody>
      </p:sp>
      <p:sp>
        <p:nvSpPr>
          <p:cNvPr id="14" name="Rounded Rectangle 13"/>
          <p:cNvSpPr/>
          <p:nvPr/>
        </p:nvSpPr>
        <p:spPr>
          <a:xfrm>
            <a:off x="457200" y="2560320"/>
            <a:ext cx="2560320" cy="914400"/>
          </a:xfrm>
          <a:prstGeom prst="roundRect">
            <a:avLst/>
          </a:prstGeom>
          <a:solidFill>
            <a:srgbClr val="EBF5FB"/>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743200"/>
            <a:ext cx="2560320" cy="640080"/>
          </a:xfrm>
          <a:prstGeom prst="rect">
            <a:avLst/>
          </a:prstGeom>
          <a:noFill/>
        </p:spPr>
        <p:txBody>
          <a:bodyPr wrap="square">
            <a:spAutoFit/>
          </a:bodyPr>
          <a:lstStyle/>
          <a:p>
            <a:pPr algn="ctr">
              <a:lnSpc>
                <a:spcPts val="2400"/>
              </a:lnSpc>
              <a:defRPr sz="2000" b="0" i="0">
                <a:solidFill>
                  <a:srgbClr val="2C3E50"/>
                </a:solidFill>
                <a:latin typeface="Arial"/>
              </a:defRPr>
            </a:pPr>
            <a:r>
              <a:t>A. $200.</a:t>
            </a:r>
          </a:p>
        </p:txBody>
      </p:sp>
      <p:sp>
        <p:nvSpPr>
          <p:cNvPr id="16" name="Rounded Rectangle 15"/>
          <p:cNvSpPr/>
          <p:nvPr/>
        </p:nvSpPr>
        <p:spPr>
          <a:xfrm>
            <a:off x="3291840" y="2560320"/>
            <a:ext cx="2560320" cy="914400"/>
          </a:xfrm>
          <a:prstGeom prst="roundRect">
            <a:avLst/>
          </a:prstGeom>
          <a:solidFill>
            <a:srgbClr val="EBF5FB"/>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0" y="2743200"/>
            <a:ext cx="2560320" cy="640080"/>
          </a:xfrm>
          <a:prstGeom prst="rect">
            <a:avLst/>
          </a:prstGeom>
          <a:noFill/>
        </p:spPr>
        <p:txBody>
          <a:bodyPr wrap="square">
            <a:spAutoFit/>
          </a:bodyPr>
          <a:lstStyle/>
          <a:p>
            <a:pPr algn="ctr">
              <a:lnSpc>
                <a:spcPts val="2400"/>
              </a:lnSpc>
              <a:defRPr sz="2000" b="0" i="0">
                <a:solidFill>
                  <a:srgbClr val="2C3E50"/>
                </a:solidFill>
                <a:latin typeface="Arial"/>
              </a:defRPr>
            </a:pPr>
            <a:r>
              <a:t>B. $150.</a:t>
            </a:r>
          </a:p>
        </p:txBody>
      </p:sp>
      <p:sp>
        <p:nvSpPr>
          <p:cNvPr id="18" name="Rounded Rectangle 17"/>
          <p:cNvSpPr/>
          <p:nvPr/>
        </p:nvSpPr>
        <p:spPr>
          <a:xfrm>
            <a:off x="6126480" y="2560320"/>
            <a:ext cx="2560320" cy="914400"/>
          </a:xfrm>
          <a:prstGeom prst="roundRect">
            <a:avLst/>
          </a:prstGeom>
          <a:solidFill>
            <a:srgbClr val="E8F8EE"/>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2743200"/>
            <a:ext cx="2560320" cy="640080"/>
          </a:xfrm>
          <a:prstGeom prst="rect">
            <a:avLst/>
          </a:prstGeom>
          <a:noFill/>
        </p:spPr>
        <p:txBody>
          <a:bodyPr wrap="square">
            <a:spAutoFit/>
          </a:bodyPr>
          <a:lstStyle/>
          <a:p>
            <a:pPr algn="ctr">
              <a:lnSpc>
                <a:spcPts val="2400"/>
              </a:lnSpc>
              <a:defRPr sz="2000" b="1" i="0">
                <a:solidFill>
                  <a:srgbClr val="2C3E50"/>
                </a:solidFill>
                <a:latin typeface="Arial"/>
              </a:defRPr>
            </a:pPr>
            <a:r>
              <a:t>C. $100.</a:t>
            </a:r>
          </a:p>
        </p:txBody>
      </p:sp>
      <p:sp>
        <p:nvSpPr>
          <p:cNvPr id="20" name="Rounded Rectangle 19"/>
          <p:cNvSpPr/>
          <p:nvPr/>
        </p:nvSpPr>
        <p:spPr>
          <a:xfrm>
            <a:off x="457200" y="3840480"/>
            <a:ext cx="1828800" cy="45720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886200"/>
            <a:ext cx="1828800" cy="365760"/>
          </a:xfrm>
          <a:prstGeom prst="rect">
            <a:avLst/>
          </a:prstGeom>
          <a:noFill/>
        </p:spPr>
        <p:txBody>
          <a:bodyPr wrap="square">
            <a:spAutoFit/>
          </a:bodyPr>
          <a:lstStyle/>
          <a:p>
            <a:pPr algn="ctr">
              <a:lnSpc>
                <a:spcPts val="2160"/>
              </a:lnSpc>
              <a:defRPr sz="1800" b="1" i="0">
                <a:solidFill>
                  <a:srgbClr val="FFFFFF"/>
                </a:solidFill>
                <a:latin typeface="Arial"/>
              </a:defRPr>
            </a:pPr>
            <a:r>
              <a:t>Answer: C</a:t>
            </a:r>
          </a:p>
        </p:txBody>
      </p:sp>
      <p:sp>
        <p:nvSpPr>
          <p:cNvPr id="22" name="Rounded Rectangle 21"/>
          <p:cNvSpPr/>
          <p:nvPr/>
        </p:nvSpPr>
        <p:spPr>
          <a:xfrm>
            <a:off x="457200" y="4572000"/>
            <a:ext cx="8229600" cy="1371600"/>
          </a:xfrm>
          <a:prstGeom prst="roundRect">
            <a:avLst/>
          </a:prstGeom>
          <a:solidFill>
            <a:srgbClr val="FDF2E9"/>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0">
                <a:solidFill>
                  <a:srgbClr val="2C3E50"/>
                </a:solidFill>
                <a:latin typeface="微软雅黑"/>
              </a:defRPr>
            </a:pPr>
            <a:r>
              <a:t>解题策略：</a:t>
            </a:r>
            <a:br/>
            <a:r>
              <a:t>关键词：How much → 价格类。注意折扣信息：half price = 半价, 50% off, discount。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Listening · 经典例题 5</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3 · Practice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61</a:t>
            </a:r>
          </a:p>
        </p:txBody>
      </p:sp>
      <p:sp>
        <p:nvSpPr>
          <p:cNvPr id="9" name="Rounded Rectangle 8"/>
          <p:cNvSpPr/>
          <p:nvPr/>
        </p:nvSpPr>
        <p:spPr>
          <a:xfrm>
            <a:off x="457200" y="1097280"/>
            <a:ext cx="1371600" cy="3200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15568"/>
            <a:ext cx="1371600" cy="301752"/>
          </a:xfrm>
          <a:prstGeom prst="rect">
            <a:avLst/>
          </a:prstGeom>
          <a:noFill/>
        </p:spPr>
        <p:txBody>
          <a:bodyPr wrap="square">
            <a:spAutoFit/>
          </a:bodyPr>
          <a:lstStyle/>
          <a:p>
            <a:pPr algn="ctr">
              <a:lnSpc>
                <a:spcPts val="1439"/>
              </a:lnSpc>
              <a:defRPr sz="1200" b="1" i="0">
                <a:solidFill>
                  <a:srgbClr val="FFFFFF"/>
                </a:solidFill>
                <a:latin typeface="微软雅黑"/>
              </a:defRPr>
            </a:pPr>
            <a:r>
              <a:t>河南期中</a:t>
            </a:r>
          </a:p>
        </p:txBody>
      </p:sp>
      <p:sp>
        <p:nvSpPr>
          <p:cNvPr id="11" name="Rounded Rectangle 10"/>
          <p:cNvSpPr/>
          <p:nvPr/>
        </p:nvSpPr>
        <p:spPr>
          <a:xfrm>
            <a:off x="2011680" y="1097280"/>
            <a:ext cx="1097280" cy="32004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11680" y="1115568"/>
            <a:ext cx="1097280" cy="301752"/>
          </a:xfrm>
          <a:prstGeom prst="rect">
            <a:avLst/>
          </a:prstGeom>
          <a:noFill/>
        </p:spPr>
        <p:txBody>
          <a:bodyPr wrap="square">
            <a:spAutoFit/>
          </a:bodyPr>
          <a:lstStyle/>
          <a:p>
            <a:pPr algn="ctr">
              <a:lnSpc>
                <a:spcPts val="1439"/>
              </a:lnSpc>
              <a:defRPr sz="1200" b="1" i="0">
                <a:solidFill>
                  <a:srgbClr val="FFFFFF"/>
                </a:solidFill>
                <a:latin typeface="微软雅黑"/>
              </a:defRPr>
            </a:pPr>
            <a:r>
              <a:t>价格</a:t>
            </a:r>
          </a:p>
        </p:txBody>
      </p:sp>
      <p:sp>
        <p:nvSpPr>
          <p:cNvPr id="13" name="TextBox 12"/>
          <p:cNvSpPr txBox="1"/>
          <p:nvPr/>
        </p:nvSpPr>
        <p:spPr>
          <a:xfrm>
            <a:off x="457200" y="1645920"/>
            <a:ext cx="8229600" cy="548640"/>
          </a:xfrm>
          <a:prstGeom prst="rect">
            <a:avLst/>
          </a:prstGeom>
          <a:noFill/>
        </p:spPr>
        <p:txBody>
          <a:bodyPr wrap="square">
            <a:spAutoFit/>
          </a:bodyPr>
          <a:lstStyle/>
          <a:p>
            <a:pPr algn="l">
              <a:lnSpc>
                <a:spcPts val="2640"/>
              </a:lnSpc>
              <a:defRPr sz="2200" b="1" i="0">
                <a:solidFill>
                  <a:srgbClr val="2C3E50"/>
                </a:solidFill>
                <a:latin typeface="Arial"/>
              </a:defRPr>
            </a:pPr>
            <a:r>
              <a:t>How much should the man pay for the cake?</a:t>
            </a:r>
          </a:p>
        </p:txBody>
      </p:sp>
      <p:sp>
        <p:nvSpPr>
          <p:cNvPr id="14" name="Rounded Rectangle 13"/>
          <p:cNvSpPr/>
          <p:nvPr/>
        </p:nvSpPr>
        <p:spPr>
          <a:xfrm>
            <a:off x="457200" y="2560320"/>
            <a:ext cx="2560320" cy="914400"/>
          </a:xfrm>
          <a:prstGeom prst="roundRect">
            <a:avLst/>
          </a:prstGeom>
          <a:solidFill>
            <a:srgbClr val="EBF5FB"/>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743200"/>
            <a:ext cx="2560320" cy="640080"/>
          </a:xfrm>
          <a:prstGeom prst="rect">
            <a:avLst/>
          </a:prstGeom>
          <a:noFill/>
        </p:spPr>
        <p:txBody>
          <a:bodyPr wrap="square">
            <a:spAutoFit/>
          </a:bodyPr>
          <a:lstStyle/>
          <a:p>
            <a:pPr algn="ctr">
              <a:lnSpc>
                <a:spcPts val="2400"/>
              </a:lnSpc>
              <a:defRPr sz="2000" b="0" i="0">
                <a:solidFill>
                  <a:srgbClr val="2C3E50"/>
                </a:solidFill>
                <a:latin typeface="Arial"/>
              </a:defRPr>
            </a:pPr>
            <a:r>
              <a:t>A. 180 yuan.</a:t>
            </a:r>
          </a:p>
        </p:txBody>
      </p:sp>
      <p:sp>
        <p:nvSpPr>
          <p:cNvPr id="16" name="Rounded Rectangle 15"/>
          <p:cNvSpPr/>
          <p:nvPr/>
        </p:nvSpPr>
        <p:spPr>
          <a:xfrm>
            <a:off x="3291840" y="2560320"/>
            <a:ext cx="2560320" cy="914400"/>
          </a:xfrm>
          <a:prstGeom prst="roundRect">
            <a:avLst/>
          </a:prstGeom>
          <a:solidFill>
            <a:srgbClr val="E8F8EE"/>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0" y="2743200"/>
            <a:ext cx="2560320" cy="640080"/>
          </a:xfrm>
          <a:prstGeom prst="rect">
            <a:avLst/>
          </a:prstGeom>
          <a:noFill/>
        </p:spPr>
        <p:txBody>
          <a:bodyPr wrap="square">
            <a:spAutoFit/>
          </a:bodyPr>
          <a:lstStyle/>
          <a:p>
            <a:pPr algn="ctr">
              <a:lnSpc>
                <a:spcPts val="2400"/>
              </a:lnSpc>
              <a:defRPr sz="2000" b="1" i="0">
                <a:solidFill>
                  <a:srgbClr val="2C3E50"/>
                </a:solidFill>
                <a:latin typeface="Arial"/>
              </a:defRPr>
            </a:pPr>
            <a:r>
              <a:t>B. 190 yuan.</a:t>
            </a:r>
          </a:p>
        </p:txBody>
      </p:sp>
      <p:sp>
        <p:nvSpPr>
          <p:cNvPr id="18" name="Rounded Rectangle 17"/>
          <p:cNvSpPr/>
          <p:nvPr/>
        </p:nvSpPr>
        <p:spPr>
          <a:xfrm>
            <a:off x="6126480" y="2560320"/>
            <a:ext cx="2560320" cy="914400"/>
          </a:xfrm>
          <a:prstGeom prst="roundRect">
            <a:avLst/>
          </a:prstGeom>
          <a:solidFill>
            <a:srgbClr val="EBF5FB"/>
          </a:solidFill>
          <a:ln w="254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2743200"/>
            <a:ext cx="2560320" cy="640080"/>
          </a:xfrm>
          <a:prstGeom prst="rect">
            <a:avLst/>
          </a:prstGeom>
          <a:noFill/>
        </p:spPr>
        <p:txBody>
          <a:bodyPr wrap="square">
            <a:spAutoFit/>
          </a:bodyPr>
          <a:lstStyle/>
          <a:p>
            <a:pPr algn="ctr">
              <a:lnSpc>
                <a:spcPts val="2400"/>
              </a:lnSpc>
              <a:defRPr sz="2000" b="0" i="0">
                <a:solidFill>
                  <a:srgbClr val="2C3E50"/>
                </a:solidFill>
                <a:latin typeface="Arial"/>
              </a:defRPr>
            </a:pPr>
            <a:r>
              <a:t>C. 200 yuan.</a:t>
            </a:r>
          </a:p>
        </p:txBody>
      </p:sp>
      <p:sp>
        <p:nvSpPr>
          <p:cNvPr id="20" name="Rounded Rectangle 19"/>
          <p:cNvSpPr/>
          <p:nvPr/>
        </p:nvSpPr>
        <p:spPr>
          <a:xfrm>
            <a:off x="457200" y="3840480"/>
            <a:ext cx="1828800" cy="45720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886200"/>
            <a:ext cx="1828800" cy="365760"/>
          </a:xfrm>
          <a:prstGeom prst="rect">
            <a:avLst/>
          </a:prstGeom>
          <a:noFill/>
        </p:spPr>
        <p:txBody>
          <a:bodyPr wrap="square">
            <a:spAutoFit/>
          </a:bodyPr>
          <a:lstStyle/>
          <a:p>
            <a:pPr algn="ctr">
              <a:lnSpc>
                <a:spcPts val="2160"/>
              </a:lnSpc>
              <a:defRPr sz="1800" b="1" i="0">
                <a:solidFill>
                  <a:srgbClr val="FFFFFF"/>
                </a:solidFill>
                <a:latin typeface="Arial"/>
              </a:defRPr>
            </a:pPr>
            <a:r>
              <a:t>Answer: B</a:t>
            </a:r>
          </a:p>
        </p:txBody>
      </p:sp>
      <p:sp>
        <p:nvSpPr>
          <p:cNvPr id="22" name="Rounded Rectangle 21"/>
          <p:cNvSpPr/>
          <p:nvPr/>
        </p:nvSpPr>
        <p:spPr>
          <a:xfrm>
            <a:off x="457200" y="4572000"/>
            <a:ext cx="8229600" cy="1371600"/>
          </a:xfrm>
          <a:prstGeom prst="roundRect">
            <a:avLst/>
          </a:prstGeom>
          <a:solidFill>
            <a:srgbClr val="FDF2E9"/>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0">
                <a:solidFill>
                  <a:srgbClr val="2C3E50"/>
                </a:solidFill>
                <a:latin typeface="微软雅黑"/>
              </a:defRPr>
            </a:pPr>
            <a:r>
              <a:t>解题策略：</a:t>
            </a:r>
            <a:br/>
            <a:r>
              <a:t>关键词：How much + pay → 实付金额。可能涉及优惠券、打折、满减等计算。</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Listening Summary · 听力技巧总结</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Part 3 · Summary</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62</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640"/>
              </a:lnSpc>
              <a:defRPr sz="2200" b="1" i="0">
                <a:solidFill>
                  <a:srgbClr val="27AE60"/>
                </a:solidFill>
                <a:latin typeface="微软雅黑"/>
              </a:defRPr>
            </a:pPr>
            <a:r>
              <a:t>数字计算类听力 · 通关秘籍</a:t>
            </a:r>
          </a:p>
        </p:txBody>
      </p:sp>
      <p:sp>
        <p:nvSpPr>
          <p:cNvPr id="10" name="TextBox 9"/>
          <p:cNvSpPr txBox="1"/>
          <p:nvPr/>
        </p:nvSpPr>
        <p:spPr>
          <a:xfrm>
            <a:off x="457200" y="1645920"/>
            <a:ext cx="8229600" cy="4114800"/>
          </a:xfrm>
          <a:prstGeom prst="rect">
            <a:avLst/>
          </a:prstGeom>
          <a:noFill/>
        </p:spPr>
        <p:txBody>
          <a:bodyPr wrap="square">
            <a:spAutoFit/>
          </a:bodyPr>
          <a:lstStyle/>
          <a:p>
            <a:pPr>
              <a:lnSpc>
                <a:spcPts val="2720"/>
              </a:lnSpc>
            </a:pPr>
            <a:r>
              <a:rPr sz="1600" b="1">
                <a:solidFill>
                  <a:srgbClr val="27AE60"/>
                </a:solidFill>
                <a:latin typeface="Arial"/>
              </a:rPr>
              <a:t>● </a:t>
            </a:r>
            <a:r>
              <a:rPr sz="1600">
                <a:solidFill>
                  <a:srgbClr val="2C3E50"/>
                </a:solidFill>
                <a:latin typeface="微软雅黑"/>
              </a:rPr>
              <a:t>审题时圈画疑问词(When/How much/How far)，明确计算类型</a:t>
            </a:r>
          </a:p>
          <a:p>
            <a:pPr>
              <a:lnSpc>
                <a:spcPts val="2720"/>
              </a:lnSpc>
            </a:pPr>
            <a:r>
              <a:rPr sz="1600" b="1">
                <a:solidFill>
                  <a:srgbClr val="27AE60"/>
                </a:solidFill>
                <a:latin typeface="Arial"/>
              </a:rPr>
              <a:t>● </a:t>
            </a:r>
            <a:r>
              <a:rPr sz="1600">
                <a:solidFill>
                  <a:srgbClr val="2C3E50"/>
                </a:solidFill>
                <a:latin typeface="微软雅黑"/>
              </a:rPr>
              <a:t>预读选项中的数字，建立数字预期范围</a:t>
            </a:r>
          </a:p>
          <a:p>
            <a:pPr>
              <a:lnSpc>
                <a:spcPts val="2720"/>
              </a:lnSpc>
            </a:pPr>
            <a:r>
              <a:rPr sz="1600" b="1">
                <a:solidFill>
                  <a:srgbClr val="27AE60"/>
                </a:solidFill>
                <a:latin typeface="Arial"/>
              </a:rPr>
              <a:t>● </a:t>
            </a:r>
            <a:r>
              <a:rPr sz="1600">
                <a:solidFill>
                  <a:srgbClr val="2C3E50"/>
                </a:solidFill>
                <a:latin typeface="微软雅黑"/>
              </a:rPr>
              <a:t>听到 but/however/actually 等转折词时格外注意——答案常在转折后</a:t>
            </a:r>
          </a:p>
          <a:p>
            <a:pPr>
              <a:lnSpc>
                <a:spcPts val="2720"/>
              </a:lnSpc>
            </a:pPr>
            <a:r>
              <a:rPr sz="1600" b="1">
                <a:solidFill>
                  <a:srgbClr val="27AE60"/>
                </a:solidFill>
                <a:latin typeface="Arial"/>
              </a:rPr>
              <a:t>● </a:t>
            </a:r>
            <a:r>
              <a:rPr sz="1600">
                <a:solidFill>
                  <a:srgbClr val="2C3E50"/>
                </a:solidFill>
                <a:latin typeface="微软雅黑"/>
              </a:rPr>
              <a:t>注意 half/double/twice/quarter 等倍数词</a:t>
            </a:r>
          </a:p>
          <a:p>
            <a:pPr>
              <a:lnSpc>
                <a:spcPts val="2720"/>
              </a:lnSpc>
            </a:pPr>
            <a:r>
              <a:rPr sz="1600" b="1">
                <a:solidFill>
                  <a:srgbClr val="27AE60"/>
                </a:solidFill>
                <a:latin typeface="Arial"/>
              </a:rPr>
              <a:t>● </a:t>
            </a:r>
            <a:r>
              <a:rPr sz="1600">
                <a:solidFill>
                  <a:srgbClr val="2C3E50"/>
                </a:solidFill>
                <a:latin typeface="微软雅黑"/>
              </a:rPr>
              <a:t>teen vs ty 发音区分：teen 重音在后，ty 重音在前</a:t>
            </a:r>
          </a:p>
          <a:p>
            <a:pPr>
              <a:lnSpc>
                <a:spcPts val="2720"/>
              </a:lnSpc>
            </a:pPr>
            <a:r>
              <a:rPr sz="1600" b="1">
                <a:solidFill>
                  <a:srgbClr val="27AE60"/>
                </a:solidFill>
                <a:latin typeface="Arial"/>
              </a:rPr>
              <a:t>● </a:t>
            </a:r>
            <a:r>
              <a:rPr sz="1600">
                <a:solidFill>
                  <a:srgbClr val="2C3E50"/>
                </a:solidFill>
                <a:latin typeface="微软雅黑"/>
              </a:rPr>
              <a:t>边听边记关键数字，简写速记（如 30m = 30分钟）</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Lesson Summary · 课堂总结</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L2 Summary</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63</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640"/>
              </a:lnSpc>
              <a:defRPr sz="2200" b="1" i="0">
                <a:solidFill>
                  <a:srgbClr val="1B3A5C"/>
                </a:solidFill>
                <a:latin typeface="微软雅黑"/>
              </a:defRPr>
            </a:pPr>
            <a:r>
              <a:t>本节课知识回顾</a:t>
            </a:r>
          </a:p>
        </p:txBody>
      </p:sp>
      <p:sp>
        <p:nvSpPr>
          <p:cNvPr id="10" name="Rounded Rectangle 9"/>
          <p:cNvSpPr/>
          <p:nvPr/>
        </p:nvSpPr>
        <p:spPr>
          <a:xfrm>
            <a:off x="274320" y="1737360"/>
            <a:ext cx="2743200" cy="3840480"/>
          </a:xfrm>
          <a:prstGeom prst="roundRect">
            <a:avLst/>
          </a:prstGeom>
          <a:solidFill>
            <a:srgbClr val="FFFFFF"/>
          </a:solidFill>
          <a:ln w="2540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 y="1920240"/>
            <a:ext cx="2377440" cy="45720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938528"/>
            <a:ext cx="2377440" cy="420624"/>
          </a:xfrm>
          <a:prstGeom prst="rect">
            <a:avLst/>
          </a:prstGeom>
          <a:noFill/>
        </p:spPr>
        <p:txBody>
          <a:bodyPr wrap="square">
            <a:spAutoFit/>
          </a:bodyPr>
          <a:lstStyle/>
          <a:p>
            <a:pPr algn="ctr">
              <a:lnSpc>
                <a:spcPts val="1680"/>
              </a:lnSpc>
              <a:defRPr sz="1400" b="1" i="0">
                <a:solidFill>
                  <a:srgbClr val="FFFFFF"/>
                </a:solidFill>
                <a:latin typeface="微软雅黑"/>
              </a:defRPr>
            </a:pPr>
            <a:r>
              <a:t>Part 1 · Cloze</a:t>
            </a:r>
          </a:p>
        </p:txBody>
      </p:sp>
      <p:sp>
        <p:nvSpPr>
          <p:cNvPr id="13" name="TextBox 12"/>
          <p:cNvSpPr txBox="1"/>
          <p:nvPr/>
        </p:nvSpPr>
        <p:spPr>
          <a:xfrm>
            <a:off x="548640" y="2560320"/>
            <a:ext cx="2194560" cy="2743200"/>
          </a:xfrm>
          <a:prstGeom prst="rect">
            <a:avLst/>
          </a:prstGeom>
          <a:noFill/>
        </p:spPr>
        <p:txBody>
          <a:bodyPr wrap="square">
            <a:spAutoFit/>
          </a:bodyPr>
          <a:lstStyle/>
          <a:p>
            <a:pPr>
              <a:lnSpc>
                <a:spcPts val="2080"/>
              </a:lnSpc>
            </a:pPr>
            <a:r>
              <a:rPr sz="1300" b="1">
                <a:solidFill>
                  <a:srgbClr val="2B5797"/>
                </a:solidFill>
                <a:latin typeface="Arial"/>
              </a:rPr>
              <a:t>● </a:t>
            </a:r>
            <a:r>
              <a:rPr sz="1300">
                <a:solidFill>
                  <a:srgbClr val="2C3E50"/>
                </a:solidFill>
                <a:latin typeface="微软雅黑"/>
              </a:rPr>
              <a:t>议论文完形填空解题</a:t>
            </a:r>
          </a:p>
          <a:p>
            <a:pPr>
              <a:lnSpc>
                <a:spcPts val="2080"/>
              </a:lnSpc>
            </a:pPr>
            <a:r>
              <a:rPr sz="1300" b="1">
                <a:solidFill>
                  <a:srgbClr val="2B5797"/>
                </a:solidFill>
                <a:latin typeface="Arial"/>
              </a:rPr>
              <a:t>● </a:t>
            </a:r>
            <a:r>
              <a:rPr sz="1300">
                <a:solidFill>
                  <a:srgbClr val="2C3E50"/>
                </a:solidFill>
                <a:latin typeface="微软雅黑"/>
              </a:rPr>
              <a:t>长难句分析（定语/主语/条件从句）</a:t>
            </a:r>
          </a:p>
          <a:p>
            <a:pPr>
              <a:lnSpc>
                <a:spcPts val="2080"/>
              </a:lnSpc>
            </a:pPr>
            <a:r>
              <a:rPr sz="1300" b="1">
                <a:solidFill>
                  <a:srgbClr val="2B5797"/>
                </a:solidFill>
                <a:latin typeface="Arial"/>
              </a:rPr>
              <a:t>● </a:t>
            </a:r>
            <a:r>
              <a:rPr sz="1300">
                <a:solidFill>
                  <a:srgbClr val="2C3E50"/>
                </a:solidFill>
                <a:latin typeface="微软雅黑"/>
              </a:rPr>
              <a:t>必背表达（slow down, pass by等）</a:t>
            </a:r>
          </a:p>
        </p:txBody>
      </p:sp>
      <p:sp>
        <p:nvSpPr>
          <p:cNvPr id="14" name="Rounded Rectangle 13"/>
          <p:cNvSpPr/>
          <p:nvPr/>
        </p:nvSpPr>
        <p:spPr>
          <a:xfrm>
            <a:off x="3200400" y="1737360"/>
            <a:ext cx="2743200" cy="3840480"/>
          </a:xfrm>
          <a:prstGeom prst="roundRect">
            <a:avLst/>
          </a:prstGeom>
          <a:solidFill>
            <a:srgbClr val="FFFFFF"/>
          </a:solid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383280" y="1920240"/>
            <a:ext cx="2377440" cy="457200"/>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1938528"/>
            <a:ext cx="2377440" cy="420624"/>
          </a:xfrm>
          <a:prstGeom prst="rect">
            <a:avLst/>
          </a:prstGeom>
          <a:noFill/>
        </p:spPr>
        <p:txBody>
          <a:bodyPr wrap="square">
            <a:spAutoFit/>
          </a:bodyPr>
          <a:lstStyle/>
          <a:p>
            <a:pPr algn="ctr">
              <a:lnSpc>
                <a:spcPts val="1680"/>
              </a:lnSpc>
              <a:defRPr sz="1400" b="1" i="0">
                <a:solidFill>
                  <a:srgbClr val="FFFFFF"/>
                </a:solidFill>
                <a:latin typeface="微软雅黑"/>
              </a:defRPr>
            </a:pPr>
            <a:r>
              <a:t>Part 2 · Grammar</a:t>
            </a:r>
          </a:p>
        </p:txBody>
      </p:sp>
      <p:sp>
        <p:nvSpPr>
          <p:cNvPr id="17" name="TextBox 16"/>
          <p:cNvSpPr txBox="1"/>
          <p:nvPr/>
        </p:nvSpPr>
        <p:spPr>
          <a:xfrm>
            <a:off x="3474720" y="2560320"/>
            <a:ext cx="2194560" cy="2743200"/>
          </a:xfrm>
          <a:prstGeom prst="rect">
            <a:avLst/>
          </a:prstGeom>
          <a:noFill/>
        </p:spPr>
        <p:txBody>
          <a:bodyPr wrap="square">
            <a:spAutoFit/>
          </a:bodyPr>
          <a:lstStyle/>
          <a:p>
            <a:pPr>
              <a:lnSpc>
                <a:spcPts val="2080"/>
              </a:lnSpc>
            </a:pPr>
            <a:r>
              <a:rPr sz="1300" b="1">
                <a:solidFill>
                  <a:srgbClr val="8E44AD"/>
                </a:solidFill>
                <a:latin typeface="Arial"/>
              </a:rPr>
              <a:t>● </a:t>
            </a:r>
            <a:r>
              <a:rPr sz="1300">
                <a:solidFill>
                  <a:srgbClr val="2C3E50"/>
                </a:solidFill>
                <a:latin typeface="微软雅黑"/>
              </a:rPr>
              <a:t>22 PK 33 对照</a:t>
            </a:r>
          </a:p>
          <a:p>
            <a:pPr>
              <a:lnSpc>
                <a:spcPts val="2080"/>
              </a:lnSpc>
            </a:pPr>
            <a:r>
              <a:rPr sz="1300" b="1">
                <a:solidFill>
                  <a:srgbClr val="8E44AD"/>
                </a:solidFill>
                <a:latin typeface="Arial"/>
              </a:rPr>
              <a:t>● </a:t>
            </a:r>
            <a:r>
              <a:rPr sz="1300">
                <a:solidFill>
                  <a:srgbClr val="2C3E50"/>
                </a:solidFill>
                <a:latin typeface="微软雅黑"/>
              </a:rPr>
              <a:t>不定代词 vs 并列连词</a:t>
            </a:r>
          </a:p>
          <a:p>
            <a:pPr>
              <a:lnSpc>
                <a:spcPts val="2080"/>
              </a:lnSpc>
            </a:pPr>
            <a:r>
              <a:rPr sz="1300" b="1">
                <a:solidFill>
                  <a:srgbClr val="8E44AD"/>
                </a:solidFill>
                <a:latin typeface="Arial"/>
              </a:rPr>
              <a:t>● </a:t>
            </a:r>
            <a:r>
              <a:rPr sz="1300">
                <a:solidFill>
                  <a:srgbClr val="2C3E50"/>
                </a:solidFill>
                <a:latin typeface="微软雅黑"/>
              </a:rPr>
              <a:t>no-类 &amp; other系列</a:t>
            </a:r>
          </a:p>
        </p:txBody>
      </p:sp>
      <p:sp>
        <p:nvSpPr>
          <p:cNvPr id="18" name="Rounded Rectangle 17"/>
          <p:cNvSpPr/>
          <p:nvPr/>
        </p:nvSpPr>
        <p:spPr>
          <a:xfrm>
            <a:off x="6126480" y="1737360"/>
            <a:ext cx="2743200" cy="3840480"/>
          </a:xfrm>
          <a:prstGeom prst="round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09360" y="1920240"/>
            <a:ext cx="2377440" cy="45720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938528"/>
            <a:ext cx="2377440" cy="420624"/>
          </a:xfrm>
          <a:prstGeom prst="rect">
            <a:avLst/>
          </a:prstGeom>
          <a:noFill/>
        </p:spPr>
        <p:txBody>
          <a:bodyPr wrap="square">
            <a:spAutoFit/>
          </a:bodyPr>
          <a:lstStyle/>
          <a:p>
            <a:pPr algn="ctr">
              <a:lnSpc>
                <a:spcPts val="1680"/>
              </a:lnSpc>
              <a:defRPr sz="1400" b="1" i="0">
                <a:solidFill>
                  <a:srgbClr val="FFFFFF"/>
                </a:solidFill>
                <a:latin typeface="微软雅黑"/>
              </a:defRPr>
            </a:pPr>
            <a:r>
              <a:t>Part 3 · Listening</a:t>
            </a:r>
          </a:p>
        </p:txBody>
      </p:sp>
      <p:sp>
        <p:nvSpPr>
          <p:cNvPr id="21" name="TextBox 20"/>
          <p:cNvSpPr txBox="1"/>
          <p:nvPr/>
        </p:nvSpPr>
        <p:spPr>
          <a:xfrm>
            <a:off x="6400800" y="2560320"/>
            <a:ext cx="2194560" cy="2743200"/>
          </a:xfrm>
          <a:prstGeom prst="rect">
            <a:avLst/>
          </a:prstGeom>
          <a:noFill/>
        </p:spPr>
        <p:txBody>
          <a:bodyPr wrap="square">
            <a:spAutoFit/>
          </a:bodyPr>
          <a:lstStyle/>
          <a:p>
            <a:pPr>
              <a:lnSpc>
                <a:spcPts val="2080"/>
              </a:lnSpc>
            </a:pPr>
            <a:r>
              <a:rPr sz="1300" b="1">
                <a:solidFill>
                  <a:srgbClr val="27AE60"/>
                </a:solidFill>
                <a:latin typeface="Arial"/>
              </a:rPr>
              <a:t>● </a:t>
            </a:r>
            <a:r>
              <a:rPr sz="1300">
                <a:solidFill>
                  <a:srgbClr val="2C3E50"/>
                </a:solidFill>
                <a:latin typeface="微软雅黑"/>
              </a:rPr>
              <a:t>数字计算三步法</a:t>
            </a:r>
          </a:p>
          <a:p>
            <a:pPr>
              <a:lnSpc>
                <a:spcPts val="2080"/>
              </a:lnSpc>
            </a:pPr>
            <a:r>
              <a:rPr sz="1300" b="1">
                <a:solidFill>
                  <a:srgbClr val="27AE60"/>
                </a:solidFill>
                <a:latin typeface="Arial"/>
              </a:rPr>
              <a:t>● </a:t>
            </a:r>
            <a:r>
              <a:rPr sz="1300">
                <a:solidFill>
                  <a:srgbClr val="2C3E50"/>
                </a:solidFill>
                <a:latin typeface="微软雅黑"/>
              </a:rPr>
              <a:t>时间/距离/价格类题型</a:t>
            </a:r>
          </a:p>
          <a:p>
            <a:pPr>
              <a:lnSpc>
                <a:spcPts val="2080"/>
              </a:lnSpc>
            </a:pPr>
            <a:r>
              <a:rPr sz="1300" b="1">
                <a:solidFill>
                  <a:srgbClr val="27AE60"/>
                </a:solidFill>
                <a:latin typeface="Arial"/>
              </a:rPr>
              <a:t>● </a:t>
            </a:r>
            <a:r>
              <a:rPr sz="1300">
                <a:solidFill>
                  <a:srgbClr val="2C3E50"/>
                </a:solidFill>
                <a:latin typeface="微软雅黑"/>
              </a:rPr>
              <a:t>teen vs ty 发音区分</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Key Takeaways · 核心要点</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L2 Summary</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64</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640"/>
              </a:lnSpc>
              <a:defRPr sz="2200" b="1" i="0">
                <a:solidFill>
                  <a:srgbClr val="1B3A5C"/>
                </a:solidFill>
                <a:latin typeface="微软雅黑"/>
              </a:defRPr>
            </a:pPr>
            <a:r>
              <a:t>今日必记 · Must Remember</a:t>
            </a:r>
          </a:p>
        </p:txBody>
      </p:sp>
      <p:sp>
        <p:nvSpPr>
          <p:cNvPr id="10" name="Oval 9"/>
          <p:cNvSpPr/>
          <p:nvPr/>
        </p:nvSpPr>
        <p:spPr>
          <a:xfrm>
            <a:off x="457200" y="1645920"/>
            <a:ext cx="365760" cy="365760"/>
          </a:xfrm>
          <a:prstGeom prst="ellipse">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673352"/>
            <a:ext cx="365760" cy="310896"/>
          </a:xfrm>
          <a:prstGeom prst="rect">
            <a:avLst/>
          </a:prstGeom>
          <a:noFill/>
        </p:spPr>
        <p:txBody>
          <a:bodyPr wrap="square">
            <a:spAutoFit/>
          </a:bodyPr>
          <a:lstStyle/>
          <a:p>
            <a:pPr algn="ctr">
              <a:lnSpc>
                <a:spcPts val="1560"/>
              </a:lnSpc>
              <a:defRPr sz="1300" b="1" i="0">
                <a:solidFill>
                  <a:srgbClr val="FFFFFF"/>
                </a:solidFill>
                <a:latin typeface="Arial"/>
              </a:defRPr>
            </a:pPr>
            <a:r>
              <a:t>1</a:t>
            </a:r>
          </a:p>
        </p:txBody>
      </p:sp>
      <p:sp>
        <p:nvSpPr>
          <p:cNvPr id="12" name="TextBox 11"/>
          <p:cNvSpPr txBox="1"/>
          <p:nvPr/>
        </p:nvSpPr>
        <p:spPr>
          <a:xfrm>
            <a:off x="1005840" y="1673352"/>
            <a:ext cx="7772400" cy="365760"/>
          </a:xfrm>
          <a:prstGeom prst="rect">
            <a:avLst/>
          </a:prstGeom>
          <a:noFill/>
        </p:spPr>
        <p:txBody>
          <a:bodyPr wrap="square">
            <a:spAutoFit/>
          </a:bodyPr>
          <a:lstStyle/>
          <a:p>
            <a:pPr algn="l">
              <a:lnSpc>
                <a:spcPts val="1680"/>
              </a:lnSpc>
              <a:defRPr sz="1400" b="0" i="0">
                <a:solidFill>
                  <a:srgbClr val="2C3E50"/>
                </a:solidFill>
                <a:latin typeface="微软雅黑"/>
              </a:defRPr>
            </a:pPr>
            <a:r>
              <a:t>both/either/neither 只用于两者；all/any/none 用于三者及以上</a:t>
            </a:r>
          </a:p>
        </p:txBody>
      </p:sp>
      <p:sp>
        <p:nvSpPr>
          <p:cNvPr id="13" name="Oval 12"/>
          <p:cNvSpPr/>
          <p:nvPr/>
        </p:nvSpPr>
        <p:spPr>
          <a:xfrm>
            <a:off x="457200" y="2240280"/>
            <a:ext cx="365760" cy="365760"/>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267712"/>
            <a:ext cx="365760" cy="310896"/>
          </a:xfrm>
          <a:prstGeom prst="rect">
            <a:avLst/>
          </a:prstGeom>
          <a:noFill/>
        </p:spPr>
        <p:txBody>
          <a:bodyPr wrap="square">
            <a:spAutoFit/>
          </a:bodyPr>
          <a:lstStyle/>
          <a:p>
            <a:pPr algn="ctr">
              <a:lnSpc>
                <a:spcPts val="1560"/>
              </a:lnSpc>
              <a:defRPr sz="1300" b="1" i="0">
                <a:solidFill>
                  <a:srgbClr val="FFFFFF"/>
                </a:solidFill>
                <a:latin typeface="Arial"/>
              </a:defRPr>
            </a:pPr>
            <a:r>
              <a:t>2</a:t>
            </a:r>
          </a:p>
        </p:txBody>
      </p:sp>
      <p:sp>
        <p:nvSpPr>
          <p:cNvPr id="15" name="TextBox 14"/>
          <p:cNvSpPr txBox="1"/>
          <p:nvPr/>
        </p:nvSpPr>
        <p:spPr>
          <a:xfrm>
            <a:off x="1005840" y="2267712"/>
            <a:ext cx="7772400" cy="365760"/>
          </a:xfrm>
          <a:prstGeom prst="rect">
            <a:avLst/>
          </a:prstGeom>
          <a:noFill/>
        </p:spPr>
        <p:txBody>
          <a:bodyPr wrap="square">
            <a:spAutoFit/>
          </a:bodyPr>
          <a:lstStyle/>
          <a:p>
            <a:pPr algn="l">
              <a:lnSpc>
                <a:spcPts val="1680"/>
              </a:lnSpc>
              <a:defRPr sz="1400" b="0" i="0">
                <a:solidFill>
                  <a:srgbClr val="2C3E50"/>
                </a:solidFill>
                <a:latin typeface="微软雅黑"/>
              </a:defRPr>
            </a:pPr>
            <a:r>
              <a:t>形容词修饰不定代词必须后置：something important, nothing wrong</a:t>
            </a:r>
          </a:p>
        </p:txBody>
      </p:sp>
      <p:sp>
        <p:nvSpPr>
          <p:cNvPr id="16" name="Oval 15"/>
          <p:cNvSpPr/>
          <p:nvPr/>
        </p:nvSpPr>
        <p:spPr>
          <a:xfrm>
            <a:off x="457200" y="2834640"/>
            <a:ext cx="365760" cy="36576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862072"/>
            <a:ext cx="365760" cy="310896"/>
          </a:xfrm>
          <a:prstGeom prst="rect">
            <a:avLst/>
          </a:prstGeom>
          <a:noFill/>
        </p:spPr>
        <p:txBody>
          <a:bodyPr wrap="square">
            <a:spAutoFit/>
          </a:bodyPr>
          <a:lstStyle/>
          <a:p>
            <a:pPr algn="ctr">
              <a:lnSpc>
                <a:spcPts val="1560"/>
              </a:lnSpc>
              <a:defRPr sz="1300" b="1" i="0">
                <a:solidFill>
                  <a:srgbClr val="FFFFFF"/>
                </a:solidFill>
                <a:latin typeface="Arial"/>
              </a:defRPr>
            </a:pPr>
            <a:r>
              <a:t>3</a:t>
            </a:r>
          </a:p>
        </p:txBody>
      </p:sp>
      <p:sp>
        <p:nvSpPr>
          <p:cNvPr id="18" name="TextBox 17"/>
          <p:cNvSpPr txBox="1"/>
          <p:nvPr/>
        </p:nvSpPr>
        <p:spPr>
          <a:xfrm>
            <a:off x="1005840" y="2862072"/>
            <a:ext cx="7772400" cy="365760"/>
          </a:xfrm>
          <a:prstGeom prst="rect">
            <a:avLst/>
          </a:prstGeom>
          <a:noFill/>
        </p:spPr>
        <p:txBody>
          <a:bodyPr wrap="square">
            <a:spAutoFit/>
          </a:bodyPr>
          <a:lstStyle/>
          <a:p>
            <a:pPr algn="l">
              <a:lnSpc>
                <a:spcPts val="1680"/>
              </a:lnSpc>
              <a:defRPr sz="1400" b="0" i="0">
                <a:solidFill>
                  <a:srgbClr val="2C3E50"/>
                </a:solidFill>
                <a:latin typeface="微软雅黑"/>
              </a:defRPr>
            </a:pPr>
            <a:r>
              <a:t>both...and... 谓语用复数；either...or... / neither...nor... 用就近原则</a:t>
            </a:r>
          </a:p>
        </p:txBody>
      </p:sp>
      <p:sp>
        <p:nvSpPr>
          <p:cNvPr id="19" name="Oval 18"/>
          <p:cNvSpPr/>
          <p:nvPr/>
        </p:nvSpPr>
        <p:spPr>
          <a:xfrm>
            <a:off x="457200" y="3429000"/>
            <a:ext cx="365760" cy="36576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456432"/>
            <a:ext cx="365760" cy="310896"/>
          </a:xfrm>
          <a:prstGeom prst="rect">
            <a:avLst/>
          </a:prstGeom>
          <a:noFill/>
        </p:spPr>
        <p:txBody>
          <a:bodyPr wrap="square">
            <a:spAutoFit/>
          </a:bodyPr>
          <a:lstStyle/>
          <a:p>
            <a:pPr algn="ctr">
              <a:lnSpc>
                <a:spcPts val="1560"/>
              </a:lnSpc>
              <a:defRPr sz="1300" b="1" i="0">
                <a:solidFill>
                  <a:srgbClr val="FFFFFF"/>
                </a:solidFill>
                <a:latin typeface="Arial"/>
              </a:defRPr>
            </a:pPr>
            <a:r>
              <a:t>4</a:t>
            </a:r>
          </a:p>
        </p:txBody>
      </p:sp>
      <p:sp>
        <p:nvSpPr>
          <p:cNvPr id="21" name="TextBox 20"/>
          <p:cNvSpPr txBox="1"/>
          <p:nvPr/>
        </p:nvSpPr>
        <p:spPr>
          <a:xfrm>
            <a:off x="1005840" y="3456432"/>
            <a:ext cx="7772400" cy="365760"/>
          </a:xfrm>
          <a:prstGeom prst="rect">
            <a:avLst/>
          </a:prstGeom>
          <a:noFill/>
        </p:spPr>
        <p:txBody>
          <a:bodyPr wrap="square">
            <a:spAutoFit/>
          </a:bodyPr>
          <a:lstStyle/>
          <a:p>
            <a:pPr algn="l">
              <a:lnSpc>
                <a:spcPts val="1680"/>
              </a:lnSpc>
              <a:defRPr sz="1400" b="0" i="0">
                <a:solidFill>
                  <a:srgbClr val="2C3E50"/>
                </a:solidFill>
                <a:latin typeface="微软雅黑"/>
              </a:defRPr>
            </a:pPr>
            <a:r>
              <a:t>none 回答 How many/much；nobody 回答 Who；nothing 回答 What</a:t>
            </a:r>
          </a:p>
        </p:txBody>
      </p:sp>
      <p:sp>
        <p:nvSpPr>
          <p:cNvPr id="22" name="Oval 21"/>
          <p:cNvSpPr/>
          <p:nvPr/>
        </p:nvSpPr>
        <p:spPr>
          <a:xfrm>
            <a:off x="457200" y="4023360"/>
            <a:ext cx="365760" cy="365760"/>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050792"/>
            <a:ext cx="365760" cy="310896"/>
          </a:xfrm>
          <a:prstGeom prst="rect">
            <a:avLst/>
          </a:prstGeom>
          <a:noFill/>
        </p:spPr>
        <p:txBody>
          <a:bodyPr wrap="square">
            <a:spAutoFit/>
          </a:bodyPr>
          <a:lstStyle/>
          <a:p>
            <a:pPr algn="ctr">
              <a:lnSpc>
                <a:spcPts val="1560"/>
              </a:lnSpc>
              <a:defRPr sz="1300" b="1" i="0">
                <a:solidFill>
                  <a:srgbClr val="FFFFFF"/>
                </a:solidFill>
                <a:latin typeface="Arial"/>
              </a:defRPr>
            </a:pPr>
            <a:r>
              <a:t>5</a:t>
            </a:r>
          </a:p>
        </p:txBody>
      </p:sp>
      <p:sp>
        <p:nvSpPr>
          <p:cNvPr id="24" name="TextBox 23"/>
          <p:cNvSpPr txBox="1"/>
          <p:nvPr/>
        </p:nvSpPr>
        <p:spPr>
          <a:xfrm>
            <a:off x="1005840" y="4050792"/>
            <a:ext cx="7772400" cy="365760"/>
          </a:xfrm>
          <a:prstGeom prst="rect">
            <a:avLst/>
          </a:prstGeom>
          <a:noFill/>
        </p:spPr>
        <p:txBody>
          <a:bodyPr wrap="square">
            <a:spAutoFit/>
          </a:bodyPr>
          <a:lstStyle/>
          <a:p>
            <a:pPr algn="l">
              <a:lnSpc>
                <a:spcPts val="1680"/>
              </a:lnSpc>
              <a:defRPr sz="1400" b="0" i="0">
                <a:solidFill>
                  <a:srgbClr val="2C3E50"/>
                </a:solidFill>
                <a:latin typeface="微软雅黑"/>
              </a:defRPr>
            </a:pPr>
            <a:r>
              <a:t>another + 数词 + 名词 = 再来……（another three minutes）</a:t>
            </a:r>
          </a:p>
        </p:txBody>
      </p:sp>
      <p:sp>
        <p:nvSpPr>
          <p:cNvPr id="25" name="Oval 24"/>
          <p:cNvSpPr/>
          <p:nvPr/>
        </p:nvSpPr>
        <p:spPr>
          <a:xfrm>
            <a:off x="457200" y="4617720"/>
            <a:ext cx="365760" cy="365760"/>
          </a:xfrm>
          <a:prstGeom prst="ellipse">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645152"/>
            <a:ext cx="365760" cy="310896"/>
          </a:xfrm>
          <a:prstGeom prst="rect">
            <a:avLst/>
          </a:prstGeom>
          <a:noFill/>
        </p:spPr>
        <p:txBody>
          <a:bodyPr wrap="square">
            <a:spAutoFit/>
          </a:bodyPr>
          <a:lstStyle/>
          <a:p>
            <a:pPr algn="ctr">
              <a:lnSpc>
                <a:spcPts val="1560"/>
              </a:lnSpc>
              <a:defRPr sz="1300" b="1" i="0">
                <a:solidFill>
                  <a:srgbClr val="FFFFFF"/>
                </a:solidFill>
                <a:latin typeface="Arial"/>
              </a:defRPr>
            </a:pPr>
            <a:r>
              <a:t>6</a:t>
            </a:r>
          </a:p>
        </p:txBody>
      </p:sp>
      <p:sp>
        <p:nvSpPr>
          <p:cNvPr id="27" name="TextBox 26"/>
          <p:cNvSpPr txBox="1"/>
          <p:nvPr/>
        </p:nvSpPr>
        <p:spPr>
          <a:xfrm>
            <a:off x="1005840" y="4645152"/>
            <a:ext cx="7772400" cy="365760"/>
          </a:xfrm>
          <a:prstGeom prst="rect">
            <a:avLst/>
          </a:prstGeom>
          <a:noFill/>
        </p:spPr>
        <p:txBody>
          <a:bodyPr wrap="square">
            <a:spAutoFit/>
          </a:bodyPr>
          <a:lstStyle/>
          <a:p>
            <a:pPr algn="l">
              <a:lnSpc>
                <a:spcPts val="1680"/>
              </a:lnSpc>
              <a:defRPr sz="1400" b="0" i="0">
                <a:solidFill>
                  <a:srgbClr val="2C3E50"/>
                </a:solidFill>
                <a:latin typeface="微软雅黑"/>
              </a:defRPr>
            </a:pPr>
            <a:r>
              <a:t>有 the 就特定，有 s 就复数（记忆 other 五胞胎）</a:t>
            </a:r>
          </a:p>
        </p:txBody>
      </p:sp>
      <p:sp>
        <p:nvSpPr>
          <p:cNvPr id="28" name="Oval 27"/>
          <p:cNvSpPr/>
          <p:nvPr/>
        </p:nvSpPr>
        <p:spPr>
          <a:xfrm>
            <a:off x="457200" y="5212080"/>
            <a:ext cx="365760" cy="365760"/>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5239512"/>
            <a:ext cx="365760" cy="310896"/>
          </a:xfrm>
          <a:prstGeom prst="rect">
            <a:avLst/>
          </a:prstGeom>
          <a:noFill/>
        </p:spPr>
        <p:txBody>
          <a:bodyPr wrap="square">
            <a:spAutoFit/>
          </a:bodyPr>
          <a:lstStyle/>
          <a:p>
            <a:pPr algn="ctr">
              <a:lnSpc>
                <a:spcPts val="1560"/>
              </a:lnSpc>
              <a:defRPr sz="1300" b="1" i="0">
                <a:solidFill>
                  <a:srgbClr val="FFFFFF"/>
                </a:solidFill>
                <a:latin typeface="Arial"/>
              </a:defRPr>
            </a:pPr>
            <a:r>
              <a:t>7</a:t>
            </a:r>
          </a:p>
        </p:txBody>
      </p:sp>
      <p:sp>
        <p:nvSpPr>
          <p:cNvPr id="30" name="TextBox 29"/>
          <p:cNvSpPr txBox="1"/>
          <p:nvPr/>
        </p:nvSpPr>
        <p:spPr>
          <a:xfrm>
            <a:off x="1005840" y="5239512"/>
            <a:ext cx="7772400" cy="365760"/>
          </a:xfrm>
          <a:prstGeom prst="rect">
            <a:avLst/>
          </a:prstGeom>
          <a:noFill/>
        </p:spPr>
        <p:txBody>
          <a:bodyPr wrap="square">
            <a:spAutoFit/>
          </a:bodyPr>
          <a:lstStyle/>
          <a:p>
            <a:pPr algn="l">
              <a:lnSpc>
                <a:spcPts val="1680"/>
              </a:lnSpc>
              <a:defRPr sz="1400" b="0" i="0">
                <a:solidFill>
                  <a:srgbClr val="2C3E50"/>
                </a:solidFill>
                <a:latin typeface="微软雅黑"/>
              </a:defRPr>
            </a:pPr>
            <a:r>
              <a:t>主将从现：if/when 从句用一般现在时，主句用将来时</a:t>
            </a:r>
          </a:p>
        </p:txBody>
      </p:sp>
      <p:sp>
        <p:nvSpPr>
          <p:cNvPr id="31" name="Oval 30"/>
          <p:cNvSpPr/>
          <p:nvPr/>
        </p:nvSpPr>
        <p:spPr>
          <a:xfrm>
            <a:off x="457200" y="5806440"/>
            <a:ext cx="365760" cy="36576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5833872"/>
            <a:ext cx="365760" cy="310896"/>
          </a:xfrm>
          <a:prstGeom prst="rect">
            <a:avLst/>
          </a:prstGeom>
          <a:noFill/>
        </p:spPr>
        <p:txBody>
          <a:bodyPr wrap="square">
            <a:spAutoFit/>
          </a:bodyPr>
          <a:lstStyle/>
          <a:p>
            <a:pPr algn="ctr">
              <a:lnSpc>
                <a:spcPts val="1560"/>
              </a:lnSpc>
              <a:defRPr sz="1300" b="1" i="0">
                <a:solidFill>
                  <a:srgbClr val="FFFFFF"/>
                </a:solidFill>
                <a:latin typeface="Arial"/>
              </a:defRPr>
            </a:pPr>
            <a:r>
              <a:t>8</a:t>
            </a:r>
          </a:p>
        </p:txBody>
      </p:sp>
      <p:sp>
        <p:nvSpPr>
          <p:cNvPr id="33" name="TextBox 32"/>
          <p:cNvSpPr txBox="1"/>
          <p:nvPr/>
        </p:nvSpPr>
        <p:spPr>
          <a:xfrm>
            <a:off x="1005840" y="5833872"/>
            <a:ext cx="7772400" cy="365760"/>
          </a:xfrm>
          <a:prstGeom prst="rect">
            <a:avLst/>
          </a:prstGeom>
          <a:noFill/>
        </p:spPr>
        <p:txBody>
          <a:bodyPr wrap="square">
            <a:spAutoFit/>
          </a:bodyPr>
          <a:lstStyle/>
          <a:p>
            <a:pPr algn="l">
              <a:lnSpc>
                <a:spcPts val="1680"/>
              </a:lnSpc>
              <a:defRPr sz="1400" b="0" i="0">
                <a:solidFill>
                  <a:srgbClr val="2C3E50"/>
                </a:solidFill>
                <a:latin typeface="微软雅黑"/>
              </a:defRPr>
            </a:pPr>
            <a:r>
              <a:t>听力数字：teen 重音在后（fourteen），ty 重音在前（forty）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2879"/>
              </a:lnSpc>
              <a:defRPr sz="2400" b="1" i="0">
                <a:solidFill>
                  <a:srgbClr val="FFFFFF"/>
                </a:solidFill>
                <a:latin typeface="微软雅黑"/>
              </a:defRPr>
            </a:pPr>
            <a:r>
              <a:t>Homework · 课后作业</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439"/>
              </a:lnSpc>
              <a:defRPr sz="1200" b="0" i="0">
                <a:solidFill>
                  <a:srgbClr val="FFFFFF"/>
                </a:solidFill>
                <a:latin typeface="Arial"/>
              </a:defRPr>
            </a:pPr>
            <a:r>
              <a:t>L2 Homework</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080"/>
              </a:lnSpc>
              <a:defRPr sz="900" b="0" i="0">
                <a:solidFill>
                  <a:srgbClr val="FFFFFF"/>
                </a:solidFill>
                <a:latin typeface="微软雅黑"/>
              </a:defRPr>
            </a:pPr>
            <a:r>
              <a:t>Level 8A+ · 英文素养系统班 · 专题精讲(一)</a:t>
            </a:r>
          </a:p>
        </p:txBody>
      </p:sp>
      <p:sp>
        <p:nvSpPr>
          <p:cNvPr id="8" name="TextBox 7"/>
          <p:cNvSpPr txBox="1"/>
          <p:nvPr/>
        </p:nvSpPr>
        <p:spPr>
          <a:xfrm>
            <a:off x="8046720" y="6400800"/>
            <a:ext cx="914400" cy="365760"/>
          </a:xfrm>
          <a:prstGeom prst="rect">
            <a:avLst/>
          </a:prstGeom>
          <a:noFill/>
        </p:spPr>
        <p:txBody>
          <a:bodyPr wrap="square">
            <a:spAutoFit/>
          </a:bodyPr>
          <a:lstStyle/>
          <a:p>
            <a:pPr algn="r">
              <a:lnSpc>
                <a:spcPts val="1320"/>
              </a:lnSpc>
              <a:defRPr sz="1100" b="0" i="0">
                <a:solidFill>
                  <a:srgbClr val="95A5A6"/>
                </a:solidFill>
                <a:latin typeface="Arial"/>
              </a:defRPr>
            </a:pPr>
            <a:r>
              <a:t>65</a:t>
            </a:r>
          </a:p>
        </p:txBody>
      </p:sp>
      <p:sp>
        <p:nvSpPr>
          <p:cNvPr id="9" name="TextBox 8"/>
          <p:cNvSpPr txBox="1"/>
          <p:nvPr/>
        </p:nvSpPr>
        <p:spPr>
          <a:xfrm>
            <a:off x="457200" y="1097280"/>
            <a:ext cx="8229600" cy="457200"/>
          </a:xfrm>
          <a:prstGeom prst="rect">
            <a:avLst/>
          </a:prstGeom>
          <a:noFill/>
        </p:spPr>
        <p:txBody>
          <a:bodyPr wrap="square">
            <a:spAutoFit/>
          </a:bodyPr>
          <a:lstStyle/>
          <a:p>
            <a:pPr algn="l">
              <a:lnSpc>
                <a:spcPts val="2640"/>
              </a:lnSpc>
              <a:defRPr sz="2200" b="1" i="0">
                <a:solidFill>
                  <a:srgbClr val="E74C3C"/>
                </a:solidFill>
                <a:latin typeface="微软雅黑"/>
              </a:defRPr>
            </a:pPr>
            <a:r>
              <a:t>作业布置</a:t>
            </a:r>
          </a:p>
        </p:txBody>
      </p:sp>
      <p:sp>
        <p:nvSpPr>
          <p:cNvPr id="10" name="Rounded Rectangle 9"/>
          <p:cNvSpPr/>
          <p:nvPr/>
        </p:nvSpPr>
        <p:spPr>
          <a:xfrm>
            <a:off x="457200" y="1645920"/>
            <a:ext cx="1097280" cy="36576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664208"/>
            <a:ext cx="1097280" cy="329184"/>
          </a:xfrm>
          <a:prstGeom prst="rect">
            <a:avLst/>
          </a:prstGeom>
          <a:noFill/>
        </p:spPr>
        <p:txBody>
          <a:bodyPr wrap="square">
            <a:spAutoFit/>
          </a:bodyPr>
          <a:lstStyle/>
          <a:p>
            <a:pPr algn="ctr">
              <a:lnSpc>
                <a:spcPts val="1800"/>
              </a:lnSpc>
              <a:defRPr sz="1500" b="1" i="0">
                <a:solidFill>
                  <a:srgbClr val="FFFFFF"/>
                </a:solidFill>
                <a:latin typeface="微软雅黑"/>
              </a:defRPr>
            </a:pPr>
            <a:r>
              <a:t>必做</a:t>
            </a:r>
          </a:p>
        </p:txBody>
      </p:sp>
      <p:sp>
        <p:nvSpPr>
          <p:cNvPr id="12" name="TextBox 11"/>
          <p:cNvSpPr txBox="1"/>
          <p:nvPr/>
        </p:nvSpPr>
        <p:spPr>
          <a:xfrm>
            <a:off x="1828800" y="1554480"/>
            <a:ext cx="6858000" cy="2011680"/>
          </a:xfrm>
          <a:prstGeom prst="rect">
            <a:avLst/>
          </a:prstGeom>
          <a:noFill/>
        </p:spPr>
        <p:txBody>
          <a:bodyPr wrap="square">
            <a:spAutoFit/>
          </a:bodyPr>
          <a:lstStyle/>
          <a:p>
            <a:pPr>
              <a:lnSpc>
                <a:spcPts val="2560"/>
              </a:lnSpc>
            </a:pPr>
            <a:r>
              <a:rPr sz="1600" b="1">
                <a:solidFill>
                  <a:srgbClr val="E74C3C"/>
                </a:solidFill>
                <a:latin typeface="Arial"/>
              </a:rPr>
              <a:t>● </a:t>
            </a:r>
            <a:r>
              <a:rPr sz="1600">
                <a:solidFill>
                  <a:srgbClr val="2C3E50"/>
                </a:solidFill>
                <a:latin typeface="微软雅黑"/>
              </a:rPr>
              <a:t>完成讲义 L2 剩余练习题</a:t>
            </a:r>
          </a:p>
          <a:p>
            <a:pPr>
              <a:lnSpc>
                <a:spcPts val="2560"/>
              </a:lnSpc>
            </a:pPr>
            <a:r>
              <a:rPr sz="1600" b="1">
                <a:solidFill>
                  <a:srgbClr val="E74C3C"/>
                </a:solidFill>
                <a:latin typeface="Arial"/>
              </a:rPr>
              <a:t>● </a:t>
            </a:r>
            <a:r>
              <a:rPr sz="1600">
                <a:solidFill>
                  <a:srgbClr val="2C3E50"/>
                </a:solidFill>
                <a:latin typeface="微软雅黑"/>
              </a:rPr>
              <a:t>背诵 Words &amp; Expressions 词汇表</a:t>
            </a:r>
          </a:p>
          <a:p>
            <a:pPr>
              <a:lnSpc>
                <a:spcPts val="2560"/>
              </a:lnSpc>
            </a:pPr>
            <a:r>
              <a:rPr sz="1600" b="1">
                <a:solidFill>
                  <a:srgbClr val="E74C3C"/>
                </a:solidFill>
                <a:latin typeface="Arial"/>
              </a:rPr>
              <a:t>● </a:t>
            </a:r>
            <a:r>
              <a:rPr sz="1600">
                <a:solidFill>
                  <a:srgbClr val="2C3E50"/>
                </a:solidFill>
                <a:latin typeface="微软雅黑"/>
              </a:rPr>
              <a:t>整理不定代词22 PK 33思维导图</a:t>
            </a:r>
          </a:p>
        </p:txBody>
      </p:sp>
      <p:sp>
        <p:nvSpPr>
          <p:cNvPr id="13" name="Rounded Rectangle 12"/>
          <p:cNvSpPr/>
          <p:nvPr/>
        </p:nvSpPr>
        <p:spPr>
          <a:xfrm>
            <a:off x="457200" y="4206240"/>
            <a:ext cx="1097280" cy="36576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224528"/>
            <a:ext cx="1097280" cy="329184"/>
          </a:xfrm>
          <a:prstGeom prst="rect">
            <a:avLst/>
          </a:prstGeom>
          <a:noFill/>
        </p:spPr>
        <p:txBody>
          <a:bodyPr wrap="square">
            <a:spAutoFit/>
          </a:bodyPr>
          <a:lstStyle/>
          <a:p>
            <a:pPr algn="ctr">
              <a:lnSpc>
                <a:spcPts val="1800"/>
              </a:lnSpc>
              <a:defRPr sz="1500" b="1" i="0">
                <a:solidFill>
                  <a:srgbClr val="FFFFFF"/>
                </a:solidFill>
                <a:latin typeface="微软雅黑"/>
              </a:defRPr>
            </a:pPr>
            <a:r>
              <a:t>选做</a:t>
            </a:r>
          </a:p>
        </p:txBody>
      </p:sp>
      <p:sp>
        <p:nvSpPr>
          <p:cNvPr id="15" name="TextBox 14"/>
          <p:cNvSpPr txBox="1"/>
          <p:nvPr/>
        </p:nvSpPr>
        <p:spPr>
          <a:xfrm>
            <a:off x="1828800" y="4114800"/>
            <a:ext cx="6858000" cy="2011680"/>
          </a:xfrm>
          <a:prstGeom prst="rect">
            <a:avLst/>
          </a:prstGeom>
          <a:noFill/>
        </p:spPr>
        <p:txBody>
          <a:bodyPr wrap="square">
            <a:spAutoFit/>
          </a:bodyPr>
          <a:lstStyle/>
          <a:p>
            <a:pPr>
              <a:lnSpc>
                <a:spcPts val="2560"/>
              </a:lnSpc>
            </a:pPr>
            <a:r>
              <a:rPr sz="1600" b="1">
                <a:solidFill>
                  <a:srgbClr val="27AE60"/>
                </a:solidFill>
                <a:latin typeface="Arial"/>
              </a:rPr>
              <a:t>● </a:t>
            </a:r>
            <a:r>
              <a:rPr sz="1600">
                <a:solidFill>
                  <a:srgbClr val="2C3E50"/>
                </a:solidFill>
                <a:latin typeface="微软雅黑"/>
              </a:rPr>
              <a:t>用 Some...while others... 写一个观点表达段落(50词)</a:t>
            </a:r>
          </a:p>
          <a:p>
            <a:pPr>
              <a:lnSpc>
                <a:spcPts val="2560"/>
              </a:lnSpc>
            </a:pPr>
            <a:r>
              <a:rPr sz="1600" b="1">
                <a:solidFill>
                  <a:srgbClr val="27AE60"/>
                </a:solidFill>
                <a:latin typeface="Arial"/>
              </a:rPr>
              <a:t>● </a:t>
            </a:r>
            <a:r>
              <a:rPr sz="1600">
                <a:solidFill>
                  <a:srgbClr val="2C3E50"/>
                </a:solidFill>
                <a:latin typeface="微软雅黑"/>
              </a:rPr>
              <a:t>听力练习：BBC Learning English 数字相关材料</a:t>
            </a:r>
          </a:p>
          <a:p>
            <a:pPr>
              <a:lnSpc>
                <a:spcPts val="2560"/>
              </a:lnSpc>
            </a:pPr>
            <a:r>
              <a:rPr sz="1600" b="1">
                <a:solidFill>
                  <a:srgbClr val="27AE60"/>
                </a:solidFill>
                <a:latin typeface="Arial"/>
              </a:rPr>
              <a:t>● </a:t>
            </a:r>
            <a:r>
              <a:rPr sz="1600">
                <a:solidFill>
                  <a:srgbClr val="2C3E50"/>
                </a:solidFill>
                <a:latin typeface="微软雅黑"/>
              </a:rPr>
              <a:t>预习 L3 内容（书面表达 + 文章精读③）</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14400" y="1828800"/>
            <a:ext cx="7315200" cy="1097280"/>
          </a:xfrm>
          <a:prstGeom prst="rect">
            <a:avLst/>
          </a:prstGeom>
          <a:noFill/>
        </p:spPr>
        <p:txBody>
          <a:bodyPr wrap="square">
            <a:spAutoFit/>
          </a:bodyPr>
          <a:lstStyle/>
          <a:p>
            <a:pPr algn="ctr">
              <a:lnSpc>
                <a:spcPts val="6720"/>
              </a:lnSpc>
              <a:defRPr sz="5600" b="1" i="0">
                <a:solidFill>
                  <a:srgbClr val="FFFFFF"/>
                </a:solidFill>
                <a:latin typeface="Arial"/>
              </a:defRPr>
            </a:pPr>
            <a:r>
              <a:t>Thank You!</a:t>
            </a:r>
          </a:p>
        </p:txBody>
      </p:sp>
      <p:sp>
        <p:nvSpPr>
          <p:cNvPr id="4" name="Rectangle 3"/>
          <p:cNvSpPr/>
          <p:nvPr/>
        </p:nvSpPr>
        <p:spPr>
          <a:xfrm>
            <a:off x="2743200" y="3017520"/>
            <a:ext cx="36576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7315200" cy="731520"/>
          </a:xfrm>
          <a:prstGeom prst="rect">
            <a:avLst/>
          </a:prstGeom>
          <a:noFill/>
        </p:spPr>
        <p:txBody>
          <a:bodyPr wrap="square">
            <a:spAutoFit/>
          </a:bodyPr>
          <a:lstStyle/>
          <a:p>
            <a:pPr algn="ctr">
              <a:lnSpc>
                <a:spcPts val="2400"/>
              </a:lnSpc>
              <a:defRPr sz="2000" b="0" i="0">
                <a:solidFill>
                  <a:srgbClr val="F39C12"/>
                </a:solidFill>
                <a:latin typeface="微软雅黑"/>
              </a:defRPr>
            </a:pPr>
            <a:r>
              <a:t>Level 8A+ · Lesson 2</a:t>
            </a:r>
            <a:br/>
            <a:r>
              <a:t>文章精读②+指称运用②+听力训练</a:t>
            </a:r>
          </a:p>
        </p:txBody>
      </p:sp>
      <p:sp>
        <p:nvSpPr>
          <p:cNvPr id="6" name="TextBox 5"/>
          <p:cNvSpPr txBox="1"/>
          <p:nvPr/>
        </p:nvSpPr>
        <p:spPr>
          <a:xfrm>
            <a:off x="914400" y="4572000"/>
            <a:ext cx="7315200" cy="457200"/>
          </a:xfrm>
          <a:prstGeom prst="rect">
            <a:avLst/>
          </a:prstGeom>
          <a:noFill/>
        </p:spPr>
        <p:txBody>
          <a:bodyPr wrap="square">
            <a:spAutoFit/>
          </a:bodyPr>
          <a:lstStyle/>
          <a:p>
            <a:pPr algn="ctr">
              <a:lnSpc>
                <a:spcPts val="2160"/>
              </a:lnSpc>
              <a:defRPr sz="1800" b="0" i="0">
                <a:solidFill>
                  <a:srgbClr val="FFFFFF"/>
                </a:solidFill>
                <a:latin typeface="微软雅黑"/>
              </a:defRPr>
            </a:pPr>
            <a:r>
              <a:t>See you next lesson! 下节课见！</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3120"/>
              </a:lnSpc>
              <a:defRPr sz="2400" b="1">
                <a:solidFill>
                  <a:srgbClr val="FFFFFF"/>
                </a:solidFill>
                <a:latin typeface="微软雅黑"/>
              </a:defRPr>
            </a:pPr>
            <a:r>
              <a:t>Cloze Strategy · 完形填空解题策略</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560"/>
              </a:lnSpc>
              <a:defRPr sz="1200" b="0">
                <a:solidFill>
                  <a:srgbClr val="FFFFFF"/>
                </a:solidFill>
                <a:latin typeface="Arial"/>
              </a:defRPr>
            </a:pPr>
            <a:r>
              <a:t>Part 1 · Extension</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170"/>
              </a:lnSpc>
              <a:defRPr sz="900" b="0">
                <a:solidFill>
                  <a:srgbClr val="FFFFFF"/>
                </a:solidFill>
                <a:latin typeface="微软雅黑"/>
              </a:defRPr>
            </a:pPr>
            <a:r>
              <a:t>Level 8A+ · 英文素养系统班 · 专题精讲(一)</a:t>
            </a:r>
          </a:p>
        </p:txBody>
      </p:sp>
      <p:sp>
        <p:nvSpPr>
          <p:cNvPr id="8" name="TextBox 7"/>
          <p:cNvSpPr txBox="1"/>
          <p:nvPr/>
        </p:nvSpPr>
        <p:spPr>
          <a:xfrm>
            <a:off x="457200" y="1097280"/>
            <a:ext cx="8229600" cy="457200"/>
          </a:xfrm>
          <a:prstGeom prst="rect">
            <a:avLst/>
          </a:prstGeom>
          <a:noFill/>
        </p:spPr>
        <p:txBody>
          <a:bodyPr wrap="square">
            <a:spAutoFit/>
          </a:bodyPr>
          <a:lstStyle/>
          <a:p>
            <a:pPr algn="l">
              <a:lnSpc>
                <a:spcPts val="2860"/>
              </a:lnSpc>
              <a:defRPr sz="2200" b="1">
                <a:solidFill>
                  <a:srgbClr val="2B5797"/>
                </a:solidFill>
                <a:latin typeface="微软雅黑"/>
              </a:defRPr>
            </a:pPr>
            <a:r>
              <a:t>议论文完形填空 · 四步解题法</a:t>
            </a:r>
          </a:p>
        </p:txBody>
      </p:sp>
      <p:sp>
        <p:nvSpPr>
          <p:cNvPr id="9" name="Rounded Rectangle 8"/>
          <p:cNvSpPr/>
          <p:nvPr/>
        </p:nvSpPr>
        <p:spPr>
          <a:xfrm>
            <a:off x="457200" y="1645920"/>
            <a:ext cx="1828800" cy="41148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73352"/>
            <a:ext cx="1828800" cy="365760"/>
          </a:xfrm>
          <a:prstGeom prst="rect">
            <a:avLst/>
          </a:prstGeom>
          <a:noFill/>
        </p:spPr>
        <p:txBody>
          <a:bodyPr wrap="square">
            <a:spAutoFit/>
          </a:bodyPr>
          <a:lstStyle/>
          <a:p>
            <a:pPr algn="ctr">
              <a:lnSpc>
                <a:spcPts val="1820"/>
              </a:lnSpc>
              <a:defRPr sz="1400" b="1">
                <a:solidFill>
                  <a:srgbClr val="FFFFFF"/>
                </a:solidFill>
                <a:latin typeface="微软雅黑"/>
              </a:defRPr>
            </a:pPr>
            <a:r>
              <a:t>1. 通读全文</a:t>
            </a:r>
          </a:p>
        </p:txBody>
      </p:sp>
      <p:sp>
        <p:nvSpPr>
          <p:cNvPr id="11" name="TextBox 10"/>
          <p:cNvSpPr txBox="1"/>
          <p:nvPr/>
        </p:nvSpPr>
        <p:spPr>
          <a:xfrm>
            <a:off x="2560320" y="1645920"/>
            <a:ext cx="6217920" cy="822960"/>
          </a:xfrm>
          <a:prstGeom prst="rect">
            <a:avLst/>
          </a:prstGeom>
          <a:noFill/>
        </p:spPr>
        <p:txBody>
          <a:bodyPr wrap="square">
            <a:spAutoFit/>
          </a:bodyPr>
          <a:lstStyle/>
          <a:p>
            <a:pPr algn="l">
              <a:lnSpc>
                <a:spcPts val="1690"/>
              </a:lnSpc>
              <a:defRPr sz="1300" b="0">
                <a:solidFill>
                  <a:srgbClr val="2C3E50"/>
                </a:solidFill>
                <a:latin typeface="微软雅黑"/>
              </a:defRPr>
            </a:pPr>
            <a:r>
              <a:t>快速浏览，了解文章大意和结构</a:t>
            </a:r>
            <a:br/>
            <a:r>
              <a:t>不急于填空，先建立整体理解</a:t>
            </a:r>
          </a:p>
        </p:txBody>
      </p:sp>
      <p:sp>
        <p:nvSpPr>
          <p:cNvPr id="12" name="Rounded Rectangle 11"/>
          <p:cNvSpPr/>
          <p:nvPr/>
        </p:nvSpPr>
        <p:spPr>
          <a:xfrm>
            <a:off x="457200" y="2834640"/>
            <a:ext cx="1828800" cy="41148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862072"/>
            <a:ext cx="1828800" cy="365760"/>
          </a:xfrm>
          <a:prstGeom prst="rect">
            <a:avLst/>
          </a:prstGeom>
          <a:noFill/>
        </p:spPr>
        <p:txBody>
          <a:bodyPr wrap="square">
            <a:spAutoFit/>
          </a:bodyPr>
          <a:lstStyle/>
          <a:p>
            <a:pPr algn="ctr">
              <a:lnSpc>
                <a:spcPts val="1820"/>
              </a:lnSpc>
              <a:defRPr sz="1400" b="1">
                <a:solidFill>
                  <a:srgbClr val="FFFFFF"/>
                </a:solidFill>
                <a:latin typeface="微软雅黑"/>
              </a:defRPr>
            </a:pPr>
            <a:r>
              <a:t>2. 逐句精析</a:t>
            </a:r>
          </a:p>
        </p:txBody>
      </p:sp>
      <p:sp>
        <p:nvSpPr>
          <p:cNvPr id="14" name="TextBox 13"/>
          <p:cNvSpPr txBox="1"/>
          <p:nvPr/>
        </p:nvSpPr>
        <p:spPr>
          <a:xfrm>
            <a:off x="2560320" y="2834640"/>
            <a:ext cx="6217920" cy="822960"/>
          </a:xfrm>
          <a:prstGeom prst="rect">
            <a:avLst/>
          </a:prstGeom>
          <a:noFill/>
        </p:spPr>
        <p:txBody>
          <a:bodyPr wrap="square">
            <a:spAutoFit/>
          </a:bodyPr>
          <a:lstStyle/>
          <a:p>
            <a:pPr algn="l">
              <a:lnSpc>
                <a:spcPts val="1690"/>
              </a:lnSpc>
              <a:defRPr sz="1300" b="0">
                <a:solidFill>
                  <a:srgbClr val="2C3E50"/>
                </a:solidFill>
                <a:latin typeface="微软雅黑"/>
              </a:defRPr>
            </a:pPr>
            <a:r>
              <a:t>结合上下文语境选择答案</a:t>
            </a:r>
            <a:br/>
            <a:r>
              <a:t>注意转折词(but/however)和因果词(so/because)</a:t>
            </a:r>
          </a:p>
        </p:txBody>
      </p:sp>
      <p:sp>
        <p:nvSpPr>
          <p:cNvPr id="15" name="Rounded Rectangle 14"/>
          <p:cNvSpPr/>
          <p:nvPr/>
        </p:nvSpPr>
        <p:spPr>
          <a:xfrm>
            <a:off x="457200" y="4023360"/>
            <a:ext cx="1828800" cy="41148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50792"/>
            <a:ext cx="1828800" cy="365760"/>
          </a:xfrm>
          <a:prstGeom prst="rect">
            <a:avLst/>
          </a:prstGeom>
          <a:noFill/>
        </p:spPr>
        <p:txBody>
          <a:bodyPr wrap="square">
            <a:spAutoFit/>
          </a:bodyPr>
          <a:lstStyle/>
          <a:p>
            <a:pPr algn="ctr">
              <a:lnSpc>
                <a:spcPts val="1820"/>
              </a:lnSpc>
              <a:defRPr sz="1400" b="1">
                <a:solidFill>
                  <a:srgbClr val="FFFFFF"/>
                </a:solidFill>
                <a:latin typeface="微软雅黑"/>
              </a:defRPr>
            </a:pPr>
            <a:r>
              <a:t>3. 瞻前顾后</a:t>
            </a:r>
          </a:p>
        </p:txBody>
      </p:sp>
      <p:sp>
        <p:nvSpPr>
          <p:cNvPr id="17" name="TextBox 16"/>
          <p:cNvSpPr txBox="1"/>
          <p:nvPr/>
        </p:nvSpPr>
        <p:spPr>
          <a:xfrm>
            <a:off x="2560320" y="4023360"/>
            <a:ext cx="6217920" cy="822960"/>
          </a:xfrm>
          <a:prstGeom prst="rect">
            <a:avLst/>
          </a:prstGeom>
          <a:noFill/>
        </p:spPr>
        <p:txBody>
          <a:bodyPr wrap="square">
            <a:spAutoFit/>
          </a:bodyPr>
          <a:lstStyle/>
          <a:p>
            <a:pPr algn="l">
              <a:lnSpc>
                <a:spcPts val="1690"/>
              </a:lnSpc>
              <a:defRPr sz="1300" b="0">
                <a:solidFill>
                  <a:srgbClr val="2C3E50"/>
                </a:solidFill>
                <a:latin typeface="微软雅黑"/>
              </a:defRPr>
            </a:pPr>
            <a:r>
              <a:t>前后句对照验证</a:t>
            </a:r>
            <a:br/>
            <a:r>
              <a:t>注意复现词和同义替换</a:t>
            </a:r>
          </a:p>
        </p:txBody>
      </p:sp>
      <p:sp>
        <p:nvSpPr>
          <p:cNvPr id="18" name="Rounded Rectangle 17"/>
          <p:cNvSpPr/>
          <p:nvPr/>
        </p:nvSpPr>
        <p:spPr>
          <a:xfrm>
            <a:off x="457200" y="5212080"/>
            <a:ext cx="1828800" cy="41148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5239512"/>
            <a:ext cx="1828800" cy="365760"/>
          </a:xfrm>
          <a:prstGeom prst="rect">
            <a:avLst/>
          </a:prstGeom>
          <a:noFill/>
        </p:spPr>
        <p:txBody>
          <a:bodyPr wrap="square">
            <a:spAutoFit/>
          </a:bodyPr>
          <a:lstStyle/>
          <a:p>
            <a:pPr algn="ctr">
              <a:lnSpc>
                <a:spcPts val="1820"/>
              </a:lnSpc>
              <a:defRPr sz="1400" b="1">
                <a:solidFill>
                  <a:srgbClr val="FFFFFF"/>
                </a:solidFill>
                <a:latin typeface="微软雅黑"/>
              </a:defRPr>
            </a:pPr>
            <a:r>
              <a:t>4. 回读检查</a:t>
            </a:r>
          </a:p>
        </p:txBody>
      </p:sp>
      <p:sp>
        <p:nvSpPr>
          <p:cNvPr id="20" name="TextBox 19"/>
          <p:cNvSpPr txBox="1"/>
          <p:nvPr/>
        </p:nvSpPr>
        <p:spPr>
          <a:xfrm>
            <a:off x="2560320" y="5212080"/>
            <a:ext cx="6217920" cy="822960"/>
          </a:xfrm>
          <a:prstGeom prst="rect">
            <a:avLst/>
          </a:prstGeom>
          <a:noFill/>
        </p:spPr>
        <p:txBody>
          <a:bodyPr wrap="square">
            <a:spAutoFit/>
          </a:bodyPr>
          <a:lstStyle/>
          <a:p>
            <a:pPr algn="l">
              <a:lnSpc>
                <a:spcPts val="1690"/>
              </a:lnSpc>
              <a:defRPr sz="1300" b="0">
                <a:solidFill>
                  <a:srgbClr val="2C3E50"/>
                </a:solidFill>
                <a:latin typeface="微软雅黑"/>
              </a:defRPr>
            </a:pPr>
            <a:r>
              <a:t>将答案代入全文通读</a:t>
            </a:r>
            <a:br/>
            <a:r>
              <a:t>确保语法正确、语义通顺</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3120"/>
              </a:lnSpc>
              <a:defRPr sz="2400" b="1">
                <a:solidFill>
                  <a:srgbClr val="FFFFFF"/>
                </a:solidFill>
                <a:latin typeface="微软雅黑"/>
              </a:defRPr>
            </a:pPr>
            <a:r>
              <a:t>Vocabulary Extension · seem 用法拓展</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560"/>
              </a:lnSpc>
              <a:defRPr sz="1200" b="0">
                <a:solidFill>
                  <a:srgbClr val="FFFFFF"/>
                </a:solidFill>
                <a:latin typeface="Arial"/>
              </a:defRPr>
            </a:pPr>
            <a:r>
              <a:t>Part 1 · Vocab+</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170"/>
              </a:lnSpc>
              <a:defRPr sz="900" b="0">
                <a:solidFill>
                  <a:srgbClr val="FFFFFF"/>
                </a:solidFill>
                <a:latin typeface="微软雅黑"/>
              </a:defRPr>
            </a:pPr>
            <a:r>
              <a:t>Level 8A+ · 英文素养系统班 · 专题精讲(一)</a:t>
            </a:r>
          </a:p>
        </p:txBody>
      </p:sp>
      <p:sp>
        <p:nvSpPr>
          <p:cNvPr id="8" name="TextBox 7"/>
          <p:cNvSpPr txBox="1"/>
          <p:nvPr/>
        </p:nvSpPr>
        <p:spPr>
          <a:xfrm>
            <a:off x="457200" y="1097280"/>
            <a:ext cx="8229600" cy="457200"/>
          </a:xfrm>
          <a:prstGeom prst="rect">
            <a:avLst/>
          </a:prstGeom>
          <a:noFill/>
        </p:spPr>
        <p:txBody>
          <a:bodyPr wrap="square">
            <a:spAutoFit/>
          </a:bodyPr>
          <a:lstStyle/>
          <a:p>
            <a:pPr algn="l">
              <a:lnSpc>
                <a:spcPts val="2860"/>
              </a:lnSpc>
              <a:defRPr sz="2200" b="1">
                <a:solidFill>
                  <a:srgbClr val="2B5797"/>
                </a:solidFill>
                <a:latin typeface="微软雅黑"/>
              </a:defRPr>
            </a:pPr>
            <a:r>
              <a:t>seem 四大用法 · 一词多义</a:t>
            </a:r>
          </a:p>
        </p:txBody>
      </p:sp>
      <p:graphicFrame>
        <p:nvGraphicFramePr>
          <p:cNvPr id="9" name="Table 8"/>
          <p:cNvGraphicFramePr>
            <a:graphicFrameLocks noGrp="1"/>
          </p:cNvGraphicFramePr>
          <p:nvPr/>
        </p:nvGraphicFramePr>
        <p:xfrm>
          <a:off x="274320" y="1645920"/>
          <a:ext cx="8595360" cy="3200400"/>
        </p:xfrm>
        <a:graphic>
          <a:graphicData uri="http://schemas.openxmlformats.org/drawingml/2006/table">
            <a:tbl>
              <a:tblPr firstRow="1" bandRow="1">
                <a:tableStyleId>{5C22544A-7EE6-4342-B048-85BDC9FD1C3A}</a:tableStyleId>
              </a:tblPr>
              <a:tblGrid>
                <a:gridCol w="2865120"/>
                <a:gridCol w="2865120"/>
                <a:gridCol w="2865120"/>
              </a:tblGrid>
              <a:tr h="640080">
                <a:tc>
                  <a:txBody>
                    <a:bodyPr/>
                    <a:lstStyle/>
                    <a:p>
                      <a:pPr algn="ctr">
                        <a:defRPr sz="1400" b="1">
                          <a:solidFill>
                            <a:srgbClr val="FFFFFF"/>
                          </a:solidFill>
                          <a:latin typeface="微软雅黑"/>
                        </a:defRPr>
                      </a:pPr>
                      <a:r>
                        <a:t>用法</a:t>
                      </a:r>
                    </a:p>
                  </a:txBody>
                  <a:tcPr>
                    <a:solidFill>
                      <a:srgbClr val="2B5797"/>
                    </a:solidFill>
                  </a:tcPr>
                </a:tc>
                <a:tc>
                  <a:txBody>
                    <a:bodyPr/>
                    <a:lstStyle/>
                    <a:p>
                      <a:pPr algn="ctr">
                        <a:defRPr sz="1400" b="1">
                          <a:solidFill>
                            <a:srgbClr val="FFFFFF"/>
                          </a:solidFill>
                          <a:latin typeface="微软雅黑"/>
                        </a:defRPr>
                      </a:pPr>
                      <a:r>
                        <a:t>结构</a:t>
                      </a:r>
                    </a:p>
                  </a:txBody>
                  <a:tcPr>
                    <a:solidFill>
                      <a:srgbClr val="2B5797"/>
                    </a:solidFill>
                  </a:tcPr>
                </a:tc>
                <a:tc>
                  <a:txBody>
                    <a:bodyPr/>
                    <a:lstStyle/>
                    <a:p>
                      <a:pPr algn="ctr">
                        <a:defRPr sz="1400" b="1">
                          <a:solidFill>
                            <a:srgbClr val="FFFFFF"/>
                          </a:solidFill>
                          <a:latin typeface="微软雅黑"/>
                        </a:defRPr>
                      </a:pPr>
                      <a:r>
                        <a:t>例句</a:t>
                      </a:r>
                    </a:p>
                  </a:txBody>
                  <a:tcPr>
                    <a:solidFill>
                      <a:srgbClr val="2B5797"/>
                    </a:solidFill>
                  </a:tcPr>
                </a:tc>
              </a:tr>
              <a:tr h="640080">
                <a:tc>
                  <a:txBody>
                    <a:bodyPr/>
                    <a:lstStyle/>
                    <a:p>
                      <a:pPr algn="ctr">
                        <a:defRPr sz="1300">
                          <a:solidFill>
                            <a:srgbClr val="2C3E50"/>
                          </a:solidFill>
                          <a:latin typeface="微软雅黑"/>
                        </a:defRPr>
                      </a:pPr>
                      <a:r>
                        <a:t>seem + adj.</a:t>
                      </a:r>
                    </a:p>
                  </a:txBody>
                  <a:tcPr>
                    <a:solidFill>
                      <a:srgbClr val="FFFFFF"/>
                    </a:solidFill>
                  </a:tcPr>
                </a:tc>
                <a:tc>
                  <a:txBody>
                    <a:bodyPr/>
                    <a:lstStyle/>
                    <a:p>
                      <a:pPr algn="ctr">
                        <a:defRPr sz="1300">
                          <a:solidFill>
                            <a:srgbClr val="2C3E50"/>
                          </a:solidFill>
                          <a:latin typeface="微软雅黑"/>
                        </a:defRPr>
                      </a:pPr>
                      <a:r>
                        <a:t>seem happy/tired</a:t>
                      </a:r>
                    </a:p>
                  </a:txBody>
                  <a:tcPr>
                    <a:solidFill>
                      <a:srgbClr val="FFFFFF"/>
                    </a:solidFill>
                  </a:tcPr>
                </a:tc>
                <a:tc>
                  <a:txBody>
                    <a:bodyPr/>
                    <a:lstStyle/>
                    <a:p>
                      <a:pPr algn="ctr">
                        <a:defRPr sz="1300">
                          <a:solidFill>
                            <a:srgbClr val="2C3E50"/>
                          </a:solidFill>
                          <a:latin typeface="微软雅黑"/>
                        </a:defRPr>
                      </a:pPr>
                      <a:r>
                        <a:t>He seems happy today.</a:t>
                      </a:r>
                    </a:p>
                  </a:txBody>
                  <a:tcPr>
                    <a:solidFill>
                      <a:srgbClr val="FFFFFF"/>
                    </a:solidFill>
                  </a:tcPr>
                </a:tc>
              </a:tr>
              <a:tr h="640080">
                <a:tc>
                  <a:txBody>
                    <a:bodyPr/>
                    <a:lstStyle/>
                    <a:p>
                      <a:pPr algn="ctr">
                        <a:defRPr sz="1300">
                          <a:solidFill>
                            <a:srgbClr val="2C3E50"/>
                          </a:solidFill>
                          <a:latin typeface="微软雅黑"/>
                        </a:defRPr>
                      </a:pPr>
                      <a:r>
                        <a:t>seem to do</a:t>
                      </a:r>
                    </a:p>
                  </a:txBody>
                  <a:tcPr>
                    <a:solidFill>
                      <a:srgbClr val="EBF5FB"/>
                    </a:solidFill>
                  </a:tcPr>
                </a:tc>
                <a:tc>
                  <a:txBody>
                    <a:bodyPr/>
                    <a:lstStyle/>
                    <a:p>
                      <a:pPr algn="ctr">
                        <a:defRPr sz="1300">
                          <a:solidFill>
                            <a:srgbClr val="2C3E50"/>
                          </a:solidFill>
                          <a:latin typeface="微软雅黑"/>
                        </a:defRPr>
                      </a:pPr>
                      <a:r>
                        <a:t>seem to know/like</a:t>
                      </a:r>
                    </a:p>
                  </a:txBody>
                  <a:tcPr>
                    <a:solidFill>
                      <a:srgbClr val="EBF5FB"/>
                    </a:solidFill>
                  </a:tcPr>
                </a:tc>
                <a:tc>
                  <a:txBody>
                    <a:bodyPr/>
                    <a:lstStyle/>
                    <a:p>
                      <a:pPr algn="ctr">
                        <a:defRPr sz="1300">
                          <a:solidFill>
                            <a:srgbClr val="2C3E50"/>
                          </a:solidFill>
                          <a:latin typeface="微软雅黑"/>
                        </a:defRPr>
                      </a:pPr>
                      <a:r>
                        <a:t>She seems to like music.</a:t>
                      </a:r>
                    </a:p>
                  </a:txBody>
                  <a:tcPr>
                    <a:solidFill>
                      <a:srgbClr val="EBF5FB"/>
                    </a:solidFill>
                  </a:tcPr>
                </a:tc>
              </a:tr>
              <a:tr h="640080">
                <a:tc>
                  <a:txBody>
                    <a:bodyPr/>
                    <a:lstStyle/>
                    <a:p>
                      <a:pPr algn="ctr">
                        <a:defRPr sz="1300">
                          <a:solidFill>
                            <a:srgbClr val="2C3E50"/>
                          </a:solidFill>
                          <a:latin typeface="微软雅黑"/>
                        </a:defRPr>
                      </a:pPr>
                      <a:r>
                        <a:t>It seems that...</a:t>
                      </a:r>
                    </a:p>
                  </a:txBody>
                  <a:tcPr>
                    <a:solidFill>
                      <a:srgbClr val="FFFFFF"/>
                    </a:solidFill>
                  </a:tcPr>
                </a:tc>
                <a:tc>
                  <a:txBody>
                    <a:bodyPr/>
                    <a:lstStyle/>
                    <a:p>
                      <a:pPr algn="ctr">
                        <a:defRPr sz="1300">
                          <a:solidFill>
                            <a:srgbClr val="2C3E50"/>
                          </a:solidFill>
                          <a:latin typeface="微软雅黑"/>
                        </a:defRPr>
                      </a:pPr>
                      <a:r>
                        <a:t>It seems that + 从句</a:t>
                      </a:r>
                    </a:p>
                  </a:txBody>
                  <a:tcPr>
                    <a:solidFill>
                      <a:srgbClr val="FFFFFF"/>
                    </a:solidFill>
                  </a:tcPr>
                </a:tc>
                <a:tc>
                  <a:txBody>
                    <a:bodyPr/>
                    <a:lstStyle/>
                    <a:p>
                      <a:pPr algn="ctr">
                        <a:defRPr sz="1300">
                          <a:solidFill>
                            <a:srgbClr val="2C3E50"/>
                          </a:solidFill>
                          <a:latin typeface="微软雅黑"/>
                        </a:defRPr>
                      </a:pPr>
                      <a:r>
                        <a:t>It seems that he is busy.</a:t>
                      </a:r>
                    </a:p>
                  </a:txBody>
                  <a:tcPr>
                    <a:solidFill>
                      <a:srgbClr val="FFFFFF"/>
                    </a:solidFill>
                  </a:tcPr>
                </a:tc>
              </a:tr>
              <a:tr h="640080">
                <a:tc>
                  <a:txBody>
                    <a:bodyPr/>
                    <a:lstStyle/>
                    <a:p>
                      <a:pPr algn="ctr">
                        <a:defRPr sz="1300">
                          <a:solidFill>
                            <a:srgbClr val="2C3E50"/>
                          </a:solidFill>
                          <a:latin typeface="微软雅黑"/>
                        </a:defRPr>
                      </a:pPr>
                      <a:r>
                        <a:t>seem like</a:t>
                      </a:r>
                    </a:p>
                  </a:txBody>
                  <a:tcPr>
                    <a:solidFill>
                      <a:srgbClr val="EBF5FB"/>
                    </a:solidFill>
                  </a:tcPr>
                </a:tc>
                <a:tc>
                  <a:txBody>
                    <a:bodyPr/>
                    <a:lstStyle/>
                    <a:p>
                      <a:pPr algn="ctr">
                        <a:defRPr sz="1300">
                          <a:solidFill>
                            <a:srgbClr val="2C3E50"/>
                          </a:solidFill>
                          <a:latin typeface="微软雅黑"/>
                        </a:defRPr>
                      </a:pPr>
                      <a:r>
                        <a:t>seem like + 名词</a:t>
                      </a:r>
                    </a:p>
                  </a:txBody>
                  <a:tcPr>
                    <a:solidFill>
                      <a:srgbClr val="EBF5FB"/>
                    </a:solidFill>
                  </a:tcPr>
                </a:tc>
                <a:tc>
                  <a:txBody>
                    <a:bodyPr/>
                    <a:lstStyle/>
                    <a:p>
                      <a:pPr algn="ctr">
                        <a:defRPr sz="1300">
                          <a:solidFill>
                            <a:srgbClr val="2C3E50"/>
                          </a:solidFill>
                          <a:latin typeface="微软雅黑"/>
                        </a:defRPr>
                      </a:pPr>
                      <a:r>
                        <a:t>It seems like a good idea.</a:t>
                      </a:r>
                    </a:p>
                  </a:txBody>
                  <a:tcPr>
                    <a:solidFill>
                      <a:srgbClr val="EBF5FB"/>
                    </a:solidFill>
                  </a:tcPr>
                </a:tc>
              </a:tr>
            </a:tbl>
          </a:graphicData>
        </a:graphic>
      </p:graphicFrame>
      <p:sp>
        <p:nvSpPr>
          <p:cNvPr id="10" name="Rounded Rectangle 9"/>
          <p:cNvSpPr/>
          <p:nvPr/>
        </p:nvSpPr>
        <p:spPr>
          <a:xfrm>
            <a:off x="457200" y="5120640"/>
            <a:ext cx="8229600" cy="109728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0">
                <a:solidFill>
                  <a:srgbClr val="2C3E50"/>
                </a:solidFill>
                <a:latin typeface="微软雅黑"/>
              </a:defRPr>
            </a:pPr>
            <a:r>
              <a:t>Quick Practice:</a:t>
            </a:r>
            <a:br/>
            <a:r>
              <a:t>1. It ________ that it will rain tomorrow. (seem)</a:t>
            </a:r>
            <a:br/>
            <a:r>
              <a:t>2. The plan seems ________ (work).</a:t>
            </a:r>
            <a:br/>
            <a:r>
              <a:t>Answers: 1. seems  2. to work</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3120"/>
              </a:lnSpc>
              <a:defRPr sz="2400" b="1">
                <a:solidFill>
                  <a:srgbClr val="FFFFFF"/>
                </a:solidFill>
                <a:latin typeface="微软雅黑"/>
              </a:defRPr>
            </a:pPr>
            <a:r>
              <a:t>易错辨析 · Pronoun Traps</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560"/>
              </a:lnSpc>
              <a:defRPr sz="1200" b="0">
                <a:solidFill>
                  <a:srgbClr val="FFFFFF"/>
                </a:solidFill>
                <a:latin typeface="Arial"/>
              </a:defRPr>
            </a:pPr>
            <a:r>
              <a:t>Part 2 · Advanced</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170"/>
              </a:lnSpc>
              <a:defRPr sz="900" b="0">
                <a:solidFill>
                  <a:srgbClr val="FFFFFF"/>
                </a:solidFill>
                <a:latin typeface="微软雅黑"/>
              </a:defRPr>
            </a:pPr>
            <a:r>
              <a:t>Level 8A+ · 英文素养系统班 · 专题精讲(一)</a:t>
            </a:r>
          </a:p>
        </p:txBody>
      </p:sp>
      <p:sp>
        <p:nvSpPr>
          <p:cNvPr id="8" name="TextBox 7"/>
          <p:cNvSpPr txBox="1"/>
          <p:nvPr/>
        </p:nvSpPr>
        <p:spPr>
          <a:xfrm>
            <a:off x="457200" y="1097280"/>
            <a:ext cx="8229600" cy="457200"/>
          </a:xfrm>
          <a:prstGeom prst="rect">
            <a:avLst/>
          </a:prstGeom>
          <a:noFill/>
        </p:spPr>
        <p:txBody>
          <a:bodyPr wrap="square">
            <a:spAutoFit/>
          </a:bodyPr>
          <a:lstStyle/>
          <a:p>
            <a:pPr algn="l">
              <a:lnSpc>
                <a:spcPts val="2860"/>
              </a:lnSpc>
              <a:defRPr sz="2200" b="1">
                <a:solidFill>
                  <a:srgbClr val="E74C3C"/>
                </a:solidFill>
                <a:latin typeface="微软雅黑"/>
              </a:defRPr>
            </a:pPr>
            <a:r>
              <a:t>不定代词易错辨析大全</a:t>
            </a:r>
          </a:p>
        </p:txBody>
      </p:sp>
      <p:sp>
        <p:nvSpPr>
          <p:cNvPr id="9" name="Rounded Rectangle 8"/>
          <p:cNvSpPr/>
          <p:nvPr/>
        </p:nvSpPr>
        <p:spPr>
          <a:xfrm>
            <a:off x="274320" y="1645920"/>
            <a:ext cx="1097280" cy="36576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1664208"/>
            <a:ext cx="1097280" cy="329184"/>
          </a:xfrm>
          <a:prstGeom prst="rect">
            <a:avLst/>
          </a:prstGeom>
          <a:noFill/>
        </p:spPr>
        <p:txBody>
          <a:bodyPr wrap="square">
            <a:spAutoFit/>
          </a:bodyPr>
          <a:lstStyle/>
          <a:p>
            <a:pPr algn="ctr">
              <a:lnSpc>
                <a:spcPts val="1560"/>
              </a:lnSpc>
              <a:defRPr sz="1200" b="1">
                <a:solidFill>
                  <a:srgbClr val="FFFFFF"/>
                </a:solidFill>
                <a:latin typeface="微软雅黑"/>
              </a:defRPr>
            </a:pPr>
            <a:r>
              <a:t>易错1</a:t>
            </a:r>
          </a:p>
        </p:txBody>
      </p:sp>
      <p:sp>
        <p:nvSpPr>
          <p:cNvPr id="11" name="TextBox 10"/>
          <p:cNvSpPr txBox="1"/>
          <p:nvPr/>
        </p:nvSpPr>
        <p:spPr>
          <a:xfrm>
            <a:off x="1554480" y="1645920"/>
            <a:ext cx="2743200" cy="365760"/>
          </a:xfrm>
          <a:prstGeom prst="rect">
            <a:avLst/>
          </a:prstGeom>
          <a:noFill/>
        </p:spPr>
        <p:txBody>
          <a:bodyPr wrap="square">
            <a:spAutoFit/>
          </a:bodyPr>
          <a:lstStyle/>
          <a:p>
            <a:pPr algn="l">
              <a:lnSpc>
                <a:spcPts val="1820"/>
              </a:lnSpc>
              <a:defRPr sz="1400" b="1">
                <a:solidFill>
                  <a:srgbClr val="2C3E50"/>
                </a:solidFill>
                <a:latin typeface="微软雅黑"/>
              </a:defRPr>
            </a:pPr>
            <a:r>
              <a:t>both 否定 ≠ not both</a:t>
            </a:r>
          </a:p>
        </p:txBody>
      </p:sp>
      <p:sp>
        <p:nvSpPr>
          <p:cNvPr id="12" name="Rounded Rectangle 11"/>
          <p:cNvSpPr/>
          <p:nvPr/>
        </p:nvSpPr>
        <p:spPr>
          <a:xfrm>
            <a:off x="4389120" y="1554480"/>
            <a:ext cx="4480560" cy="868680"/>
          </a:xfrm>
          <a:prstGeom prst="roundRect">
            <a:avLst/>
          </a:prstGeom>
          <a:solidFill>
            <a:srgbClr val="FDF2E9"/>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0">
                <a:solidFill>
                  <a:srgbClr val="2C3E50"/>
                </a:solidFill>
                <a:latin typeface="微软雅黑"/>
              </a:defRPr>
            </a:pPr>
            <a:r>
              <a:t>not both = 部分否定(不是两者都)</a:t>
            </a:r>
            <a:br/>
            <a:r>
              <a:t>neither = 全部否定(两者都不)</a:t>
            </a:r>
          </a:p>
        </p:txBody>
      </p:sp>
      <p:sp>
        <p:nvSpPr>
          <p:cNvPr id="13" name="Rounded Rectangle 12"/>
          <p:cNvSpPr/>
          <p:nvPr/>
        </p:nvSpPr>
        <p:spPr>
          <a:xfrm>
            <a:off x="274320" y="2834640"/>
            <a:ext cx="1097280" cy="36576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2852928"/>
            <a:ext cx="1097280" cy="329184"/>
          </a:xfrm>
          <a:prstGeom prst="rect">
            <a:avLst/>
          </a:prstGeom>
          <a:noFill/>
        </p:spPr>
        <p:txBody>
          <a:bodyPr wrap="square">
            <a:spAutoFit/>
          </a:bodyPr>
          <a:lstStyle/>
          <a:p>
            <a:pPr algn="ctr">
              <a:lnSpc>
                <a:spcPts val="1560"/>
              </a:lnSpc>
              <a:defRPr sz="1200" b="1">
                <a:solidFill>
                  <a:srgbClr val="FFFFFF"/>
                </a:solidFill>
                <a:latin typeface="微软雅黑"/>
              </a:defRPr>
            </a:pPr>
            <a:r>
              <a:t>易错2</a:t>
            </a:r>
          </a:p>
        </p:txBody>
      </p:sp>
      <p:sp>
        <p:nvSpPr>
          <p:cNvPr id="15" name="TextBox 14"/>
          <p:cNvSpPr txBox="1"/>
          <p:nvPr/>
        </p:nvSpPr>
        <p:spPr>
          <a:xfrm>
            <a:off x="1554480" y="2834640"/>
            <a:ext cx="2743200" cy="365760"/>
          </a:xfrm>
          <a:prstGeom prst="rect">
            <a:avLst/>
          </a:prstGeom>
          <a:noFill/>
        </p:spPr>
        <p:txBody>
          <a:bodyPr wrap="square">
            <a:spAutoFit/>
          </a:bodyPr>
          <a:lstStyle/>
          <a:p>
            <a:pPr algn="l">
              <a:lnSpc>
                <a:spcPts val="1820"/>
              </a:lnSpc>
              <a:defRPr sz="1400" b="1">
                <a:solidFill>
                  <a:srgbClr val="2C3E50"/>
                </a:solidFill>
                <a:latin typeface="微软雅黑"/>
              </a:defRPr>
            </a:pPr>
            <a:r>
              <a:t>all 否定 ≠ not all</a:t>
            </a:r>
          </a:p>
        </p:txBody>
      </p:sp>
      <p:sp>
        <p:nvSpPr>
          <p:cNvPr id="16" name="Rounded Rectangle 15"/>
          <p:cNvSpPr/>
          <p:nvPr/>
        </p:nvSpPr>
        <p:spPr>
          <a:xfrm>
            <a:off x="4389120" y="2743200"/>
            <a:ext cx="4480560" cy="868680"/>
          </a:xfrm>
          <a:prstGeom prst="roundRect">
            <a:avLst/>
          </a:prstGeom>
          <a:solidFill>
            <a:srgbClr val="FDF2E9"/>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0">
                <a:solidFill>
                  <a:srgbClr val="2C3E50"/>
                </a:solidFill>
                <a:latin typeface="微软雅黑"/>
              </a:defRPr>
            </a:pPr>
            <a:r>
              <a:t>not all = 部分否定(不是全部)</a:t>
            </a:r>
            <a:br/>
            <a:r>
              <a:t>none = 全部否定(一个也没有)</a:t>
            </a:r>
          </a:p>
        </p:txBody>
      </p:sp>
      <p:sp>
        <p:nvSpPr>
          <p:cNvPr id="17" name="Rounded Rectangle 16"/>
          <p:cNvSpPr/>
          <p:nvPr/>
        </p:nvSpPr>
        <p:spPr>
          <a:xfrm>
            <a:off x="274320" y="4023360"/>
            <a:ext cx="1097280" cy="36576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4041648"/>
            <a:ext cx="1097280" cy="329184"/>
          </a:xfrm>
          <a:prstGeom prst="rect">
            <a:avLst/>
          </a:prstGeom>
          <a:noFill/>
        </p:spPr>
        <p:txBody>
          <a:bodyPr wrap="square">
            <a:spAutoFit/>
          </a:bodyPr>
          <a:lstStyle/>
          <a:p>
            <a:pPr algn="ctr">
              <a:lnSpc>
                <a:spcPts val="1560"/>
              </a:lnSpc>
              <a:defRPr sz="1200" b="1">
                <a:solidFill>
                  <a:srgbClr val="FFFFFF"/>
                </a:solidFill>
                <a:latin typeface="微软雅黑"/>
              </a:defRPr>
            </a:pPr>
            <a:r>
              <a:t>易错3</a:t>
            </a:r>
          </a:p>
        </p:txBody>
      </p:sp>
      <p:sp>
        <p:nvSpPr>
          <p:cNvPr id="19" name="TextBox 18"/>
          <p:cNvSpPr txBox="1"/>
          <p:nvPr/>
        </p:nvSpPr>
        <p:spPr>
          <a:xfrm>
            <a:off x="1554480" y="4023360"/>
            <a:ext cx="2743200" cy="365760"/>
          </a:xfrm>
          <a:prstGeom prst="rect">
            <a:avLst/>
          </a:prstGeom>
          <a:noFill/>
        </p:spPr>
        <p:txBody>
          <a:bodyPr wrap="square">
            <a:spAutoFit/>
          </a:bodyPr>
          <a:lstStyle/>
          <a:p>
            <a:pPr algn="l">
              <a:lnSpc>
                <a:spcPts val="1820"/>
              </a:lnSpc>
              <a:defRPr sz="1400" b="1">
                <a:solidFill>
                  <a:srgbClr val="2C3E50"/>
                </a:solidFill>
                <a:latin typeface="微软雅黑"/>
              </a:defRPr>
            </a:pPr>
            <a:r>
              <a:t>nothing vs none</a:t>
            </a:r>
          </a:p>
        </p:txBody>
      </p:sp>
      <p:sp>
        <p:nvSpPr>
          <p:cNvPr id="20" name="Rounded Rectangle 19"/>
          <p:cNvSpPr/>
          <p:nvPr/>
        </p:nvSpPr>
        <p:spPr>
          <a:xfrm>
            <a:off x="4389120" y="3931920"/>
            <a:ext cx="4480560" cy="868680"/>
          </a:xfrm>
          <a:prstGeom prst="roundRect">
            <a:avLst/>
          </a:prstGeom>
          <a:solidFill>
            <a:srgbClr val="FDF2E9"/>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0">
                <a:solidFill>
                  <a:srgbClr val="2C3E50"/>
                </a:solidFill>
                <a:latin typeface="微软雅黑"/>
              </a:defRPr>
            </a:pPr>
            <a:r>
              <a:t>nothing 回答 What（指物）</a:t>
            </a:r>
            <a:br/>
            <a:r>
              <a:t>none 回答 How many/much（指数量）</a:t>
            </a:r>
          </a:p>
        </p:txBody>
      </p:sp>
      <p:sp>
        <p:nvSpPr>
          <p:cNvPr id="21" name="Rounded Rectangle 20"/>
          <p:cNvSpPr/>
          <p:nvPr/>
        </p:nvSpPr>
        <p:spPr>
          <a:xfrm>
            <a:off x="274320" y="5212080"/>
            <a:ext cx="1097280" cy="36576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5230368"/>
            <a:ext cx="1097280" cy="329184"/>
          </a:xfrm>
          <a:prstGeom prst="rect">
            <a:avLst/>
          </a:prstGeom>
          <a:noFill/>
        </p:spPr>
        <p:txBody>
          <a:bodyPr wrap="square">
            <a:spAutoFit/>
          </a:bodyPr>
          <a:lstStyle/>
          <a:p>
            <a:pPr algn="ctr">
              <a:lnSpc>
                <a:spcPts val="1560"/>
              </a:lnSpc>
              <a:defRPr sz="1200" b="1">
                <a:solidFill>
                  <a:srgbClr val="FFFFFF"/>
                </a:solidFill>
                <a:latin typeface="微软雅黑"/>
              </a:defRPr>
            </a:pPr>
            <a:r>
              <a:t>易错4</a:t>
            </a:r>
          </a:p>
        </p:txBody>
      </p:sp>
      <p:sp>
        <p:nvSpPr>
          <p:cNvPr id="23" name="TextBox 22"/>
          <p:cNvSpPr txBox="1"/>
          <p:nvPr/>
        </p:nvSpPr>
        <p:spPr>
          <a:xfrm>
            <a:off x="1554480" y="5212080"/>
            <a:ext cx="2743200" cy="365760"/>
          </a:xfrm>
          <a:prstGeom prst="rect">
            <a:avLst/>
          </a:prstGeom>
          <a:noFill/>
        </p:spPr>
        <p:txBody>
          <a:bodyPr wrap="square">
            <a:spAutoFit/>
          </a:bodyPr>
          <a:lstStyle/>
          <a:p>
            <a:pPr algn="l">
              <a:lnSpc>
                <a:spcPts val="1820"/>
              </a:lnSpc>
              <a:defRPr sz="1400" b="1">
                <a:solidFill>
                  <a:srgbClr val="2C3E50"/>
                </a:solidFill>
                <a:latin typeface="微软雅黑"/>
              </a:defRPr>
            </a:pPr>
            <a:r>
              <a:t>another vs the other</a:t>
            </a:r>
          </a:p>
        </p:txBody>
      </p:sp>
      <p:sp>
        <p:nvSpPr>
          <p:cNvPr id="24" name="Rounded Rectangle 23"/>
          <p:cNvSpPr/>
          <p:nvPr/>
        </p:nvSpPr>
        <p:spPr>
          <a:xfrm>
            <a:off x="4389120" y="5120640"/>
            <a:ext cx="4480560" cy="868680"/>
          </a:xfrm>
          <a:prstGeom prst="roundRect">
            <a:avLst/>
          </a:prstGeom>
          <a:solidFill>
            <a:srgbClr val="FDF2E9"/>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0">
                <a:solidFill>
                  <a:srgbClr val="2C3E50"/>
                </a:solidFill>
                <a:latin typeface="微软雅黑"/>
              </a:defRPr>
            </a:pPr>
            <a:r>
              <a:t>another = 不特定的另一个（三者+）</a:t>
            </a:r>
            <a:br/>
            <a:r>
              <a:t>the other = 特定的另一个（两者中）</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3120"/>
              </a:lnSpc>
              <a:defRPr sz="2400" b="1">
                <a:solidFill>
                  <a:srgbClr val="FFFFFF"/>
                </a:solidFill>
                <a:latin typeface="微软雅黑"/>
              </a:defRPr>
            </a:pPr>
            <a:r>
              <a:t>other 系列 · 图示对比</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560"/>
              </a:lnSpc>
              <a:defRPr sz="1200" b="0">
                <a:solidFill>
                  <a:srgbClr val="FFFFFF"/>
                </a:solidFill>
                <a:latin typeface="Arial"/>
              </a:defRPr>
            </a:pPr>
            <a:r>
              <a:t>Part 2 · Visual</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170"/>
              </a:lnSpc>
              <a:defRPr sz="900" b="0">
                <a:solidFill>
                  <a:srgbClr val="FFFFFF"/>
                </a:solidFill>
                <a:latin typeface="微软雅黑"/>
              </a:defRPr>
            </a:pPr>
            <a:r>
              <a:t>Level 8A+ · 英文素养系统班 · 专题精讲(一)</a:t>
            </a:r>
          </a:p>
        </p:txBody>
      </p:sp>
      <p:sp>
        <p:nvSpPr>
          <p:cNvPr id="8" name="TextBox 7"/>
          <p:cNvSpPr txBox="1"/>
          <p:nvPr/>
        </p:nvSpPr>
        <p:spPr>
          <a:xfrm>
            <a:off x="457200" y="1097280"/>
            <a:ext cx="8229600" cy="457200"/>
          </a:xfrm>
          <a:prstGeom prst="rect">
            <a:avLst/>
          </a:prstGeom>
          <a:noFill/>
        </p:spPr>
        <p:txBody>
          <a:bodyPr wrap="square">
            <a:spAutoFit/>
          </a:bodyPr>
          <a:lstStyle/>
          <a:p>
            <a:pPr algn="l">
              <a:lnSpc>
                <a:spcPts val="2860"/>
              </a:lnSpc>
              <a:defRPr sz="2200" b="1">
                <a:solidFill>
                  <a:srgbClr val="F39C12"/>
                </a:solidFill>
                <a:latin typeface="微软雅黑"/>
              </a:defRPr>
            </a:pPr>
            <a:r>
              <a:t>other 五兄弟 · 场景对比记忆</a:t>
            </a:r>
          </a:p>
        </p:txBody>
      </p:sp>
      <p:sp>
        <p:nvSpPr>
          <p:cNvPr id="9" name="TextBox 8"/>
          <p:cNvSpPr txBox="1"/>
          <p:nvPr/>
        </p:nvSpPr>
        <p:spPr>
          <a:xfrm>
            <a:off x="457200" y="1645920"/>
            <a:ext cx="8229600" cy="457200"/>
          </a:xfrm>
          <a:prstGeom prst="rect">
            <a:avLst/>
          </a:prstGeom>
          <a:noFill/>
        </p:spPr>
        <p:txBody>
          <a:bodyPr wrap="square">
            <a:spAutoFit/>
          </a:bodyPr>
          <a:lstStyle/>
          <a:p>
            <a:pPr algn="l">
              <a:lnSpc>
                <a:spcPts val="2080"/>
              </a:lnSpc>
              <a:defRPr sz="1600" b="1">
                <a:solidFill>
                  <a:srgbClr val="2C3E50"/>
                </a:solidFill>
                <a:latin typeface="微软雅黑"/>
              </a:defRPr>
            </a:pPr>
            <a:r>
              <a:t>场景：篮子里有10个苹果，我拿了3个...</a:t>
            </a:r>
          </a:p>
        </p:txBody>
      </p:sp>
      <p:sp>
        <p:nvSpPr>
          <p:cNvPr id="10" name="Rounded Rectangle 9"/>
          <p:cNvSpPr/>
          <p:nvPr/>
        </p:nvSpPr>
        <p:spPr>
          <a:xfrm>
            <a:off x="182880" y="2286000"/>
            <a:ext cx="2743200" cy="1828800"/>
          </a:xfrm>
          <a:prstGeom prst="roundRect">
            <a:avLst/>
          </a:prstGeom>
          <a:solidFill>
            <a:srgbClr val="FFFFFF"/>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377440"/>
            <a:ext cx="2468880" cy="822960"/>
          </a:xfrm>
          <a:prstGeom prst="rect">
            <a:avLst/>
          </a:prstGeom>
          <a:noFill/>
        </p:spPr>
        <p:txBody>
          <a:bodyPr wrap="square">
            <a:spAutoFit/>
          </a:bodyPr>
          <a:lstStyle/>
          <a:p>
            <a:pPr algn="l">
              <a:lnSpc>
                <a:spcPts val="1560"/>
              </a:lnSpc>
              <a:defRPr sz="1200" b="1">
                <a:solidFill>
                  <a:srgbClr val="1B3A5C"/>
                </a:solidFill>
                <a:latin typeface="Arial"/>
              </a:defRPr>
            </a:pPr>
            <a:r>
              <a:t>Some are red,</a:t>
            </a:r>
            <a:br/>
            <a:r>
              <a:t>others are green.</a:t>
            </a:r>
          </a:p>
        </p:txBody>
      </p:sp>
      <p:sp>
        <p:nvSpPr>
          <p:cNvPr id="12" name="TextBox 11"/>
          <p:cNvSpPr txBox="1"/>
          <p:nvPr/>
        </p:nvSpPr>
        <p:spPr>
          <a:xfrm>
            <a:off x="320040" y="3200400"/>
            <a:ext cx="2468880" cy="777240"/>
          </a:xfrm>
          <a:prstGeom prst="rect">
            <a:avLst/>
          </a:prstGeom>
          <a:noFill/>
        </p:spPr>
        <p:txBody>
          <a:bodyPr wrap="square">
            <a:spAutoFit/>
          </a:bodyPr>
          <a:lstStyle/>
          <a:p>
            <a:pPr algn="l">
              <a:lnSpc>
                <a:spcPts val="1430"/>
              </a:lnSpc>
              <a:defRPr sz="1100" b="0">
                <a:solidFill>
                  <a:srgbClr val="2C3E50"/>
                </a:solidFill>
                <a:latin typeface="微软雅黑"/>
              </a:defRPr>
            </a:pPr>
            <a:r>
              <a:t>some...others...</a:t>
            </a:r>
            <a:br/>
            <a:r>
              <a:t>泛指另一些（不确定范围）</a:t>
            </a:r>
          </a:p>
        </p:txBody>
      </p:sp>
      <p:sp>
        <p:nvSpPr>
          <p:cNvPr id="13" name="Rounded Rectangle 12"/>
          <p:cNvSpPr/>
          <p:nvPr/>
        </p:nvSpPr>
        <p:spPr>
          <a:xfrm>
            <a:off x="3200400" y="2286000"/>
            <a:ext cx="2743200" cy="1828800"/>
          </a:xfrm>
          <a:prstGeom prst="roundRect">
            <a:avLst/>
          </a:prstGeom>
          <a:solidFill>
            <a:srgbClr val="FFFFFF"/>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2377440"/>
            <a:ext cx="2468880" cy="822960"/>
          </a:xfrm>
          <a:prstGeom prst="rect">
            <a:avLst/>
          </a:prstGeom>
          <a:noFill/>
        </p:spPr>
        <p:txBody>
          <a:bodyPr wrap="square">
            <a:spAutoFit/>
          </a:bodyPr>
          <a:lstStyle/>
          <a:p>
            <a:pPr algn="l">
              <a:lnSpc>
                <a:spcPts val="1560"/>
              </a:lnSpc>
              <a:defRPr sz="1200" b="1">
                <a:solidFill>
                  <a:srgbClr val="1B3A5C"/>
                </a:solidFill>
                <a:latin typeface="Arial"/>
              </a:defRPr>
            </a:pPr>
            <a:r>
              <a:t>Some are red,</a:t>
            </a:r>
            <a:br/>
            <a:r>
              <a:t>the others are green.</a:t>
            </a:r>
          </a:p>
        </p:txBody>
      </p:sp>
      <p:sp>
        <p:nvSpPr>
          <p:cNvPr id="15" name="TextBox 14"/>
          <p:cNvSpPr txBox="1"/>
          <p:nvPr/>
        </p:nvSpPr>
        <p:spPr>
          <a:xfrm>
            <a:off x="3337560" y="3200400"/>
            <a:ext cx="2468880" cy="777240"/>
          </a:xfrm>
          <a:prstGeom prst="rect">
            <a:avLst/>
          </a:prstGeom>
          <a:noFill/>
        </p:spPr>
        <p:txBody>
          <a:bodyPr wrap="square">
            <a:spAutoFit/>
          </a:bodyPr>
          <a:lstStyle/>
          <a:p>
            <a:pPr algn="l">
              <a:lnSpc>
                <a:spcPts val="1430"/>
              </a:lnSpc>
              <a:defRPr sz="1100" b="0">
                <a:solidFill>
                  <a:srgbClr val="2C3E50"/>
                </a:solidFill>
                <a:latin typeface="微软雅黑"/>
              </a:defRPr>
            </a:pPr>
            <a:r>
              <a:t>some...the others...</a:t>
            </a:r>
            <a:br/>
            <a:r>
              <a:t>特指剩下的全部（确定范围）</a:t>
            </a:r>
          </a:p>
        </p:txBody>
      </p:sp>
      <p:sp>
        <p:nvSpPr>
          <p:cNvPr id="16" name="Rounded Rectangle 15"/>
          <p:cNvSpPr/>
          <p:nvPr/>
        </p:nvSpPr>
        <p:spPr>
          <a:xfrm>
            <a:off x="6217920" y="2286000"/>
            <a:ext cx="2743200" cy="1828800"/>
          </a:xfrm>
          <a:prstGeom prst="roundRect">
            <a:avLst/>
          </a:prstGeom>
          <a:solidFill>
            <a:srgbClr val="FFFFFF"/>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377440"/>
            <a:ext cx="2468880" cy="822960"/>
          </a:xfrm>
          <a:prstGeom prst="rect">
            <a:avLst/>
          </a:prstGeom>
          <a:noFill/>
        </p:spPr>
        <p:txBody>
          <a:bodyPr wrap="square">
            <a:spAutoFit/>
          </a:bodyPr>
          <a:lstStyle/>
          <a:p>
            <a:pPr algn="l">
              <a:lnSpc>
                <a:spcPts val="1560"/>
              </a:lnSpc>
              <a:defRPr sz="1200" b="1">
                <a:solidFill>
                  <a:srgbClr val="1B3A5C"/>
                </a:solidFill>
                <a:latin typeface="Arial"/>
              </a:defRPr>
            </a:pPr>
            <a:r>
              <a:t>I don't like this one.</a:t>
            </a:r>
            <a:br/>
            <a:r>
              <a:t>Give me another.</a:t>
            </a:r>
          </a:p>
        </p:txBody>
      </p:sp>
      <p:sp>
        <p:nvSpPr>
          <p:cNvPr id="18" name="TextBox 17"/>
          <p:cNvSpPr txBox="1"/>
          <p:nvPr/>
        </p:nvSpPr>
        <p:spPr>
          <a:xfrm>
            <a:off x="6355080" y="3200400"/>
            <a:ext cx="2468880" cy="777240"/>
          </a:xfrm>
          <a:prstGeom prst="rect">
            <a:avLst/>
          </a:prstGeom>
          <a:noFill/>
        </p:spPr>
        <p:txBody>
          <a:bodyPr wrap="square">
            <a:spAutoFit/>
          </a:bodyPr>
          <a:lstStyle/>
          <a:p>
            <a:pPr algn="l">
              <a:lnSpc>
                <a:spcPts val="1430"/>
              </a:lnSpc>
              <a:defRPr sz="1100" b="0">
                <a:solidFill>
                  <a:srgbClr val="2C3E50"/>
                </a:solidFill>
                <a:latin typeface="微软雅黑"/>
              </a:defRPr>
            </a:pPr>
            <a:r>
              <a:t>another</a:t>
            </a:r>
            <a:br/>
            <a:r>
              <a:t>再来一个（不特定）</a:t>
            </a:r>
          </a:p>
        </p:txBody>
      </p:sp>
      <p:sp>
        <p:nvSpPr>
          <p:cNvPr id="19" name="Rounded Rectangle 18"/>
          <p:cNvSpPr/>
          <p:nvPr/>
        </p:nvSpPr>
        <p:spPr>
          <a:xfrm>
            <a:off x="182880" y="4389120"/>
            <a:ext cx="2743200" cy="1828800"/>
          </a:xfrm>
          <a:prstGeom prst="roundRect">
            <a:avLst/>
          </a:prstGeom>
          <a:solidFill>
            <a:srgbClr val="FFFFFF"/>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4480560"/>
            <a:ext cx="2468880" cy="822960"/>
          </a:xfrm>
          <a:prstGeom prst="rect">
            <a:avLst/>
          </a:prstGeom>
          <a:noFill/>
        </p:spPr>
        <p:txBody>
          <a:bodyPr wrap="square">
            <a:spAutoFit/>
          </a:bodyPr>
          <a:lstStyle/>
          <a:p>
            <a:pPr algn="l">
              <a:lnSpc>
                <a:spcPts val="1560"/>
              </a:lnSpc>
              <a:defRPr sz="1200" b="1">
                <a:solidFill>
                  <a:srgbClr val="1B3A5C"/>
                </a:solidFill>
                <a:latin typeface="Arial"/>
              </a:defRPr>
            </a:pPr>
            <a:r>
              <a:t>I have two apples.</a:t>
            </a:r>
            <a:br/>
            <a:r>
              <a:t>One is red, the other is green.</a:t>
            </a:r>
          </a:p>
        </p:txBody>
      </p:sp>
      <p:sp>
        <p:nvSpPr>
          <p:cNvPr id="21" name="TextBox 20"/>
          <p:cNvSpPr txBox="1"/>
          <p:nvPr/>
        </p:nvSpPr>
        <p:spPr>
          <a:xfrm>
            <a:off x="320040" y="5303520"/>
            <a:ext cx="2468880" cy="777240"/>
          </a:xfrm>
          <a:prstGeom prst="rect">
            <a:avLst/>
          </a:prstGeom>
          <a:noFill/>
        </p:spPr>
        <p:txBody>
          <a:bodyPr wrap="square">
            <a:spAutoFit/>
          </a:bodyPr>
          <a:lstStyle/>
          <a:p>
            <a:pPr algn="l">
              <a:lnSpc>
                <a:spcPts val="1430"/>
              </a:lnSpc>
              <a:defRPr sz="1100" b="0">
                <a:solidFill>
                  <a:srgbClr val="2C3E50"/>
                </a:solidFill>
                <a:latin typeface="微软雅黑"/>
              </a:defRPr>
            </a:pPr>
            <a:r>
              <a:t>one...the other...</a:t>
            </a:r>
            <a:br/>
            <a:r>
              <a:t>两者中的另一个</a:t>
            </a:r>
          </a:p>
        </p:txBody>
      </p:sp>
      <p:sp>
        <p:nvSpPr>
          <p:cNvPr id="22" name="Rounded Rectangle 21"/>
          <p:cNvSpPr/>
          <p:nvPr/>
        </p:nvSpPr>
        <p:spPr>
          <a:xfrm>
            <a:off x="3200400" y="4389120"/>
            <a:ext cx="2743200" cy="1828800"/>
          </a:xfrm>
          <a:prstGeom prst="roundRect">
            <a:avLst/>
          </a:prstGeom>
          <a:solidFill>
            <a:srgbClr val="FFFFFF"/>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560" y="4480560"/>
            <a:ext cx="2468880" cy="822960"/>
          </a:xfrm>
          <a:prstGeom prst="rect">
            <a:avLst/>
          </a:prstGeom>
          <a:noFill/>
        </p:spPr>
        <p:txBody>
          <a:bodyPr wrap="square">
            <a:spAutoFit/>
          </a:bodyPr>
          <a:lstStyle/>
          <a:p>
            <a:pPr algn="l">
              <a:lnSpc>
                <a:spcPts val="1560"/>
              </a:lnSpc>
              <a:defRPr sz="1200" b="1">
                <a:solidFill>
                  <a:srgbClr val="1B3A5C"/>
                </a:solidFill>
                <a:latin typeface="Arial"/>
              </a:defRPr>
            </a:pPr>
            <a:r>
              <a:t>Do you have any</a:t>
            </a:r>
            <a:br/>
            <a:r>
              <a:t>other questions?</a:t>
            </a:r>
          </a:p>
        </p:txBody>
      </p:sp>
      <p:sp>
        <p:nvSpPr>
          <p:cNvPr id="24" name="TextBox 23"/>
          <p:cNvSpPr txBox="1"/>
          <p:nvPr/>
        </p:nvSpPr>
        <p:spPr>
          <a:xfrm>
            <a:off x="3337560" y="5303520"/>
            <a:ext cx="2468880" cy="777240"/>
          </a:xfrm>
          <a:prstGeom prst="rect">
            <a:avLst/>
          </a:prstGeom>
          <a:noFill/>
        </p:spPr>
        <p:txBody>
          <a:bodyPr wrap="square">
            <a:spAutoFit/>
          </a:bodyPr>
          <a:lstStyle/>
          <a:p>
            <a:pPr algn="l">
              <a:lnSpc>
                <a:spcPts val="1430"/>
              </a:lnSpc>
              <a:defRPr sz="1100" b="0">
                <a:solidFill>
                  <a:srgbClr val="2C3E50"/>
                </a:solidFill>
                <a:latin typeface="微软雅黑"/>
              </a:defRPr>
            </a:pPr>
            <a:r>
              <a:t>other + 名词</a:t>
            </a:r>
            <a:br/>
            <a:r>
              <a:t>其他的（形容词用法）</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3120"/>
              </a:lnSpc>
              <a:defRPr sz="2400" b="1">
                <a:solidFill>
                  <a:srgbClr val="FFFFFF"/>
                </a:solidFill>
                <a:latin typeface="微软雅黑"/>
              </a:defRPr>
            </a:pPr>
            <a:r>
              <a:t>Partial vs Total Negation · 部分否定 vs 全部否定</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560"/>
              </a:lnSpc>
              <a:defRPr sz="1200" b="0">
                <a:solidFill>
                  <a:srgbClr val="FFFFFF"/>
                </a:solidFill>
                <a:latin typeface="Arial"/>
              </a:defRPr>
            </a:pPr>
            <a:r>
              <a:t>Part 2 · Advanced</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170"/>
              </a:lnSpc>
              <a:defRPr sz="900" b="0">
                <a:solidFill>
                  <a:srgbClr val="FFFFFF"/>
                </a:solidFill>
                <a:latin typeface="微软雅黑"/>
              </a:defRPr>
            </a:pPr>
            <a:r>
              <a:t>Level 8A+ · 英文素养系统班 · 专题精讲(一)</a:t>
            </a:r>
          </a:p>
        </p:txBody>
      </p:sp>
      <p:sp>
        <p:nvSpPr>
          <p:cNvPr id="8" name="TextBox 7"/>
          <p:cNvSpPr txBox="1"/>
          <p:nvPr/>
        </p:nvSpPr>
        <p:spPr>
          <a:xfrm>
            <a:off x="457200" y="1097280"/>
            <a:ext cx="8229600" cy="457200"/>
          </a:xfrm>
          <a:prstGeom prst="rect">
            <a:avLst/>
          </a:prstGeom>
          <a:noFill/>
        </p:spPr>
        <p:txBody>
          <a:bodyPr wrap="square">
            <a:spAutoFit/>
          </a:bodyPr>
          <a:lstStyle/>
          <a:p>
            <a:pPr algn="l">
              <a:lnSpc>
                <a:spcPts val="2340"/>
              </a:lnSpc>
              <a:defRPr sz="1800" b="1">
                <a:solidFill>
                  <a:srgbClr val="E74C3C"/>
                </a:solidFill>
                <a:latin typeface="微软雅黑"/>
              </a:defRPr>
            </a:pPr>
            <a:r>
              <a:t>这是中考高频考点！务必掌握！</a:t>
            </a:r>
          </a:p>
        </p:txBody>
      </p:sp>
      <p:graphicFrame>
        <p:nvGraphicFramePr>
          <p:cNvPr id="9" name="Table 8"/>
          <p:cNvGraphicFramePr>
            <a:graphicFrameLocks noGrp="1"/>
          </p:cNvGraphicFramePr>
          <p:nvPr/>
        </p:nvGraphicFramePr>
        <p:xfrm>
          <a:off x="182880" y="1645920"/>
          <a:ext cx="8778240" cy="3657600"/>
        </p:xfrm>
        <a:graphic>
          <a:graphicData uri="http://schemas.openxmlformats.org/drawingml/2006/table">
            <a:tbl>
              <a:tblPr firstRow="1" bandRow="1">
                <a:tableStyleId>{5C22544A-7EE6-4342-B048-85BDC9FD1C3A}</a:tableStyleId>
              </a:tblPr>
              <a:tblGrid>
                <a:gridCol w="2194560"/>
                <a:gridCol w="2194560"/>
                <a:gridCol w="2194560"/>
                <a:gridCol w="2194560"/>
              </a:tblGrid>
              <a:tr h="731520">
                <a:tc>
                  <a:txBody>
                    <a:bodyPr/>
                    <a:lstStyle/>
                    <a:p>
                      <a:pPr algn="ctr">
                        <a:defRPr sz="1400" b="1">
                          <a:solidFill>
                            <a:srgbClr val="FFFFFF"/>
                          </a:solidFill>
                          <a:latin typeface="微软雅黑"/>
                        </a:defRPr>
                      </a:pPr>
                      <a:r>
                        <a:t>类型</a:t>
                      </a:r>
                    </a:p>
                  </a:txBody>
                  <a:tcPr>
                    <a:solidFill>
                      <a:srgbClr val="E74C3C"/>
                    </a:solidFill>
                  </a:tcPr>
                </a:tc>
                <a:tc>
                  <a:txBody>
                    <a:bodyPr/>
                    <a:lstStyle/>
                    <a:p>
                      <a:pPr algn="ctr">
                        <a:defRPr sz="1400" b="1">
                          <a:solidFill>
                            <a:srgbClr val="FFFFFF"/>
                          </a:solidFill>
                          <a:latin typeface="微软雅黑"/>
                        </a:defRPr>
                      </a:pPr>
                      <a:r>
                        <a:t>肯定</a:t>
                      </a:r>
                    </a:p>
                  </a:txBody>
                  <a:tcPr>
                    <a:solidFill>
                      <a:srgbClr val="E74C3C"/>
                    </a:solidFill>
                  </a:tcPr>
                </a:tc>
                <a:tc>
                  <a:txBody>
                    <a:bodyPr/>
                    <a:lstStyle/>
                    <a:p>
                      <a:pPr algn="ctr">
                        <a:defRPr sz="1400" b="1">
                          <a:solidFill>
                            <a:srgbClr val="FFFFFF"/>
                          </a:solidFill>
                          <a:latin typeface="微软雅黑"/>
                        </a:defRPr>
                      </a:pPr>
                      <a:r>
                        <a:t>部分否定</a:t>
                      </a:r>
                    </a:p>
                  </a:txBody>
                  <a:tcPr>
                    <a:solidFill>
                      <a:srgbClr val="E74C3C"/>
                    </a:solidFill>
                  </a:tcPr>
                </a:tc>
                <a:tc>
                  <a:txBody>
                    <a:bodyPr/>
                    <a:lstStyle/>
                    <a:p>
                      <a:pPr algn="ctr">
                        <a:defRPr sz="1400" b="1">
                          <a:solidFill>
                            <a:srgbClr val="FFFFFF"/>
                          </a:solidFill>
                          <a:latin typeface="微软雅黑"/>
                        </a:defRPr>
                      </a:pPr>
                      <a:r>
                        <a:t>全部否定</a:t>
                      </a:r>
                    </a:p>
                  </a:txBody>
                  <a:tcPr>
                    <a:solidFill>
                      <a:srgbClr val="E74C3C"/>
                    </a:solidFill>
                  </a:tcPr>
                </a:tc>
              </a:tr>
              <a:tr h="731520">
                <a:tc>
                  <a:txBody>
                    <a:bodyPr/>
                    <a:lstStyle/>
                    <a:p>
                      <a:pPr algn="ctr">
                        <a:defRPr sz="1300">
                          <a:solidFill>
                            <a:srgbClr val="2C3E50"/>
                          </a:solidFill>
                          <a:latin typeface="微软雅黑"/>
                        </a:defRPr>
                      </a:pPr>
                      <a:r>
                        <a:t>两者</a:t>
                      </a:r>
                    </a:p>
                  </a:txBody>
                  <a:tcPr>
                    <a:solidFill>
                      <a:srgbClr val="FFFFFF"/>
                    </a:solidFill>
                  </a:tcPr>
                </a:tc>
                <a:tc>
                  <a:txBody>
                    <a:bodyPr/>
                    <a:lstStyle/>
                    <a:p>
                      <a:pPr algn="ctr">
                        <a:defRPr sz="1300">
                          <a:solidFill>
                            <a:srgbClr val="2C3E50"/>
                          </a:solidFill>
                          <a:latin typeface="微软雅黑"/>
                        </a:defRPr>
                      </a:pPr>
                      <a:r>
                        <a:t>Both...are...</a:t>
                      </a:r>
                    </a:p>
                  </a:txBody>
                  <a:tcPr>
                    <a:solidFill>
                      <a:srgbClr val="FFFFFF"/>
                    </a:solidFill>
                  </a:tcPr>
                </a:tc>
                <a:tc>
                  <a:txBody>
                    <a:bodyPr/>
                    <a:lstStyle/>
                    <a:p>
                      <a:pPr algn="ctr">
                        <a:defRPr sz="1300">
                          <a:solidFill>
                            <a:srgbClr val="2C3E50"/>
                          </a:solidFill>
                          <a:latin typeface="微软雅黑"/>
                        </a:defRPr>
                      </a:pPr>
                      <a:r>
                        <a:t>Not both...are...</a:t>
                      </a:r>
                    </a:p>
                    <a:p>
                      <a:pPr algn="ctr">
                        <a:defRPr sz="1300">
                          <a:solidFill>
                            <a:srgbClr val="2C3E50"/>
                          </a:solidFill>
                          <a:latin typeface="微软雅黑"/>
                        </a:defRPr>
                      </a:pPr>
                      <a:r>
                        <a:t>(不是两者都)</a:t>
                      </a:r>
                    </a:p>
                  </a:txBody>
                  <a:tcPr>
                    <a:solidFill>
                      <a:srgbClr val="FFFFFF"/>
                    </a:solidFill>
                  </a:tcPr>
                </a:tc>
                <a:tc>
                  <a:txBody>
                    <a:bodyPr/>
                    <a:lstStyle/>
                    <a:p>
                      <a:pPr algn="ctr">
                        <a:defRPr sz="1300">
                          <a:solidFill>
                            <a:srgbClr val="2C3E50"/>
                          </a:solidFill>
                          <a:latin typeface="微软雅黑"/>
                        </a:defRPr>
                      </a:pPr>
                      <a:r>
                        <a:t>Neither...is...</a:t>
                      </a:r>
                    </a:p>
                    <a:p>
                      <a:pPr algn="ctr">
                        <a:defRPr sz="1300">
                          <a:solidFill>
                            <a:srgbClr val="2C3E50"/>
                          </a:solidFill>
                          <a:latin typeface="微软雅黑"/>
                        </a:defRPr>
                      </a:pPr>
                      <a:r>
                        <a:t>(两者都不)</a:t>
                      </a:r>
                    </a:p>
                  </a:txBody>
                  <a:tcPr>
                    <a:solidFill>
                      <a:srgbClr val="FFFFFF"/>
                    </a:solidFill>
                  </a:tcPr>
                </a:tc>
              </a:tr>
              <a:tr h="731520">
                <a:tc>
                  <a:txBody>
                    <a:bodyPr/>
                    <a:lstStyle/>
                    <a:p>
                      <a:pPr algn="ctr">
                        <a:defRPr sz="1300">
                          <a:solidFill>
                            <a:srgbClr val="2C3E50"/>
                          </a:solidFill>
                          <a:latin typeface="微软雅黑"/>
                        </a:defRPr>
                      </a:pPr>
                      <a:r>
                        <a:t>三者+</a:t>
                      </a:r>
                    </a:p>
                  </a:txBody>
                  <a:tcPr>
                    <a:solidFill>
                      <a:srgbClr val="EBF5FB"/>
                    </a:solidFill>
                  </a:tcPr>
                </a:tc>
                <a:tc>
                  <a:txBody>
                    <a:bodyPr/>
                    <a:lstStyle/>
                    <a:p>
                      <a:pPr algn="ctr">
                        <a:defRPr sz="1300">
                          <a:solidFill>
                            <a:srgbClr val="2C3E50"/>
                          </a:solidFill>
                          <a:latin typeface="微软雅黑"/>
                        </a:defRPr>
                      </a:pPr>
                      <a:r>
                        <a:t>All...are...</a:t>
                      </a:r>
                    </a:p>
                  </a:txBody>
                  <a:tcPr>
                    <a:solidFill>
                      <a:srgbClr val="EBF5FB"/>
                    </a:solidFill>
                  </a:tcPr>
                </a:tc>
                <a:tc>
                  <a:txBody>
                    <a:bodyPr/>
                    <a:lstStyle/>
                    <a:p>
                      <a:pPr algn="ctr">
                        <a:defRPr sz="1300">
                          <a:solidFill>
                            <a:srgbClr val="2C3E50"/>
                          </a:solidFill>
                          <a:latin typeface="微软雅黑"/>
                        </a:defRPr>
                      </a:pPr>
                      <a:r>
                        <a:t>Not all...are...</a:t>
                      </a:r>
                    </a:p>
                    <a:p>
                      <a:pPr algn="ctr">
                        <a:defRPr sz="1300">
                          <a:solidFill>
                            <a:srgbClr val="2C3E50"/>
                          </a:solidFill>
                          <a:latin typeface="微软雅黑"/>
                        </a:defRPr>
                      </a:pPr>
                      <a:r>
                        <a:t>(不是全部都)</a:t>
                      </a:r>
                    </a:p>
                  </a:txBody>
                  <a:tcPr>
                    <a:solidFill>
                      <a:srgbClr val="EBF5FB"/>
                    </a:solidFill>
                  </a:tcPr>
                </a:tc>
                <a:tc>
                  <a:txBody>
                    <a:bodyPr/>
                    <a:lstStyle/>
                    <a:p>
                      <a:pPr algn="ctr">
                        <a:defRPr sz="1300">
                          <a:solidFill>
                            <a:srgbClr val="2C3E50"/>
                          </a:solidFill>
                          <a:latin typeface="微软雅黑"/>
                        </a:defRPr>
                      </a:pPr>
                      <a:r>
                        <a:t>None...is/are...</a:t>
                      </a:r>
                    </a:p>
                    <a:p>
                      <a:pPr algn="ctr">
                        <a:defRPr sz="1300">
                          <a:solidFill>
                            <a:srgbClr val="2C3E50"/>
                          </a:solidFill>
                          <a:latin typeface="微软雅黑"/>
                        </a:defRPr>
                      </a:pPr>
                      <a:r>
                        <a:t>(没有一个)</a:t>
                      </a:r>
                    </a:p>
                  </a:txBody>
                  <a:tcPr>
                    <a:solidFill>
                      <a:srgbClr val="EBF5FB"/>
                    </a:solidFill>
                  </a:tcPr>
                </a:tc>
              </a:tr>
              <a:tr h="731520">
                <a:tc>
                  <a:txBody>
                    <a:bodyPr/>
                    <a:lstStyle/>
                    <a:p>
                      <a:pPr algn="ctr">
                        <a:defRPr sz="1300">
                          <a:solidFill>
                            <a:srgbClr val="2C3E50"/>
                          </a:solidFill>
                          <a:latin typeface="微软雅黑"/>
                        </a:defRPr>
                      </a:pPr>
                    </a:p>
                  </a:txBody>
                  <a:tcPr>
                    <a:solidFill>
                      <a:srgbClr val="FFFFFF"/>
                    </a:solidFill>
                  </a:tcPr>
                </a:tc>
                <a:tc>
                  <a:txBody>
                    <a:bodyPr/>
                    <a:lstStyle/>
                    <a:p>
                      <a:pPr algn="ctr">
                        <a:defRPr sz="1300">
                          <a:solidFill>
                            <a:srgbClr val="2C3E50"/>
                          </a:solidFill>
                          <a:latin typeface="微软雅黑"/>
                        </a:defRPr>
                      </a:pPr>
                      <a:r>
                        <a:t>Everything is...</a:t>
                      </a:r>
                    </a:p>
                  </a:txBody>
                  <a:tcPr>
                    <a:solidFill>
                      <a:srgbClr val="FFFFFF"/>
                    </a:solidFill>
                  </a:tcPr>
                </a:tc>
                <a:tc>
                  <a:txBody>
                    <a:bodyPr/>
                    <a:lstStyle/>
                    <a:p>
                      <a:pPr algn="ctr">
                        <a:defRPr sz="1300">
                          <a:solidFill>
                            <a:srgbClr val="2C3E50"/>
                          </a:solidFill>
                          <a:latin typeface="微软雅黑"/>
                        </a:defRPr>
                      </a:pPr>
                      <a:r>
                        <a:t>Not everything is...</a:t>
                      </a:r>
                    </a:p>
                    <a:p>
                      <a:pPr algn="ctr">
                        <a:defRPr sz="1300">
                          <a:solidFill>
                            <a:srgbClr val="2C3E50"/>
                          </a:solidFill>
                          <a:latin typeface="微软雅黑"/>
                        </a:defRPr>
                      </a:pPr>
                      <a:r>
                        <a:t>(不是每件事都)</a:t>
                      </a:r>
                    </a:p>
                  </a:txBody>
                  <a:tcPr>
                    <a:solidFill>
                      <a:srgbClr val="FFFFFF"/>
                    </a:solidFill>
                  </a:tcPr>
                </a:tc>
                <a:tc>
                  <a:txBody>
                    <a:bodyPr/>
                    <a:lstStyle/>
                    <a:p>
                      <a:pPr algn="ctr">
                        <a:defRPr sz="1300">
                          <a:solidFill>
                            <a:srgbClr val="2C3E50"/>
                          </a:solidFill>
                          <a:latin typeface="微软雅黑"/>
                        </a:defRPr>
                      </a:pPr>
                      <a:r>
                        <a:t>Nothing is...</a:t>
                      </a:r>
                    </a:p>
                    <a:p>
                      <a:pPr algn="ctr">
                        <a:defRPr sz="1300">
                          <a:solidFill>
                            <a:srgbClr val="2C3E50"/>
                          </a:solidFill>
                          <a:latin typeface="微软雅黑"/>
                        </a:defRPr>
                      </a:pPr>
                      <a:r>
                        <a:t>(没有什么)</a:t>
                      </a:r>
                    </a:p>
                  </a:txBody>
                  <a:tcPr>
                    <a:solidFill>
                      <a:srgbClr val="FFFFFF"/>
                    </a:solidFill>
                  </a:tcPr>
                </a:tc>
              </a:tr>
              <a:tr h="731520">
                <a:tc>
                  <a:txBody>
                    <a:bodyPr/>
                    <a:lstStyle/>
                    <a:p>
                      <a:pPr algn="ctr">
                        <a:defRPr sz="1300">
                          <a:solidFill>
                            <a:srgbClr val="2C3E50"/>
                          </a:solidFill>
                          <a:latin typeface="微软雅黑"/>
                        </a:defRPr>
                      </a:pPr>
                    </a:p>
                  </a:txBody>
                  <a:tcPr>
                    <a:solidFill>
                      <a:srgbClr val="EBF5FB"/>
                    </a:solidFill>
                  </a:tcPr>
                </a:tc>
                <a:tc>
                  <a:txBody>
                    <a:bodyPr/>
                    <a:lstStyle/>
                    <a:p>
                      <a:pPr algn="ctr">
                        <a:defRPr sz="1300">
                          <a:solidFill>
                            <a:srgbClr val="2C3E50"/>
                          </a:solidFill>
                          <a:latin typeface="微软雅黑"/>
                        </a:defRPr>
                      </a:pPr>
                      <a:r>
                        <a:t>Everyone is...</a:t>
                      </a:r>
                    </a:p>
                  </a:txBody>
                  <a:tcPr>
                    <a:solidFill>
                      <a:srgbClr val="EBF5FB"/>
                    </a:solidFill>
                  </a:tcPr>
                </a:tc>
                <a:tc>
                  <a:txBody>
                    <a:bodyPr/>
                    <a:lstStyle/>
                    <a:p>
                      <a:pPr algn="ctr">
                        <a:defRPr sz="1300">
                          <a:solidFill>
                            <a:srgbClr val="2C3E50"/>
                          </a:solidFill>
                          <a:latin typeface="微软雅黑"/>
                        </a:defRPr>
                      </a:pPr>
                      <a:r>
                        <a:t>Not everyone is...</a:t>
                      </a:r>
                    </a:p>
                    <a:p>
                      <a:pPr algn="ctr">
                        <a:defRPr sz="1300">
                          <a:solidFill>
                            <a:srgbClr val="2C3E50"/>
                          </a:solidFill>
                          <a:latin typeface="微软雅黑"/>
                        </a:defRPr>
                      </a:pPr>
                      <a:r>
                        <a:t>(不是每个人都)</a:t>
                      </a:r>
                    </a:p>
                  </a:txBody>
                  <a:tcPr>
                    <a:solidFill>
                      <a:srgbClr val="EBF5FB"/>
                    </a:solidFill>
                  </a:tcPr>
                </a:tc>
                <a:tc>
                  <a:txBody>
                    <a:bodyPr/>
                    <a:lstStyle/>
                    <a:p>
                      <a:pPr algn="ctr">
                        <a:defRPr sz="1300">
                          <a:solidFill>
                            <a:srgbClr val="2C3E50"/>
                          </a:solidFill>
                          <a:latin typeface="微软雅黑"/>
                        </a:defRPr>
                      </a:pPr>
                      <a:r>
                        <a:t>No one is...</a:t>
                      </a:r>
                    </a:p>
                    <a:p>
                      <a:pPr algn="ctr">
                        <a:defRPr sz="1300">
                          <a:solidFill>
                            <a:srgbClr val="2C3E50"/>
                          </a:solidFill>
                          <a:latin typeface="微软雅黑"/>
                        </a:defRPr>
                      </a:pPr>
                      <a:r>
                        <a:t>(没有人)</a:t>
                      </a:r>
                    </a:p>
                  </a:txBody>
                  <a:tcPr>
                    <a:solidFill>
                      <a:srgbClr val="EBF5FB"/>
                    </a:solidFill>
                  </a:tcPr>
                </a:tc>
              </a:tr>
            </a:tbl>
          </a:graphicData>
        </a:graphic>
      </p:graphicFrame>
      <p:sp>
        <p:nvSpPr>
          <p:cNvPr id="10" name="Rounded Rectangle 9"/>
          <p:cNvSpPr/>
          <p:nvPr/>
        </p:nvSpPr>
        <p:spPr>
          <a:xfrm>
            <a:off x="457200" y="5486400"/>
            <a:ext cx="8229600" cy="640080"/>
          </a:xfrm>
          <a:prstGeom prst="roundRect">
            <a:avLst/>
          </a:prstGeom>
          <a:solidFill>
            <a:srgbClr val="FDF2E9"/>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0">
                <a:solidFill>
                  <a:srgbClr val="2C3E50"/>
                </a:solidFill>
                <a:latin typeface="微软雅黑"/>
              </a:defRPr>
            </a:pPr>
            <a:r>
              <a:t>口诀：not + 表全部的词(both/all/every...) = 部分否定。要全部否定，换用 neither/none/no one/nothing</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3120"/>
              </a:lnSpc>
              <a:defRPr sz="2400" b="1">
                <a:solidFill>
                  <a:srgbClr val="FFFFFF"/>
                </a:solidFill>
                <a:latin typeface="微软雅黑"/>
              </a:defRPr>
            </a:pPr>
            <a:r>
              <a:t>Grammar Challenge · 语法综合挑战</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560"/>
              </a:lnSpc>
              <a:defRPr sz="1200" b="0">
                <a:solidFill>
                  <a:srgbClr val="FFFFFF"/>
                </a:solidFill>
                <a:latin typeface="Arial"/>
              </a:defRPr>
            </a:pPr>
            <a:r>
              <a:t>Part 2 · Challenge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170"/>
              </a:lnSpc>
              <a:defRPr sz="900" b="0">
                <a:solidFill>
                  <a:srgbClr val="FFFFFF"/>
                </a:solidFill>
                <a:latin typeface="微软雅黑"/>
              </a:defRPr>
            </a:pPr>
            <a:r>
              <a:t>Level 8A+ · 英文素养系统班 · 专题精讲(一)</a:t>
            </a:r>
          </a:p>
        </p:txBody>
      </p:sp>
      <p:sp>
        <p:nvSpPr>
          <p:cNvPr id="8" name="TextBox 7"/>
          <p:cNvSpPr txBox="1"/>
          <p:nvPr/>
        </p:nvSpPr>
        <p:spPr>
          <a:xfrm>
            <a:off x="457200" y="1097280"/>
            <a:ext cx="8229600" cy="457200"/>
          </a:xfrm>
          <a:prstGeom prst="rect">
            <a:avLst/>
          </a:prstGeom>
          <a:noFill/>
        </p:spPr>
        <p:txBody>
          <a:bodyPr wrap="square">
            <a:spAutoFit/>
          </a:bodyPr>
          <a:lstStyle/>
          <a:p>
            <a:pPr algn="l">
              <a:lnSpc>
                <a:spcPts val="2340"/>
              </a:lnSpc>
              <a:defRPr sz="1800" b="1">
                <a:solidFill>
                  <a:srgbClr val="8E44AD"/>
                </a:solidFill>
                <a:latin typeface="微软雅黑"/>
              </a:defRPr>
            </a:pPr>
            <a:r>
              <a:t>挑战自我！综合运用本节所学语法知识</a:t>
            </a:r>
          </a:p>
        </p:txBody>
      </p:sp>
      <p:sp>
        <p:nvSpPr>
          <p:cNvPr id="9" name="Rounded Rectangle 8"/>
          <p:cNvSpPr/>
          <p:nvPr/>
        </p:nvSpPr>
        <p:spPr>
          <a:xfrm>
            <a:off x="274320" y="1645920"/>
            <a:ext cx="1371600" cy="32004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1664208"/>
            <a:ext cx="1371600" cy="301752"/>
          </a:xfrm>
          <a:prstGeom prst="rect">
            <a:avLst/>
          </a:prstGeom>
          <a:noFill/>
        </p:spPr>
        <p:txBody>
          <a:bodyPr wrap="square">
            <a:spAutoFit/>
          </a:bodyPr>
          <a:lstStyle/>
          <a:p>
            <a:pPr algn="ctr">
              <a:lnSpc>
                <a:spcPts val="1560"/>
              </a:lnSpc>
              <a:defRPr sz="1200" b="1">
                <a:solidFill>
                  <a:srgbClr val="FFFFFF"/>
                </a:solidFill>
                <a:latin typeface="Arial"/>
              </a:defRPr>
            </a:pPr>
            <a:r>
              <a:t>Challenge 1</a:t>
            </a:r>
          </a:p>
        </p:txBody>
      </p:sp>
      <p:sp>
        <p:nvSpPr>
          <p:cNvPr id="11" name="TextBox 10"/>
          <p:cNvSpPr txBox="1"/>
          <p:nvPr/>
        </p:nvSpPr>
        <p:spPr>
          <a:xfrm>
            <a:off x="1828800" y="1645920"/>
            <a:ext cx="4389120" cy="822960"/>
          </a:xfrm>
          <a:prstGeom prst="rect">
            <a:avLst/>
          </a:prstGeom>
          <a:noFill/>
        </p:spPr>
        <p:txBody>
          <a:bodyPr wrap="square">
            <a:spAutoFit/>
          </a:bodyPr>
          <a:lstStyle/>
          <a:p>
            <a:pPr algn="l">
              <a:lnSpc>
                <a:spcPts val="1690"/>
              </a:lnSpc>
              <a:defRPr sz="1300" b="0">
                <a:solidFill>
                  <a:srgbClr val="2C3E50"/>
                </a:solidFill>
                <a:latin typeface="微软雅黑"/>
              </a:defRPr>
            </a:pPr>
            <a:r>
              <a:t>—How many students passed the exam?</a:t>
            </a:r>
            <a:br/>
            <a:r>
              <a:t>—________. They all failed.</a:t>
            </a:r>
          </a:p>
        </p:txBody>
      </p:sp>
      <p:sp>
        <p:nvSpPr>
          <p:cNvPr id="12" name="Rounded Rectangle 11"/>
          <p:cNvSpPr/>
          <p:nvPr/>
        </p:nvSpPr>
        <p:spPr>
          <a:xfrm>
            <a:off x="6400800" y="1645920"/>
            <a:ext cx="2468880" cy="457200"/>
          </a:xfrm>
          <a:prstGeom prst="roundRect">
            <a:avLst/>
          </a:prstGeom>
          <a:solidFill>
            <a:srgbClr val="E8F8EE"/>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673352"/>
            <a:ext cx="2286000" cy="402336"/>
          </a:xfrm>
          <a:prstGeom prst="rect">
            <a:avLst/>
          </a:prstGeom>
          <a:noFill/>
        </p:spPr>
        <p:txBody>
          <a:bodyPr wrap="square">
            <a:spAutoFit/>
          </a:bodyPr>
          <a:lstStyle/>
          <a:p>
            <a:pPr algn="l">
              <a:lnSpc>
                <a:spcPts val="1430"/>
              </a:lnSpc>
              <a:defRPr sz="1100" b="1">
                <a:solidFill>
                  <a:srgbClr val="27AE60"/>
                </a:solidFill>
                <a:latin typeface="微软雅黑"/>
              </a:defRPr>
            </a:pPr>
            <a:r>
              <a:t>None</a:t>
            </a:r>
          </a:p>
        </p:txBody>
      </p:sp>
      <p:sp>
        <p:nvSpPr>
          <p:cNvPr id="14" name="Rounded Rectangle 13"/>
          <p:cNvSpPr/>
          <p:nvPr/>
        </p:nvSpPr>
        <p:spPr>
          <a:xfrm>
            <a:off x="274320" y="2834640"/>
            <a:ext cx="1371600" cy="3200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2852928"/>
            <a:ext cx="1371600" cy="301752"/>
          </a:xfrm>
          <a:prstGeom prst="rect">
            <a:avLst/>
          </a:prstGeom>
          <a:noFill/>
        </p:spPr>
        <p:txBody>
          <a:bodyPr wrap="square">
            <a:spAutoFit/>
          </a:bodyPr>
          <a:lstStyle/>
          <a:p>
            <a:pPr algn="ctr">
              <a:lnSpc>
                <a:spcPts val="1560"/>
              </a:lnSpc>
              <a:defRPr sz="1200" b="1">
                <a:solidFill>
                  <a:srgbClr val="FFFFFF"/>
                </a:solidFill>
                <a:latin typeface="Arial"/>
              </a:defRPr>
            </a:pPr>
            <a:r>
              <a:t>Challenge 2</a:t>
            </a:r>
          </a:p>
        </p:txBody>
      </p:sp>
      <p:sp>
        <p:nvSpPr>
          <p:cNvPr id="16" name="TextBox 15"/>
          <p:cNvSpPr txBox="1"/>
          <p:nvPr/>
        </p:nvSpPr>
        <p:spPr>
          <a:xfrm>
            <a:off x="1828800" y="2834640"/>
            <a:ext cx="4389120" cy="822960"/>
          </a:xfrm>
          <a:prstGeom prst="rect">
            <a:avLst/>
          </a:prstGeom>
          <a:noFill/>
        </p:spPr>
        <p:txBody>
          <a:bodyPr wrap="square">
            <a:spAutoFit/>
          </a:bodyPr>
          <a:lstStyle/>
          <a:p>
            <a:pPr algn="l">
              <a:lnSpc>
                <a:spcPts val="1690"/>
              </a:lnSpc>
              <a:defRPr sz="1300" b="0">
                <a:solidFill>
                  <a:srgbClr val="2C3E50"/>
                </a:solidFill>
                <a:latin typeface="微软雅黑"/>
              </a:defRPr>
            </a:pPr>
            <a:r>
              <a:t>There are many trees on ________ side of the river.</a:t>
            </a:r>
          </a:p>
        </p:txBody>
      </p:sp>
      <p:sp>
        <p:nvSpPr>
          <p:cNvPr id="17" name="Rounded Rectangle 16"/>
          <p:cNvSpPr/>
          <p:nvPr/>
        </p:nvSpPr>
        <p:spPr>
          <a:xfrm>
            <a:off x="6400800" y="2834640"/>
            <a:ext cx="2468880" cy="457200"/>
          </a:xfrm>
          <a:prstGeom prst="roundRect">
            <a:avLst/>
          </a:prstGeom>
          <a:solidFill>
            <a:srgbClr val="E8F8EE"/>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862072"/>
            <a:ext cx="2286000" cy="402336"/>
          </a:xfrm>
          <a:prstGeom prst="rect">
            <a:avLst/>
          </a:prstGeom>
          <a:noFill/>
        </p:spPr>
        <p:txBody>
          <a:bodyPr wrap="square">
            <a:spAutoFit/>
          </a:bodyPr>
          <a:lstStyle/>
          <a:p>
            <a:pPr algn="l">
              <a:lnSpc>
                <a:spcPts val="1430"/>
              </a:lnSpc>
              <a:defRPr sz="1100" b="1">
                <a:solidFill>
                  <a:srgbClr val="27AE60"/>
                </a:solidFill>
                <a:latin typeface="微软雅黑"/>
              </a:defRPr>
            </a:pPr>
            <a:r>
              <a:t>either (河的每一边)</a:t>
            </a:r>
          </a:p>
        </p:txBody>
      </p:sp>
      <p:sp>
        <p:nvSpPr>
          <p:cNvPr id="19" name="Rounded Rectangle 18"/>
          <p:cNvSpPr/>
          <p:nvPr/>
        </p:nvSpPr>
        <p:spPr>
          <a:xfrm>
            <a:off x="274320" y="4023360"/>
            <a:ext cx="1371600" cy="32004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4041648"/>
            <a:ext cx="1371600" cy="301752"/>
          </a:xfrm>
          <a:prstGeom prst="rect">
            <a:avLst/>
          </a:prstGeom>
          <a:noFill/>
        </p:spPr>
        <p:txBody>
          <a:bodyPr wrap="square">
            <a:spAutoFit/>
          </a:bodyPr>
          <a:lstStyle/>
          <a:p>
            <a:pPr algn="ctr">
              <a:lnSpc>
                <a:spcPts val="1560"/>
              </a:lnSpc>
              <a:defRPr sz="1200" b="1">
                <a:solidFill>
                  <a:srgbClr val="FFFFFF"/>
                </a:solidFill>
                <a:latin typeface="Arial"/>
              </a:defRPr>
            </a:pPr>
            <a:r>
              <a:t>Challenge 3</a:t>
            </a:r>
          </a:p>
        </p:txBody>
      </p:sp>
      <p:sp>
        <p:nvSpPr>
          <p:cNvPr id="21" name="TextBox 20"/>
          <p:cNvSpPr txBox="1"/>
          <p:nvPr/>
        </p:nvSpPr>
        <p:spPr>
          <a:xfrm>
            <a:off x="1828800" y="4023360"/>
            <a:ext cx="4389120" cy="822960"/>
          </a:xfrm>
          <a:prstGeom prst="rect">
            <a:avLst/>
          </a:prstGeom>
          <a:noFill/>
        </p:spPr>
        <p:txBody>
          <a:bodyPr wrap="square">
            <a:spAutoFit/>
          </a:bodyPr>
          <a:lstStyle/>
          <a:p>
            <a:pPr algn="l">
              <a:lnSpc>
                <a:spcPts val="1690"/>
              </a:lnSpc>
              <a:defRPr sz="1300" b="0">
                <a:solidFill>
                  <a:srgbClr val="2C3E50"/>
                </a:solidFill>
                <a:latin typeface="微软雅黑"/>
              </a:defRPr>
            </a:pPr>
            <a:r>
              <a:t>I have three sisters. One is a teacher, ________ is a doctor,</a:t>
            </a:r>
            <a:br/>
            <a:r>
              <a:t>and the third one is a nurse.</a:t>
            </a:r>
          </a:p>
        </p:txBody>
      </p:sp>
      <p:sp>
        <p:nvSpPr>
          <p:cNvPr id="22" name="Rounded Rectangle 21"/>
          <p:cNvSpPr/>
          <p:nvPr/>
        </p:nvSpPr>
        <p:spPr>
          <a:xfrm>
            <a:off x="6400800" y="4023360"/>
            <a:ext cx="2468880" cy="457200"/>
          </a:xfrm>
          <a:prstGeom prst="roundRect">
            <a:avLst/>
          </a:prstGeom>
          <a:solidFill>
            <a:srgbClr val="E8F8EE"/>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4050792"/>
            <a:ext cx="2286000" cy="402336"/>
          </a:xfrm>
          <a:prstGeom prst="rect">
            <a:avLst/>
          </a:prstGeom>
          <a:noFill/>
        </p:spPr>
        <p:txBody>
          <a:bodyPr wrap="square">
            <a:spAutoFit/>
          </a:bodyPr>
          <a:lstStyle/>
          <a:p>
            <a:pPr algn="l">
              <a:lnSpc>
                <a:spcPts val="1430"/>
              </a:lnSpc>
              <a:defRPr sz="1100" b="1">
                <a:solidFill>
                  <a:srgbClr val="27AE60"/>
                </a:solidFill>
                <a:latin typeface="微软雅黑"/>
              </a:defRPr>
            </a:pPr>
            <a:r>
              <a:t>another (三者中的另一个)</a:t>
            </a:r>
          </a:p>
        </p:txBody>
      </p:sp>
      <p:sp>
        <p:nvSpPr>
          <p:cNvPr id="24" name="Rounded Rectangle 23"/>
          <p:cNvSpPr/>
          <p:nvPr/>
        </p:nvSpPr>
        <p:spPr>
          <a:xfrm>
            <a:off x="274320" y="5212080"/>
            <a:ext cx="1371600" cy="32004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5230368"/>
            <a:ext cx="1371600" cy="301752"/>
          </a:xfrm>
          <a:prstGeom prst="rect">
            <a:avLst/>
          </a:prstGeom>
          <a:noFill/>
        </p:spPr>
        <p:txBody>
          <a:bodyPr wrap="square">
            <a:spAutoFit/>
          </a:bodyPr>
          <a:lstStyle/>
          <a:p>
            <a:pPr algn="ctr">
              <a:lnSpc>
                <a:spcPts val="1560"/>
              </a:lnSpc>
              <a:defRPr sz="1200" b="1">
                <a:solidFill>
                  <a:srgbClr val="FFFFFF"/>
                </a:solidFill>
                <a:latin typeface="Arial"/>
              </a:defRPr>
            </a:pPr>
            <a:r>
              <a:t>Challenge 4</a:t>
            </a:r>
          </a:p>
        </p:txBody>
      </p:sp>
      <p:sp>
        <p:nvSpPr>
          <p:cNvPr id="26" name="TextBox 25"/>
          <p:cNvSpPr txBox="1"/>
          <p:nvPr/>
        </p:nvSpPr>
        <p:spPr>
          <a:xfrm>
            <a:off x="1828800" y="5212080"/>
            <a:ext cx="4389120" cy="822960"/>
          </a:xfrm>
          <a:prstGeom prst="rect">
            <a:avLst/>
          </a:prstGeom>
          <a:noFill/>
        </p:spPr>
        <p:txBody>
          <a:bodyPr wrap="square">
            <a:spAutoFit/>
          </a:bodyPr>
          <a:lstStyle/>
          <a:p>
            <a:pPr algn="l">
              <a:lnSpc>
                <a:spcPts val="1690"/>
              </a:lnSpc>
              <a:defRPr sz="1300" b="0">
                <a:solidFill>
                  <a:srgbClr val="2C3E50"/>
                </a:solidFill>
                <a:latin typeface="微软雅黑"/>
              </a:defRPr>
            </a:pPr>
            <a:r>
              <a:t>________ of my parents ________ (be) teachers.</a:t>
            </a:r>
            <a:br/>
            <a:r>
              <a:t>(两人都是老师)</a:t>
            </a:r>
          </a:p>
        </p:txBody>
      </p:sp>
      <p:sp>
        <p:nvSpPr>
          <p:cNvPr id="27" name="Rounded Rectangle 26"/>
          <p:cNvSpPr/>
          <p:nvPr/>
        </p:nvSpPr>
        <p:spPr>
          <a:xfrm>
            <a:off x="6400800" y="5212080"/>
            <a:ext cx="2468880" cy="457200"/>
          </a:xfrm>
          <a:prstGeom prst="roundRect">
            <a:avLst/>
          </a:prstGeom>
          <a:solidFill>
            <a:srgbClr val="E8F8EE"/>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5239512"/>
            <a:ext cx="2286000" cy="402336"/>
          </a:xfrm>
          <a:prstGeom prst="rect">
            <a:avLst/>
          </a:prstGeom>
          <a:noFill/>
        </p:spPr>
        <p:txBody>
          <a:bodyPr wrap="square">
            <a:spAutoFit/>
          </a:bodyPr>
          <a:lstStyle/>
          <a:p>
            <a:pPr algn="l">
              <a:lnSpc>
                <a:spcPts val="1430"/>
              </a:lnSpc>
              <a:defRPr sz="1100" b="1">
                <a:solidFill>
                  <a:srgbClr val="27AE60"/>
                </a:solidFill>
                <a:latin typeface="微软雅黑"/>
              </a:defRPr>
            </a:pPr>
            <a:r>
              <a:t>Both...are (both+复数)</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3120"/>
              </a:lnSpc>
              <a:defRPr sz="2400" b="1">
                <a:solidFill>
                  <a:srgbClr val="FFFFFF"/>
                </a:solidFill>
                <a:latin typeface="微软雅黑"/>
              </a:defRPr>
            </a:pPr>
            <a:r>
              <a:t>Numbers Reference · 数字参考对照</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560"/>
              </a:lnSpc>
              <a:defRPr sz="1200" b="0">
                <a:solidFill>
                  <a:srgbClr val="FFFFFF"/>
                </a:solidFill>
                <a:latin typeface="Arial"/>
              </a:defRPr>
            </a:pPr>
            <a:r>
              <a:t>Part 3 · Reference</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170"/>
              </a:lnSpc>
              <a:defRPr sz="900" b="0">
                <a:solidFill>
                  <a:srgbClr val="FFFFFF"/>
                </a:solidFill>
                <a:latin typeface="微软雅黑"/>
              </a:defRPr>
            </a:pPr>
            <a:r>
              <a:t>Level 8A+ · 英文素养系统班 · 专题精讲(一)</a:t>
            </a:r>
          </a:p>
        </p:txBody>
      </p:sp>
      <p:sp>
        <p:nvSpPr>
          <p:cNvPr id="8" name="TextBox 7"/>
          <p:cNvSpPr txBox="1"/>
          <p:nvPr/>
        </p:nvSpPr>
        <p:spPr>
          <a:xfrm>
            <a:off x="457200" y="1097280"/>
            <a:ext cx="8229600" cy="457200"/>
          </a:xfrm>
          <a:prstGeom prst="rect">
            <a:avLst/>
          </a:prstGeom>
          <a:noFill/>
        </p:spPr>
        <p:txBody>
          <a:bodyPr wrap="square">
            <a:spAutoFit/>
          </a:bodyPr>
          <a:lstStyle/>
          <a:p>
            <a:pPr algn="l">
              <a:lnSpc>
                <a:spcPts val="2860"/>
              </a:lnSpc>
              <a:defRPr sz="2200" b="1">
                <a:solidFill>
                  <a:srgbClr val="27AE60"/>
                </a:solidFill>
                <a:latin typeface="微软雅黑"/>
              </a:defRPr>
            </a:pPr>
            <a:r>
              <a:t>易混淆数字发音对照表</a:t>
            </a:r>
          </a:p>
        </p:txBody>
      </p:sp>
      <p:graphicFrame>
        <p:nvGraphicFramePr>
          <p:cNvPr id="9" name="Table 8"/>
          <p:cNvGraphicFramePr>
            <a:graphicFrameLocks noGrp="1"/>
          </p:cNvGraphicFramePr>
          <p:nvPr/>
        </p:nvGraphicFramePr>
        <p:xfrm>
          <a:off x="91440" y="1645920"/>
          <a:ext cx="8961120" cy="4114800"/>
        </p:xfrm>
        <a:graphic>
          <a:graphicData uri="http://schemas.openxmlformats.org/drawingml/2006/table">
            <a:tbl>
              <a:tblPr firstRow="1" bandRow="1">
                <a:tableStyleId>{5C22544A-7EE6-4342-B048-85BDC9FD1C3A}</a:tableStyleId>
              </a:tblPr>
              <a:tblGrid>
                <a:gridCol w="1493520"/>
                <a:gridCol w="1493520"/>
                <a:gridCol w="1493520"/>
                <a:gridCol w="1493520"/>
                <a:gridCol w="1493520"/>
                <a:gridCol w="1493520"/>
              </a:tblGrid>
              <a:tr h="514350">
                <a:tc>
                  <a:txBody>
                    <a:bodyPr/>
                    <a:lstStyle/>
                    <a:p>
                      <a:pPr algn="ctr">
                        <a:defRPr sz="1400" b="1">
                          <a:solidFill>
                            <a:srgbClr val="FFFFFF"/>
                          </a:solidFill>
                          <a:latin typeface="微软雅黑"/>
                        </a:defRPr>
                      </a:pPr>
                      <a:r>
                        <a:t>数字</a:t>
                      </a:r>
                    </a:p>
                  </a:txBody>
                  <a:tcPr>
                    <a:solidFill>
                      <a:srgbClr val="27AE60"/>
                    </a:solidFill>
                  </a:tcPr>
                </a:tc>
                <a:tc>
                  <a:txBody>
                    <a:bodyPr/>
                    <a:lstStyle/>
                    <a:p>
                      <a:pPr algn="ctr">
                        <a:defRPr sz="1400" b="1">
                          <a:solidFill>
                            <a:srgbClr val="FFFFFF"/>
                          </a:solidFill>
                          <a:latin typeface="微软雅黑"/>
                        </a:defRPr>
                      </a:pPr>
                      <a:r>
                        <a:t>发音</a:t>
                      </a:r>
                    </a:p>
                  </a:txBody>
                  <a:tcPr>
                    <a:solidFill>
                      <a:srgbClr val="27AE60"/>
                    </a:solidFill>
                  </a:tcPr>
                </a:tc>
                <a:tc>
                  <a:txBody>
                    <a:bodyPr/>
                    <a:lstStyle/>
                    <a:p>
                      <a:pPr algn="ctr">
                        <a:defRPr sz="1400" b="1">
                          <a:solidFill>
                            <a:srgbClr val="FFFFFF"/>
                          </a:solidFill>
                          <a:latin typeface="微软雅黑"/>
                        </a:defRPr>
                      </a:pPr>
                      <a:r>
                        <a:t>重音位置</a:t>
                      </a:r>
                    </a:p>
                  </a:txBody>
                  <a:tcPr>
                    <a:solidFill>
                      <a:srgbClr val="27AE60"/>
                    </a:solidFill>
                  </a:tcPr>
                </a:tc>
                <a:tc>
                  <a:txBody>
                    <a:bodyPr/>
                    <a:lstStyle/>
                    <a:p>
                      <a:pPr algn="ctr">
                        <a:defRPr sz="1400" b="1">
                          <a:solidFill>
                            <a:srgbClr val="FFFFFF"/>
                          </a:solidFill>
                          <a:latin typeface="微软雅黑"/>
                        </a:defRPr>
                      </a:pPr>
                      <a:r>
                        <a:t>易混数字</a:t>
                      </a:r>
                    </a:p>
                  </a:txBody>
                  <a:tcPr>
                    <a:solidFill>
                      <a:srgbClr val="27AE60"/>
                    </a:solidFill>
                  </a:tcPr>
                </a:tc>
                <a:tc>
                  <a:txBody>
                    <a:bodyPr/>
                    <a:lstStyle/>
                    <a:p>
                      <a:pPr algn="ctr">
                        <a:defRPr sz="1400" b="1">
                          <a:solidFill>
                            <a:srgbClr val="FFFFFF"/>
                          </a:solidFill>
                          <a:latin typeface="微软雅黑"/>
                        </a:defRPr>
                      </a:pPr>
                      <a:r>
                        <a:t>发音</a:t>
                      </a:r>
                    </a:p>
                  </a:txBody>
                  <a:tcPr>
                    <a:solidFill>
                      <a:srgbClr val="27AE60"/>
                    </a:solidFill>
                  </a:tcPr>
                </a:tc>
                <a:tc>
                  <a:txBody>
                    <a:bodyPr/>
                    <a:lstStyle/>
                    <a:p>
                      <a:pPr algn="ctr">
                        <a:defRPr sz="1400" b="1">
                          <a:solidFill>
                            <a:srgbClr val="FFFFFF"/>
                          </a:solidFill>
                          <a:latin typeface="微软雅黑"/>
                        </a:defRPr>
                      </a:pPr>
                      <a:r>
                        <a:t>重音位置</a:t>
                      </a:r>
                    </a:p>
                  </a:txBody>
                  <a:tcPr>
                    <a:solidFill>
                      <a:srgbClr val="27AE60"/>
                    </a:solidFill>
                  </a:tcPr>
                </a:tc>
              </a:tr>
              <a:tr h="514350">
                <a:tc>
                  <a:txBody>
                    <a:bodyPr/>
                    <a:lstStyle/>
                    <a:p>
                      <a:pPr algn="ctr">
                        <a:defRPr sz="1300">
                          <a:solidFill>
                            <a:srgbClr val="2C3E50"/>
                          </a:solidFill>
                          <a:latin typeface="微软雅黑"/>
                        </a:defRPr>
                      </a:pPr>
                      <a:r>
                        <a:t>13 thirteen</a:t>
                      </a:r>
                    </a:p>
                  </a:txBody>
                  <a:tcPr>
                    <a:solidFill>
                      <a:srgbClr val="FFFFFF"/>
                    </a:solidFill>
                  </a:tcPr>
                </a:tc>
                <a:tc>
                  <a:txBody>
                    <a:bodyPr/>
                    <a:lstStyle/>
                    <a:p>
                      <a:pPr algn="ctr">
                        <a:defRPr sz="1300">
                          <a:solidFill>
                            <a:srgbClr val="2C3E50"/>
                          </a:solidFill>
                          <a:latin typeface="微软雅黑"/>
                        </a:defRPr>
                      </a:pPr>
                      <a:r>
                        <a:t>/θɜːrˈtiːn/</a:t>
                      </a:r>
                    </a:p>
                  </a:txBody>
                  <a:tcPr>
                    <a:solidFill>
                      <a:srgbClr val="FFFFFF"/>
                    </a:solidFill>
                  </a:tcPr>
                </a:tc>
                <a:tc>
                  <a:txBody>
                    <a:bodyPr/>
                    <a:lstStyle/>
                    <a:p>
                      <a:pPr algn="ctr">
                        <a:defRPr sz="1300">
                          <a:solidFill>
                            <a:srgbClr val="2C3E50"/>
                          </a:solidFill>
                          <a:latin typeface="微软雅黑"/>
                        </a:defRPr>
                      </a:pPr>
                      <a:r>
                        <a:t>后(teen)</a:t>
                      </a:r>
                    </a:p>
                  </a:txBody>
                  <a:tcPr>
                    <a:solidFill>
                      <a:srgbClr val="FFFFFF"/>
                    </a:solidFill>
                  </a:tcPr>
                </a:tc>
                <a:tc>
                  <a:txBody>
                    <a:bodyPr/>
                    <a:lstStyle/>
                    <a:p>
                      <a:pPr algn="ctr">
                        <a:defRPr sz="1300">
                          <a:solidFill>
                            <a:srgbClr val="2C3E50"/>
                          </a:solidFill>
                          <a:latin typeface="微软雅黑"/>
                        </a:defRPr>
                      </a:pPr>
                      <a:r>
                        <a:t>30 thirty</a:t>
                      </a:r>
                    </a:p>
                  </a:txBody>
                  <a:tcPr>
                    <a:solidFill>
                      <a:srgbClr val="FFFFFF"/>
                    </a:solidFill>
                  </a:tcPr>
                </a:tc>
                <a:tc>
                  <a:txBody>
                    <a:bodyPr/>
                    <a:lstStyle/>
                    <a:p>
                      <a:pPr algn="ctr">
                        <a:defRPr sz="1300">
                          <a:solidFill>
                            <a:srgbClr val="2C3E50"/>
                          </a:solidFill>
                          <a:latin typeface="微软雅黑"/>
                        </a:defRPr>
                      </a:pPr>
                      <a:r>
                        <a:t>/ˈθɜːrti/</a:t>
                      </a:r>
                    </a:p>
                  </a:txBody>
                  <a:tcPr>
                    <a:solidFill>
                      <a:srgbClr val="FFFFFF"/>
                    </a:solidFill>
                  </a:tcPr>
                </a:tc>
                <a:tc>
                  <a:txBody>
                    <a:bodyPr/>
                    <a:lstStyle/>
                    <a:p>
                      <a:pPr algn="ctr">
                        <a:defRPr sz="1300">
                          <a:solidFill>
                            <a:srgbClr val="2C3E50"/>
                          </a:solidFill>
                          <a:latin typeface="微软雅黑"/>
                        </a:defRPr>
                      </a:pPr>
                      <a:r>
                        <a:t>前(thir)</a:t>
                      </a:r>
                    </a:p>
                  </a:txBody>
                  <a:tcPr>
                    <a:solidFill>
                      <a:srgbClr val="FFFFFF"/>
                    </a:solidFill>
                  </a:tcPr>
                </a:tc>
              </a:tr>
              <a:tr h="514350">
                <a:tc>
                  <a:txBody>
                    <a:bodyPr/>
                    <a:lstStyle/>
                    <a:p>
                      <a:pPr algn="ctr">
                        <a:defRPr sz="1300">
                          <a:solidFill>
                            <a:srgbClr val="2C3E50"/>
                          </a:solidFill>
                          <a:latin typeface="微软雅黑"/>
                        </a:defRPr>
                      </a:pPr>
                      <a:r>
                        <a:t>14 fourteen</a:t>
                      </a:r>
                    </a:p>
                  </a:txBody>
                  <a:tcPr>
                    <a:solidFill>
                      <a:srgbClr val="EBF5FB"/>
                    </a:solidFill>
                  </a:tcPr>
                </a:tc>
                <a:tc>
                  <a:txBody>
                    <a:bodyPr/>
                    <a:lstStyle/>
                    <a:p>
                      <a:pPr algn="ctr">
                        <a:defRPr sz="1300">
                          <a:solidFill>
                            <a:srgbClr val="2C3E50"/>
                          </a:solidFill>
                          <a:latin typeface="微软雅黑"/>
                        </a:defRPr>
                      </a:pPr>
                      <a:r>
                        <a:t>/fɔːrˈtiːn/</a:t>
                      </a:r>
                    </a:p>
                  </a:txBody>
                  <a:tcPr>
                    <a:solidFill>
                      <a:srgbClr val="EBF5FB"/>
                    </a:solidFill>
                  </a:tcPr>
                </a:tc>
                <a:tc>
                  <a:txBody>
                    <a:bodyPr/>
                    <a:lstStyle/>
                    <a:p>
                      <a:pPr algn="ctr">
                        <a:defRPr sz="1300">
                          <a:solidFill>
                            <a:srgbClr val="2C3E50"/>
                          </a:solidFill>
                          <a:latin typeface="微软雅黑"/>
                        </a:defRPr>
                      </a:pPr>
                      <a:r>
                        <a:t>后(teen)</a:t>
                      </a:r>
                    </a:p>
                  </a:txBody>
                  <a:tcPr>
                    <a:solidFill>
                      <a:srgbClr val="EBF5FB"/>
                    </a:solidFill>
                  </a:tcPr>
                </a:tc>
                <a:tc>
                  <a:txBody>
                    <a:bodyPr/>
                    <a:lstStyle/>
                    <a:p>
                      <a:pPr algn="ctr">
                        <a:defRPr sz="1300">
                          <a:solidFill>
                            <a:srgbClr val="2C3E50"/>
                          </a:solidFill>
                          <a:latin typeface="微软雅黑"/>
                        </a:defRPr>
                      </a:pPr>
                      <a:r>
                        <a:t>40 forty</a:t>
                      </a:r>
                    </a:p>
                  </a:txBody>
                  <a:tcPr>
                    <a:solidFill>
                      <a:srgbClr val="EBF5FB"/>
                    </a:solidFill>
                  </a:tcPr>
                </a:tc>
                <a:tc>
                  <a:txBody>
                    <a:bodyPr/>
                    <a:lstStyle/>
                    <a:p>
                      <a:pPr algn="ctr">
                        <a:defRPr sz="1300">
                          <a:solidFill>
                            <a:srgbClr val="2C3E50"/>
                          </a:solidFill>
                          <a:latin typeface="微软雅黑"/>
                        </a:defRPr>
                      </a:pPr>
                      <a:r>
                        <a:t>/ˈfɔːrti/</a:t>
                      </a:r>
                    </a:p>
                  </a:txBody>
                  <a:tcPr>
                    <a:solidFill>
                      <a:srgbClr val="EBF5FB"/>
                    </a:solidFill>
                  </a:tcPr>
                </a:tc>
                <a:tc>
                  <a:txBody>
                    <a:bodyPr/>
                    <a:lstStyle/>
                    <a:p>
                      <a:pPr algn="ctr">
                        <a:defRPr sz="1300">
                          <a:solidFill>
                            <a:srgbClr val="2C3E50"/>
                          </a:solidFill>
                          <a:latin typeface="微软雅黑"/>
                        </a:defRPr>
                      </a:pPr>
                      <a:r>
                        <a:t>前(for)</a:t>
                      </a:r>
                    </a:p>
                  </a:txBody>
                  <a:tcPr>
                    <a:solidFill>
                      <a:srgbClr val="EBF5FB"/>
                    </a:solidFill>
                  </a:tcPr>
                </a:tc>
              </a:tr>
              <a:tr h="514350">
                <a:tc>
                  <a:txBody>
                    <a:bodyPr/>
                    <a:lstStyle/>
                    <a:p>
                      <a:pPr algn="ctr">
                        <a:defRPr sz="1300">
                          <a:solidFill>
                            <a:srgbClr val="2C3E50"/>
                          </a:solidFill>
                          <a:latin typeface="微软雅黑"/>
                        </a:defRPr>
                      </a:pPr>
                      <a:r>
                        <a:t>15 fifteen</a:t>
                      </a:r>
                    </a:p>
                  </a:txBody>
                  <a:tcPr>
                    <a:solidFill>
                      <a:srgbClr val="FFFFFF"/>
                    </a:solidFill>
                  </a:tcPr>
                </a:tc>
                <a:tc>
                  <a:txBody>
                    <a:bodyPr/>
                    <a:lstStyle/>
                    <a:p>
                      <a:pPr algn="ctr">
                        <a:defRPr sz="1300">
                          <a:solidFill>
                            <a:srgbClr val="2C3E50"/>
                          </a:solidFill>
                          <a:latin typeface="微软雅黑"/>
                        </a:defRPr>
                      </a:pPr>
                      <a:r>
                        <a:t>/fɪfˈtiːn/</a:t>
                      </a:r>
                    </a:p>
                  </a:txBody>
                  <a:tcPr>
                    <a:solidFill>
                      <a:srgbClr val="FFFFFF"/>
                    </a:solidFill>
                  </a:tcPr>
                </a:tc>
                <a:tc>
                  <a:txBody>
                    <a:bodyPr/>
                    <a:lstStyle/>
                    <a:p>
                      <a:pPr algn="ctr">
                        <a:defRPr sz="1300">
                          <a:solidFill>
                            <a:srgbClr val="2C3E50"/>
                          </a:solidFill>
                          <a:latin typeface="微软雅黑"/>
                        </a:defRPr>
                      </a:pPr>
                      <a:r>
                        <a:t>后(teen)</a:t>
                      </a:r>
                    </a:p>
                  </a:txBody>
                  <a:tcPr>
                    <a:solidFill>
                      <a:srgbClr val="FFFFFF"/>
                    </a:solidFill>
                  </a:tcPr>
                </a:tc>
                <a:tc>
                  <a:txBody>
                    <a:bodyPr/>
                    <a:lstStyle/>
                    <a:p>
                      <a:pPr algn="ctr">
                        <a:defRPr sz="1300">
                          <a:solidFill>
                            <a:srgbClr val="2C3E50"/>
                          </a:solidFill>
                          <a:latin typeface="微软雅黑"/>
                        </a:defRPr>
                      </a:pPr>
                      <a:r>
                        <a:t>50 fifty</a:t>
                      </a:r>
                    </a:p>
                  </a:txBody>
                  <a:tcPr>
                    <a:solidFill>
                      <a:srgbClr val="FFFFFF"/>
                    </a:solidFill>
                  </a:tcPr>
                </a:tc>
                <a:tc>
                  <a:txBody>
                    <a:bodyPr/>
                    <a:lstStyle/>
                    <a:p>
                      <a:pPr algn="ctr">
                        <a:defRPr sz="1300">
                          <a:solidFill>
                            <a:srgbClr val="2C3E50"/>
                          </a:solidFill>
                          <a:latin typeface="微软雅黑"/>
                        </a:defRPr>
                      </a:pPr>
                      <a:r>
                        <a:t>/ˈfɪfti/</a:t>
                      </a:r>
                    </a:p>
                  </a:txBody>
                  <a:tcPr>
                    <a:solidFill>
                      <a:srgbClr val="FFFFFF"/>
                    </a:solidFill>
                  </a:tcPr>
                </a:tc>
                <a:tc>
                  <a:txBody>
                    <a:bodyPr/>
                    <a:lstStyle/>
                    <a:p>
                      <a:pPr algn="ctr">
                        <a:defRPr sz="1300">
                          <a:solidFill>
                            <a:srgbClr val="2C3E50"/>
                          </a:solidFill>
                          <a:latin typeface="微软雅黑"/>
                        </a:defRPr>
                      </a:pPr>
                      <a:r>
                        <a:t>前(fif)</a:t>
                      </a:r>
                    </a:p>
                  </a:txBody>
                  <a:tcPr>
                    <a:solidFill>
                      <a:srgbClr val="FFFFFF"/>
                    </a:solidFill>
                  </a:tcPr>
                </a:tc>
              </a:tr>
              <a:tr h="514350">
                <a:tc>
                  <a:txBody>
                    <a:bodyPr/>
                    <a:lstStyle/>
                    <a:p>
                      <a:pPr algn="ctr">
                        <a:defRPr sz="1300">
                          <a:solidFill>
                            <a:srgbClr val="2C3E50"/>
                          </a:solidFill>
                          <a:latin typeface="微软雅黑"/>
                        </a:defRPr>
                      </a:pPr>
                      <a:r>
                        <a:t>16 sixteen</a:t>
                      </a:r>
                    </a:p>
                  </a:txBody>
                  <a:tcPr>
                    <a:solidFill>
                      <a:srgbClr val="EBF5FB"/>
                    </a:solidFill>
                  </a:tcPr>
                </a:tc>
                <a:tc>
                  <a:txBody>
                    <a:bodyPr/>
                    <a:lstStyle/>
                    <a:p>
                      <a:pPr algn="ctr">
                        <a:defRPr sz="1300">
                          <a:solidFill>
                            <a:srgbClr val="2C3E50"/>
                          </a:solidFill>
                          <a:latin typeface="微软雅黑"/>
                        </a:defRPr>
                      </a:pPr>
                      <a:r>
                        <a:t>/sɪksˈtiːn/</a:t>
                      </a:r>
                    </a:p>
                  </a:txBody>
                  <a:tcPr>
                    <a:solidFill>
                      <a:srgbClr val="EBF5FB"/>
                    </a:solidFill>
                  </a:tcPr>
                </a:tc>
                <a:tc>
                  <a:txBody>
                    <a:bodyPr/>
                    <a:lstStyle/>
                    <a:p>
                      <a:pPr algn="ctr">
                        <a:defRPr sz="1300">
                          <a:solidFill>
                            <a:srgbClr val="2C3E50"/>
                          </a:solidFill>
                          <a:latin typeface="微软雅黑"/>
                        </a:defRPr>
                      </a:pPr>
                      <a:r>
                        <a:t>后(teen)</a:t>
                      </a:r>
                    </a:p>
                  </a:txBody>
                  <a:tcPr>
                    <a:solidFill>
                      <a:srgbClr val="EBF5FB"/>
                    </a:solidFill>
                  </a:tcPr>
                </a:tc>
                <a:tc>
                  <a:txBody>
                    <a:bodyPr/>
                    <a:lstStyle/>
                    <a:p>
                      <a:pPr algn="ctr">
                        <a:defRPr sz="1300">
                          <a:solidFill>
                            <a:srgbClr val="2C3E50"/>
                          </a:solidFill>
                          <a:latin typeface="微软雅黑"/>
                        </a:defRPr>
                      </a:pPr>
                      <a:r>
                        <a:t>60 sixty</a:t>
                      </a:r>
                    </a:p>
                  </a:txBody>
                  <a:tcPr>
                    <a:solidFill>
                      <a:srgbClr val="EBF5FB"/>
                    </a:solidFill>
                  </a:tcPr>
                </a:tc>
                <a:tc>
                  <a:txBody>
                    <a:bodyPr/>
                    <a:lstStyle/>
                    <a:p>
                      <a:pPr algn="ctr">
                        <a:defRPr sz="1300">
                          <a:solidFill>
                            <a:srgbClr val="2C3E50"/>
                          </a:solidFill>
                          <a:latin typeface="微软雅黑"/>
                        </a:defRPr>
                      </a:pPr>
                      <a:r>
                        <a:t>/ˈsɪksti/</a:t>
                      </a:r>
                    </a:p>
                  </a:txBody>
                  <a:tcPr>
                    <a:solidFill>
                      <a:srgbClr val="EBF5FB"/>
                    </a:solidFill>
                  </a:tcPr>
                </a:tc>
                <a:tc>
                  <a:txBody>
                    <a:bodyPr/>
                    <a:lstStyle/>
                    <a:p>
                      <a:pPr algn="ctr">
                        <a:defRPr sz="1300">
                          <a:solidFill>
                            <a:srgbClr val="2C3E50"/>
                          </a:solidFill>
                          <a:latin typeface="微软雅黑"/>
                        </a:defRPr>
                      </a:pPr>
                      <a:r>
                        <a:t>前(six)</a:t>
                      </a:r>
                    </a:p>
                  </a:txBody>
                  <a:tcPr>
                    <a:solidFill>
                      <a:srgbClr val="EBF5FB"/>
                    </a:solidFill>
                  </a:tcPr>
                </a:tc>
              </a:tr>
              <a:tr h="514350">
                <a:tc>
                  <a:txBody>
                    <a:bodyPr/>
                    <a:lstStyle/>
                    <a:p>
                      <a:pPr algn="ctr">
                        <a:defRPr sz="1300">
                          <a:solidFill>
                            <a:srgbClr val="2C3E50"/>
                          </a:solidFill>
                          <a:latin typeface="微软雅黑"/>
                        </a:defRPr>
                      </a:pPr>
                      <a:r>
                        <a:t>17 seventeen</a:t>
                      </a:r>
                    </a:p>
                  </a:txBody>
                  <a:tcPr>
                    <a:solidFill>
                      <a:srgbClr val="FFFFFF"/>
                    </a:solidFill>
                  </a:tcPr>
                </a:tc>
                <a:tc>
                  <a:txBody>
                    <a:bodyPr/>
                    <a:lstStyle/>
                    <a:p>
                      <a:pPr algn="ctr">
                        <a:defRPr sz="1300">
                          <a:solidFill>
                            <a:srgbClr val="2C3E50"/>
                          </a:solidFill>
                          <a:latin typeface="微软雅黑"/>
                        </a:defRPr>
                      </a:pPr>
                      <a:r>
                        <a:t>/sevənˈtiːn/</a:t>
                      </a:r>
                    </a:p>
                  </a:txBody>
                  <a:tcPr>
                    <a:solidFill>
                      <a:srgbClr val="FFFFFF"/>
                    </a:solidFill>
                  </a:tcPr>
                </a:tc>
                <a:tc>
                  <a:txBody>
                    <a:bodyPr/>
                    <a:lstStyle/>
                    <a:p>
                      <a:pPr algn="ctr">
                        <a:defRPr sz="1300">
                          <a:solidFill>
                            <a:srgbClr val="2C3E50"/>
                          </a:solidFill>
                          <a:latin typeface="微软雅黑"/>
                        </a:defRPr>
                      </a:pPr>
                      <a:r>
                        <a:t>后(teen)</a:t>
                      </a:r>
                    </a:p>
                  </a:txBody>
                  <a:tcPr>
                    <a:solidFill>
                      <a:srgbClr val="FFFFFF"/>
                    </a:solidFill>
                  </a:tcPr>
                </a:tc>
                <a:tc>
                  <a:txBody>
                    <a:bodyPr/>
                    <a:lstStyle/>
                    <a:p>
                      <a:pPr algn="ctr">
                        <a:defRPr sz="1300">
                          <a:solidFill>
                            <a:srgbClr val="2C3E50"/>
                          </a:solidFill>
                          <a:latin typeface="微软雅黑"/>
                        </a:defRPr>
                      </a:pPr>
                      <a:r>
                        <a:t>70 seventy</a:t>
                      </a:r>
                    </a:p>
                  </a:txBody>
                  <a:tcPr>
                    <a:solidFill>
                      <a:srgbClr val="FFFFFF"/>
                    </a:solidFill>
                  </a:tcPr>
                </a:tc>
                <a:tc>
                  <a:txBody>
                    <a:bodyPr/>
                    <a:lstStyle/>
                    <a:p>
                      <a:pPr algn="ctr">
                        <a:defRPr sz="1300">
                          <a:solidFill>
                            <a:srgbClr val="2C3E50"/>
                          </a:solidFill>
                          <a:latin typeface="微软雅黑"/>
                        </a:defRPr>
                      </a:pPr>
                      <a:r>
                        <a:t>/ˈsevənti/</a:t>
                      </a:r>
                    </a:p>
                  </a:txBody>
                  <a:tcPr>
                    <a:solidFill>
                      <a:srgbClr val="FFFFFF"/>
                    </a:solidFill>
                  </a:tcPr>
                </a:tc>
                <a:tc>
                  <a:txBody>
                    <a:bodyPr/>
                    <a:lstStyle/>
                    <a:p>
                      <a:pPr algn="ctr">
                        <a:defRPr sz="1300">
                          <a:solidFill>
                            <a:srgbClr val="2C3E50"/>
                          </a:solidFill>
                          <a:latin typeface="微软雅黑"/>
                        </a:defRPr>
                      </a:pPr>
                      <a:r>
                        <a:t>前(sev)</a:t>
                      </a:r>
                    </a:p>
                  </a:txBody>
                  <a:tcPr>
                    <a:solidFill>
                      <a:srgbClr val="FFFFFF"/>
                    </a:solidFill>
                  </a:tcPr>
                </a:tc>
              </a:tr>
              <a:tr h="514350">
                <a:tc>
                  <a:txBody>
                    <a:bodyPr/>
                    <a:lstStyle/>
                    <a:p>
                      <a:pPr algn="ctr">
                        <a:defRPr sz="1300">
                          <a:solidFill>
                            <a:srgbClr val="2C3E50"/>
                          </a:solidFill>
                          <a:latin typeface="微软雅黑"/>
                        </a:defRPr>
                      </a:pPr>
                      <a:r>
                        <a:t>18 eighteen</a:t>
                      </a:r>
                    </a:p>
                  </a:txBody>
                  <a:tcPr>
                    <a:solidFill>
                      <a:srgbClr val="EBF5FB"/>
                    </a:solidFill>
                  </a:tcPr>
                </a:tc>
                <a:tc>
                  <a:txBody>
                    <a:bodyPr/>
                    <a:lstStyle/>
                    <a:p>
                      <a:pPr algn="ctr">
                        <a:defRPr sz="1300">
                          <a:solidFill>
                            <a:srgbClr val="2C3E50"/>
                          </a:solidFill>
                          <a:latin typeface="微软雅黑"/>
                        </a:defRPr>
                      </a:pPr>
                      <a:r>
                        <a:t>/eɪˈtiːn/</a:t>
                      </a:r>
                    </a:p>
                  </a:txBody>
                  <a:tcPr>
                    <a:solidFill>
                      <a:srgbClr val="EBF5FB"/>
                    </a:solidFill>
                  </a:tcPr>
                </a:tc>
                <a:tc>
                  <a:txBody>
                    <a:bodyPr/>
                    <a:lstStyle/>
                    <a:p>
                      <a:pPr algn="ctr">
                        <a:defRPr sz="1300">
                          <a:solidFill>
                            <a:srgbClr val="2C3E50"/>
                          </a:solidFill>
                          <a:latin typeface="微软雅黑"/>
                        </a:defRPr>
                      </a:pPr>
                      <a:r>
                        <a:t>后(teen)</a:t>
                      </a:r>
                    </a:p>
                  </a:txBody>
                  <a:tcPr>
                    <a:solidFill>
                      <a:srgbClr val="EBF5FB"/>
                    </a:solidFill>
                  </a:tcPr>
                </a:tc>
                <a:tc>
                  <a:txBody>
                    <a:bodyPr/>
                    <a:lstStyle/>
                    <a:p>
                      <a:pPr algn="ctr">
                        <a:defRPr sz="1300">
                          <a:solidFill>
                            <a:srgbClr val="2C3E50"/>
                          </a:solidFill>
                          <a:latin typeface="微软雅黑"/>
                        </a:defRPr>
                      </a:pPr>
                      <a:r>
                        <a:t>80 eighty</a:t>
                      </a:r>
                    </a:p>
                  </a:txBody>
                  <a:tcPr>
                    <a:solidFill>
                      <a:srgbClr val="EBF5FB"/>
                    </a:solidFill>
                  </a:tcPr>
                </a:tc>
                <a:tc>
                  <a:txBody>
                    <a:bodyPr/>
                    <a:lstStyle/>
                    <a:p>
                      <a:pPr algn="ctr">
                        <a:defRPr sz="1300">
                          <a:solidFill>
                            <a:srgbClr val="2C3E50"/>
                          </a:solidFill>
                          <a:latin typeface="微软雅黑"/>
                        </a:defRPr>
                      </a:pPr>
                      <a:r>
                        <a:t>/ˈeɪti/</a:t>
                      </a:r>
                    </a:p>
                  </a:txBody>
                  <a:tcPr>
                    <a:solidFill>
                      <a:srgbClr val="EBF5FB"/>
                    </a:solidFill>
                  </a:tcPr>
                </a:tc>
                <a:tc>
                  <a:txBody>
                    <a:bodyPr/>
                    <a:lstStyle/>
                    <a:p>
                      <a:pPr algn="ctr">
                        <a:defRPr sz="1300">
                          <a:solidFill>
                            <a:srgbClr val="2C3E50"/>
                          </a:solidFill>
                          <a:latin typeface="微软雅黑"/>
                        </a:defRPr>
                      </a:pPr>
                      <a:r>
                        <a:t>前(eigh)</a:t>
                      </a:r>
                    </a:p>
                  </a:txBody>
                  <a:tcPr>
                    <a:solidFill>
                      <a:srgbClr val="EBF5FB"/>
                    </a:solidFill>
                  </a:tcPr>
                </a:tc>
              </a:tr>
              <a:tr h="514350">
                <a:tc>
                  <a:txBody>
                    <a:bodyPr/>
                    <a:lstStyle/>
                    <a:p>
                      <a:pPr algn="ctr">
                        <a:defRPr sz="1300">
                          <a:solidFill>
                            <a:srgbClr val="2C3E50"/>
                          </a:solidFill>
                          <a:latin typeface="微软雅黑"/>
                        </a:defRPr>
                      </a:pPr>
                      <a:r>
                        <a:t>19 nineteen</a:t>
                      </a:r>
                    </a:p>
                  </a:txBody>
                  <a:tcPr>
                    <a:solidFill>
                      <a:srgbClr val="FFFFFF"/>
                    </a:solidFill>
                  </a:tcPr>
                </a:tc>
                <a:tc>
                  <a:txBody>
                    <a:bodyPr/>
                    <a:lstStyle/>
                    <a:p>
                      <a:pPr algn="ctr">
                        <a:defRPr sz="1300">
                          <a:solidFill>
                            <a:srgbClr val="2C3E50"/>
                          </a:solidFill>
                          <a:latin typeface="微软雅黑"/>
                        </a:defRPr>
                      </a:pPr>
                      <a:r>
                        <a:t>/naɪnˈtiːn/</a:t>
                      </a:r>
                    </a:p>
                  </a:txBody>
                  <a:tcPr>
                    <a:solidFill>
                      <a:srgbClr val="FFFFFF"/>
                    </a:solidFill>
                  </a:tcPr>
                </a:tc>
                <a:tc>
                  <a:txBody>
                    <a:bodyPr/>
                    <a:lstStyle/>
                    <a:p>
                      <a:pPr algn="ctr">
                        <a:defRPr sz="1300">
                          <a:solidFill>
                            <a:srgbClr val="2C3E50"/>
                          </a:solidFill>
                          <a:latin typeface="微软雅黑"/>
                        </a:defRPr>
                      </a:pPr>
                      <a:r>
                        <a:t>后(teen)</a:t>
                      </a:r>
                    </a:p>
                  </a:txBody>
                  <a:tcPr>
                    <a:solidFill>
                      <a:srgbClr val="FFFFFF"/>
                    </a:solidFill>
                  </a:tcPr>
                </a:tc>
                <a:tc>
                  <a:txBody>
                    <a:bodyPr/>
                    <a:lstStyle/>
                    <a:p>
                      <a:pPr algn="ctr">
                        <a:defRPr sz="1300">
                          <a:solidFill>
                            <a:srgbClr val="2C3E50"/>
                          </a:solidFill>
                          <a:latin typeface="微软雅黑"/>
                        </a:defRPr>
                      </a:pPr>
                      <a:r>
                        <a:t>90 ninety</a:t>
                      </a:r>
                    </a:p>
                  </a:txBody>
                  <a:tcPr>
                    <a:solidFill>
                      <a:srgbClr val="FFFFFF"/>
                    </a:solidFill>
                  </a:tcPr>
                </a:tc>
                <a:tc>
                  <a:txBody>
                    <a:bodyPr/>
                    <a:lstStyle/>
                    <a:p>
                      <a:pPr algn="ctr">
                        <a:defRPr sz="1300">
                          <a:solidFill>
                            <a:srgbClr val="2C3E50"/>
                          </a:solidFill>
                          <a:latin typeface="微软雅黑"/>
                        </a:defRPr>
                      </a:pPr>
                      <a:r>
                        <a:t>/ˈnaɪnti/</a:t>
                      </a:r>
                    </a:p>
                  </a:txBody>
                  <a:tcPr>
                    <a:solidFill>
                      <a:srgbClr val="FFFFFF"/>
                    </a:solidFill>
                  </a:tcPr>
                </a:tc>
                <a:tc>
                  <a:txBody>
                    <a:bodyPr/>
                    <a:lstStyle/>
                    <a:p>
                      <a:pPr algn="ctr">
                        <a:defRPr sz="1300">
                          <a:solidFill>
                            <a:srgbClr val="2C3E50"/>
                          </a:solidFill>
                          <a:latin typeface="微软雅黑"/>
                        </a:defRPr>
                      </a:pPr>
                      <a:r>
                        <a:t>前(nine)</a:t>
                      </a:r>
                    </a:p>
                  </a:txBody>
                  <a:tcPr>
                    <a:solidFill>
                      <a:srgbClr val="FFFFFF"/>
                    </a:solidFill>
                  </a:tcPr>
                </a:tc>
              </a:tr>
            </a:tbl>
          </a:graphicData>
        </a:graphic>
      </p:graphicFrame>
      <p:sp>
        <p:nvSpPr>
          <p:cNvPr id="10" name="Rounded Rectangle 9"/>
          <p:cNvSpPr/>
          <p:nvPr/>
        </p:nvSpPr>
        <p:spPr>
          <a:xfrm>
            <a:off x="457200" y="5943600"/>
            <a:ext cx="8229600" cy="45720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1">
                <a:solidFill>
                  <a:srgbClr val="2C3E50"/>
                </a:solidFill>
                <a:latin typeface="微软雅黑"/>
              </a:defRPr>
            </a:pPr>
            <a:r>
              <a:t>记忆口诀：-teen 重音在后面，-ty 重音在前面！听到重音在后就选 teen 系列。</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3120"/>
              </a:lnSpc>
              <a:defRPr sz="2400" b="1">
                <a:solidFill>
                  <a:srgbClr val="FFFFFF"/>
                </a:solidFill>
                <a:latin typeface="微软雅黑"/>
              </a:defRPr>
            </a:pPr>
            <a:r>
              <a:t>Listening Simulation · 听力实战模拟</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560"/>
              </a:lnSpc>
              <a:defRPr sz="1200" b="0">
                <a:solidFill>
                  <a:srgbClr val="FFFFFF"/>
                </a:solidFill>
                <a:latin typeface="Arial"/>
              </a:defRPr>
            </a:pPr>
            <a:r>
              <a:t>Part 3 · Simulation</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170"/>
              </a:lnSpc>
              <a:defRPr sz="900" b="0">
                <a:solidFill>
                  <a:srgbClr val="FFFFFF"/>
                </a:solidFill>
                <a:latin typeface="微软雅黑"/>
              </a:defRPr>
            </a:pPr>
            <a:r>
              <a:t>Level 8A+ · 英文素养系统班 · 专题精讲(一)</a:t>
            </a:r>
          </a:p>
        </p:txBody>
      </p:sp>
      <p:sp>
        <p:nvSpPr>
          <p:cNvPr id="8" name="TextBox 7"/>
          <p:cNvSpPr txBox="1"/>
          <p:nvPr/>
        </p:nvSpPr>
        <p:spPr>
          <a:xfrm>
            <a:off x="457200" y="1097280"/>
            <a:ext cx="8229600" cy="457200"/>
          </a:xfrm>
          <a:prstGeom prst="rect">
            <a:avLst/>
          </a:prstGeom>
          <a:noFill/>
        </p:spPr>
        <p:txBody>
          <a:bodyPr wrap="square">
            <a:spAutoFit/>
          </a:bodyPr>
          <a:lstStyle/>
          <a:p>
            <a:pPr algn="l">
              <a:lnSpc>
                <a:spcPts val="2340"/>
              </a:lnSpc>
              <a:defRPr sz="1800" b="1">
                <a:solidFill>
                  <a:srgbClr val="27AE60"/>
                </a:solidFill>
                <a:latin typeface="微软雅黑"/>
              </a:defRPr>
            </a:pPr>
            <a:r>
              <a:t>模拟实战：请根据老师播放的对话，选择正确答案</a:t>
            </a:r>
          </a:p>
        </p:txBody>
      </p:sp>
      <p:sp>
        <p:nvSpPr>
          <p:cNvPr id="9" name="Rounded Rectangle 8"/>
          <p:cNvSpPr/>
          <p:nvPr/>
        </p:nvSpPr>
        <p:spPr>
          <a:xfrm>
            <a:off x="457200" y="1645920"/>
            <a:ext cx="1371600" cy="32004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64208"/>
            <a:ext cx="1371600" cy="301752"/>
          </a:xfrm>
          <a:prstGeom prst="rect">
            <a:avLst/>
          </a:prstGeom>
          <a:noFill/>
        </p:spPr>
        <p:txBody>
          <a:bodyPr wrap="square">
            <a:spAutoFit/>
          </a:bodyPr>
          <a:lstStyle/>
          <a:p>
            <a:pPr algn="ctr">
              <a:lnSpc>
                <a:spcPts val="1560"/>
              </a:lnSpc>
              <a:defRPr sz="1200" b="1">
                <a:solidFill>
                  <a:srgbClr val="FFFFFF"/>
                </a:solidFill>
                <a:latin typeface="Arial"/>
              </a:defRPr>
            </a:pPr>
            <a:r>
              <a:t>Situation 1</a:t>
            </a:r>
          </a:p>
        </p:txBody>
      </p:sp>
      <p:sp>
        <p:nvSpPr>
          <p:cNvPr id="11" name="Rounded Rectangle 10"/>
          <p:cNvSpPr/>
          <p:nvPr/>
        </p:nvSpPr>
        <p:spPr>
          <a:xfrm>
            <a:off x="457200" y="2103120"/>
            <a:ext cx="4114800" cy="1188720"/>
          </a:xfrm>
          <a:prstGeom prst="roundRect">
            <a:avLst/>
          </a:prstGeom>
          <a:solidFill>
            <a:srgbClr val="FDF2E9"/>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0">
                <a:solidFill>
                  <a:srgbClr val="2C3E50"/>
                </a:solidFill>
                <a:latin typeface="微软雅黑"/>
              </a:defRPr>
            </a:pPr>
            <a:r>
              <a:t>Teacher Script:</a:t>
            </a:r>
            <a:br/>
            <a:r>
              <a:t>M: The train leaves at 3:15.</a:t>
            </a:r>
            <a:br/>
            <a:r>
              <a:t>W: Oh no, it's already 2:45. We only have 30 minutes!</a:t>
            </a:r>
          </a:p>
        </p:txBody>
      </p:sp>
      <p:sp>
        <p:nvSpPr>
          <p:cNvPr id="12" name="Rounded Rectangle 11"/>
          <p:cNvSpPr/>
          <p:nvPr/>
        </p:nvSpPr>
        <p:spPr>
          <a:xfrm>
            <a:off x="4754880" y="2103120"/>
            <a:ext cx="4114800" cy="731520"/>
          </a:xfrm>
          <a:prstGeom prst="roundRect">
            <a:avLst/>
          </a:prstGeom>
          <a:solidFill>
            <a:srgbClr val="EBF5FB"/>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0">
                <a:solidFill>
                  <a:srgbClr val="2C3E50"/>
                </a:solidFill>
                <a:latin typeface="微软雅黑"/>
              </a:defRPr>
            </a:pPr>
            <a:r>
              <a:t>Q: When does the train leave?</a:t>
            </a:r>
            <a:br/>
            <a:r>
              <a:t>A. At 2:45  B. At 3:15  C. At 3:45</a:t>
            </a:r>
          </a:p>
        </p:txBody>
      </p:sp>
      <p:sp>
        <p:nvSpPr>
          <p:cNvPr id="13" name="Rounded Rectangle 12"/>
          <p:cNvSpPr/>
          <p:nvPr/>
        </p:nvSpPr>
        <p:spPr>
          <a:xfrm>
            <a:off x="4754880" y="2926080"/>
            <a:ext cx="4114800" cy="36576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2C3E50"/>
                </a:solidFill>
                <a:latin typeface="微软雅黑"/>
              </a:defRPr>
            </a:pPr>
            <a:r>
              <a:t>Answer: B. At 3:15</a:t>
            </a:r>
          </a:p>
        </p:txBody>
      </p:sp>
      <p:sp>
        <p:nvSpPr>
          <p:cNvPr id="14" name="Rounded Rectangle 13"/>
          <p:cNvSpPr/>
          <p:nvPr/>
        </p:nvSpPr>
        <p:spPr>
          <a:xfrm>
            <a:off x="457200" y="4206240"/>
            <a:ext cx="1371600" cy="32004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24528"/>
            <a:ext cx="1371600" cy="301752"/>
          </a:xfrm>
          <a:prstGeom prst="rect">
            <a:avLst/>
          </a:prstGeom>
          <a:noFill/>
        </p:spPr>
        <p:txBody>
          <a:bodyPr wrap="square">
            <a:spAutoFit/>
          </a:bodyPr>
          <a:lstStyle/>
          <a:p>
            <a:pPr algn="ctr">
              <a:lnSpc>
                <a:spcPts val="1560"/>
              </a:lnSpc>
              <a:defRPr sz="1200" b="1">
                <a:solidFill>
                  <a:srgbClr val="FFFFFF"/>
                </a:solidFill>
                <a:latin typeface="Arial"/>
              </a:defRPr>
            </a:pPr>
            <a:r>
              <a:t>Situation 2</a:t>
            </a:r>
          </a:p>
        </p:txBody>
      </p:sp>
      <p:sp>
        <p:nvSpPr>
          <p:cNvPr id="16" name="Rounded Rectangle 15"/>
          <p:cNvSpPr/>
          <p:nvPr/>
        </p:nvSpPr>
        <p:spPr>
          <a:xfrm>
            <a:off x="457200" y="4663440"/>
            <a:ext cx="4114800" cy="1188720"/>
          </a:xfrm>
          <a:prstGeom prst="roundRect">
            <a:avLst/>
          </a:prstGeom>
          <a:solidFill>
            <a:srgbClr val="FDF2E9"/>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0">
                <a:solidFill>
                  <a:srgbClr val="2C3E50"/>
                </a:solidFill>
                <a:latin typeface="微软雅黑"/>
              </a:defRPr>
            </a:pPr>
            <a:r>
              <a:t>Teacher Script:</a:t>
            </a:r>
            <a:br/>
            <a:r>
              <a:t>M: How much are these shoes?</a:t>
            </a:r>
            <a:br/>
            <a:r>
              <a:t>W: They are $80, but today we have a 50% discount.</a:t>
            </a:r>
          </a:p>
        </p:txBody>
      </p:sp>
      <p:sp>
        <p:nvSpPr>
          <p:cNvPr id="17" name="Rounded Rectangle 16"/>
          <p:cNvSpPr/>
          <p:nvPr/>
        </p:nvSpPr>
        <p:spPr>
          <a:xfrm>
            <a:off x="4754880" y="4663440"/>
            <a:ext cx="4114800" cy="731520"/>
          </a:xfrm>
          <a:prstGeom prst="roundRect">
            <a:avLst/>
          </a:prstGeom>
          <a:solidFill>
            <a:srgbClr val="EBF5FB"/>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0">
                <a:solidFill>
                  <a:srgbClr val="2C3E50"/>
                </a:solidFill>
                <a:latin typeface="微软雅黑"/>
              </a:defRPr>
            </a:pPr>
            <a:r>
              <a:t>Q: How much will the man pay?</a:t>
            </a:r>
            <a:br/>
            <a:r>
              <a:t>A. $80  B. $40  C. $50</a:t>
            </a:r>
          </a:p>
        </p:txBody>
      </p:sp>
      <p:sp>
        <p:nvSpPr>
          <p:cNvPr id="18" name="Rounded Rectangle 17"/>
          <p:cNvSpPr/>
          <p:nvPr/>
        </p:nvSpPr>
        <p:spPr>
          <a:xfrm>
            <a:off x="4754880" y="5486400"/>
            <a:ext cx="4114800" cy="365760"/>
          </a:xfrm>
          <a:prstGeom prst="roundRect">
            <a:avLst/>
          </a:prstGeom>
          <a:solidFill>
            <a:srgbClr val="E8F8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2C3E50"/>
                </a:solidFill>
                <a:latin typeface="微软雅黑"/>
              </a:defRPr>
            </a:pPr>
            <a:r>
              <a:t>Answer: B. $40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3120"/>
              </a:lnSpc>
              <a:defRPr sz="2400" b="1">
                <a:solidFill>
                  <a:srgbClr val="FFFFFF"/>
                </a:solidFill>
                <a:latin typeface="微软雅黑"/>
              </a:defRPr>
            </a:pPr>
            <a:r>
              <a:t>Knowledge Link · L1-L2 知识衔接</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560"/>
              </a:lnSpc>
              <a:defRPr sz="1200" b="0">
                <a:solidFill>
                  <a:srgbClr val="FFFFFF"/>
                </a:solidFill>
                <a:latin typeface="Arial"/>
              </a:defRPr>
            </a:pPr>
            <a:r>
              <a:t>Review</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170"/>
              </a:lnSpc>
              <a:defRPr sz="900" b="0">
                <a:solidFill>
                  <a:srgbClr val="FFFFFF"/>
                </a:solidFill>
                <a:latin typeface="微软雅黑"/>
              </a:defRPr>
            </a:pPr>
            <a:r>
              <a:t>Level 8A+ · 英文素养系统班 · 专题精讲(一)</a:t>
            </a:r>
          </a:p>
        </p:txBody>
      </p:sp>
      <p:sp>
        <p:nvSpPr>
          <p:cNvPr id="8" name="TextBox 7"/>
          <p:cNvSpPr txBox="1"/>
          <p:nvPr/>
        </p:nvSpPr>
        <p:spPr>
          <a:xfrm>
            <a:off x="457200" y="1097280"/>
            <a:ext cx="8229600" cy="457200"/>
          </a:xfrm>
          <a:prstGeom prst="rect">
            <a:avLst/>
          </a:prstGeom>
          <a:noFill/>
        </p:spPr>
        <p:txBody>
          <a:bodyPr wrap="square">
            <a:spAutoFit/>
          </a:bodyPr>
          <a:lstStyle/>
          <a:p>
            <a:pPr algn="l">
              <a:lnSpc>
                <a:spcPts val="2600"/>
              </a:lnSpc>
              <a:defRPr sz="2000" b="1">
                <a:solidFill>
                  <a:srgbClr val="1B3A5C"/>
                </a:solidFill>
                <a:latin typeface="微软雅黑"/>
              </a:defRPr>
            </a:pPr>
            <a:r>
              <a:t>L1 vs L2 不定代词知识体系</a:t>
            </a:r>
          </a:p>
        </p:txBody>
      </p:sp>
      <p:sp>
        <p:nvSpPr>
          <p:cNvPr id="9" name="Rounded Rectangle 8"/>
          <p:cNvSpPr/>
          <p:nvPr/>
        </p:nvSpPr>
        <p:spPr>
          <a:xfrm>
            <a:off x="274320" y="1645920"/>
            <a:ext cx="4114800" cy="4114800"/>
          </a:xfrm>
          <a:prstGeom prst="roundRect">
            <a:avLst/>
          </a:prstGeom>
          <a:solidFill>
            <a:srgbClr val="FFFFFF"/>
          </a:solidFill>
          <a:ln w="2540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1828800"/>
            <a:ext cx="2286000" cy="41148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856231"/>
            <a:ext cx="2286000" cy="365760"/>
          </a:xfrm>
          <a:prstGeom prst="rect">
            <a:avLst/>
          </a:prstGeom>
          <a:noFill/>
        </p:spPr>
        <p:txBody>
          <a:bodyPr wrap="square">
            <a:spAutoFit/>
          </a:bodyPr>
          <a:lstStyle/>
          <a:p>
            <a:pPr algn="ctr">
              <a:lnSpc>
                <a:spcPts val="1820"/>
              </a:lnSpc>
              <a:defRPr sz="1400" b="1">
                <a:solidFill>
                  <a:srgbClr val="FFFFFF"/>
                </a:solidFill>
                <a:latin typeface="微软雅黑"/>
              </a:defRPr>
            </a:pPr>
            <a:r>
              <a:t>L1 已学内容</a:t>
            </a:r>
          </a:p>
        </p:txBody>
      </p:sp>
      <p:sp>
        <p:nvSpPr>
          <p:cNvPr id="12" name="TextBox 11"/>
          <p:cNvSpPr txBox="1"/>
          <p:nvPr/>
        </p:nvSpPr>
        <p:spPr>
          <a:xfrm>
            <a:off x="548640" y="2377440"/>
            <a:ext cx="3566160" cy="3200400"/>
          </a:xfrm>
          <a:prstGeom prst="rect">
            <a:avLst/>
          </a:prstGeom>
          <a:noFill/>
        </p:spPr>
        <p:txBody>
          <a:bodyPr wrap="square">
            <a:spAutoFit/>
          </a:bodyPr>
          <a:lstStyle/>
          <a:p>
            <a:pPr>
              <a:lnSpc>
                <a:spcPts val="1950"/>
              </a:lnSpc>
            </a:pPr>
            <a:r>
              <a:rPr sz="1300" b="1">
                <a:solidFill>
                  <a:srgbClr val="2B5797"/>
                </a:solidFill>
                <a:latin typeface="Arial"/>
              </a:rPr>
              <a:t>● </a:t>
            </a:r>
            <a:r>
              <a:rPr sz="1300">
                <a:solidFill>
                  <a:srgbClr val="2C3E50"/>
                </a:solidFill>
                <a:latin typeface="微软雅黑"/>
              </a:rPr>
              <a:t>复合不定代词概念</a:t>
            </a:r>
          </a:p>
          <a:p>
            <a:pPr>
              <a:lnSpc>
                <a:spcPts val="1950"/>
              </a:lnSpc>
            </a:pPr>
            <a:r>
              <a:rPr sz="1300" b="1">
                <a:solidFill>
                  <a:srgbClr val="2B5797"/>
                </a:solidFill>
                <a:latin typeface="Arial"/>
              </a:rPr>
              <a:t>● </a:t>
            </a:r>
            <a:r>
              <a:rPr sz="1300">
                <a:solidFill>
                  <a:srgbClr val="2C3E50"/>
                </a:solidFill>
                <a:latin typeface="微软雅黑"/>
              </a:rPr>
              <a:t>some-/any-/every-/no- 构成</a:t>
            </a:r>
          </a:p>
          <a:p>
            <a:pPr>
              <a:lnSpc>
                <a:spcPts val="1950"/>
              </a:lnSpc>
            </a:pPr>
            <a:r>
              <a:rPr sz="1300" b="1">
                <a:solidFill>
                  <a:srgbClr val="2B5797"/>
                </a:solidFill>
                <a:latin typeface="Arial"/>
              </a:rPr>
              <a:t>● </a:t>
            </a:r>
            <a:r>
              <a:rPr sz="1300">
                <a:solidFill>
                  <a:srgbClr val="2C3E50"/>
                </a:solidFill>
                <a:latin typeface="微软雅黑"/>
              </a:rPr>
              <a:t>形容词后置修饰</a:t>
            </a:r>
          </a:p>
          <a:p>
            <a:pPr>
              <a:lnSpc>
                <a:spcPts val="1950"/>
              </a:lnSpc>
            </a:pPr>
            <a:r>
              <a:rPr sz="1300" b="1">
                <a:solidFill>
                  <a:srgbClr val="2B5797"/>
                </a:solidFill>
                <a:latin typeface="Arial"/>
              </a:rPr>
              <a:t>● </a:t>
            </a:r>
            <a:r>
              <a:rPr sz="1300">
                <a:solidFill>
                  <a:srgbClr val="2C3E50"/>
                </a:solidFill>
                <a:latin typeface="微软雅黑"/>
              </a:rPr>
              <a:t>肯定句用 some，否疑用 any</a:t>
            </a:r>
          </a:p>
        </p:txBody>
      </p:sp>
      <p:sp>
        <p:nvSpPr>
          <p:cNvPr id="13" name="TextBox 12"/>
          <p:cNvSpPr txBox="1"/>
          <p:nvPr/>
        </p:nvSpPr>
        <p:spPr>
          <a:xfrm>
            <a:off x="4114800" y="3200400"/>
            <a:ext cx="914400" cy="457200"/>
          </a:xfrm>
          <a:prstGeom prst="rect">
            <a:avLst/>
          </a:prstGeom>
          <a:noFill/>
        </p:spPr>
        <p:txBody>
          <a:bodyPr wrap="square">
            <a:spAutoFit/>
          </a:bodyPr>
          <a:lstStyle/>
          <a:p>
            <a:pPr algn="ctr">
              <a:lnSpc>
                <a:spcPts val="4680"/>
              </a:lnSpc>
              <a:defRPr sz="3600" b="1">
                <a:solidFill>
                  <a:srgbClr val="F39C12"/>
                </a:solidFill>
                <a:latin typeface="Arial"/>
              </a:defRPr>
            </a:pPr>
            <a:r>
              <a:t>→</a:t>
            </a:r>
          </a:p>
        </p:txBody>
      </p:sp>
      <p:sp>
        <p:nvSpPr>
          <p:cNvPr id="14" name="Rounded Rectangle 13"/>
          <p:cNvSpPr/>
          <p:nvPr/>
        </p:nvSpPr>
        <p:spPr>
          <a:xfrm>
            <a:off x="4754880" y="1645920"/>
            <a:ext cx="4114800" cy="4114800"/>
          </a:xfrm>
          <a:prstGeom prst="roundRect">
            <a:avLst/>
          </a:prstGeom>
          <a:solidFill>
            <a:srgbClr val="FFFFFF"/>
          </a:solid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37760" y="1828800"/>
            <a:ext cx="2286000" cy="411480"/>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0" y="1856231"/>
            <a:ext cx="2286000" cy="365760"/>
          </a:xfrm>
          <a:prstGeom prst="rect">
            <a:avLst/>
          </a:prstGeom>
          <a:noFill/>
        </p:spPr>
        <p:txBody>
          <a:bodyPr wrap="square">
            <a:spAutoFit/>
          </a:bodyPr>
          <a:lstStyle/>
          <a:p>
            <a:pPr algn="ctr">
              <a:lnSpc>
                <a:spcPts val="1820"/>
              </a:lnSpc>
              <a:defRPr sz="1400" b="1">
                <a:solidFill>
                  <a:srgbClr val="FFFFFF"/>
                </a:solidFill>
                <a:latin typeface="微软雅黑"/>
              </a:defRPr>
            </a:pPr>
            <a:r>
              <a:t>L2 新增内容</a:t>
            </a:r>
          </a:p>
        </p:txBody>
      </p:sp>
      <p:sp>
        <p:nvSpPr>
          <p:cNvPr id="17" name="TextBox 16"/>
          <p:cNvSpPr txBox="1"/>
          <p:nvPr/>
        </p:nvSpPr>
        <p:spPr>
          <a:xfrm>
            <a:off x="5029200" y="2377440"/>
            <a:ext cx="3566160" cy="3200400"/>
          </a:xfrm>
          <a:prstGeom prst="rect">
            <a:avLst/>
          </a:prstGeom>
          <a:noFill/>
        </p:spPr>
        <p:txBody>
          <a:bodyPr wrap="square">
            <a:spAutoFit/>
          </a:bodyPr>
          <a:lstStyle/>
          <a:p>
            <a:pPr>
              <a:lnSpc>
                <a:spcPts val="1950"/>
              </a:lnSpc>
            </a:pPr>
            <a:r>
              <a:rPr sz="1300" b="1">
                <a:solidFill>
                  <a:srgbClr val="8E44AD"/>
                </a:solidFill>
                <a:latin typeface="Arial"/>
              </a:rPr>
              <a:t>● </a:t>
            </a:r>
            <a:r>
              <a:rPr sz="1300">
                <a:solidFill>
                  <a:srgbClr val="2C3E50"/>
                </a:solidFill>
                <a:latin typeface="微软雅黑"/>
              </a:rPr>
              <a:t>22 PK 33 对照体系</a:t>
            </a:r>
          </a:p>
          <a:p>
            <a:pPr>
              <a:lnSpc>
                <a:spcPts val="1950"/>
              </a:lnSpc>
            </a:pPr>
            <a:r>
              <a:rPr sz="1300" b="1">
                <a:solidFill>
                  <a:srgbClr val="8E44AD"/>
                </a:solidFill>
                <a:latin typeface="Arial"/>
              </a:rPr>
              <a:t>● </a:t>
            </a:r>
            <a:r>
              <a:rPr sz="1300">
                <a:solidFill>
                  <a:srgbClr val="2C3E50"/>
                </a:solidFill>
                <a:latin typeface="微软雅黑"/>
              </a:rPr>
              <a:t>普通不定代词用法</a:t>
            </a:r>
          </a:p>
          <a:p>
            <a:pPr>
              <a:lnSpc>
                <a:spcPts val="1950"/>
              </a:lnSpc>
            </a:pPr>
            <a:r>
              <a:rPr sz="1300" b="1">
                <a:solidFill>
                  <a:srgbClr val="8E44AD"/>
                </a:solidFill>
                <a:latin typeface="Arial"/>
              </a:rPr>
              <a:t>● </a:t>
            </a:r>
            <a:r>
              <a:rPr sz="1300">
                <a:solidFill>
                  <a:srgbClr val="2C3E50"/>
                </a:solidFill>
                <a:latin typeface="微软雅黑"/>
              </a:rPr>
              <a:t>不定代词 vs 并列连词</a:t>
            </a:r>
          </a:p>
          <a:p>
            <a:pPr>
              <a:lnSpc>
                <a:spcPts val="1950"/>
              </a:lnSpc>
            </a:pPr>
            <a:r>
              <a:rPr sz="1300" b="1">
                <a:solidFill>
                  <a:srgbClr val="8E44AD"/>
                </a:solidFill>
                <a:latin typeface="Arial"/>
              </a:rPr>
              <a:t>● </a:t>
            </a:r>
            <a:r>
              <a:rPr sz="1300">
                <a:solidFill>
                  <a:srgbClr val="2C3E50"/>
                </a:solidFill>
                <a:latin typeface="微软雅黑"/>
              </a:rPr>
              <a:t>no-类区分 &amp; other系列</a:t>
            </a:r>
          </a:p>
          <a:p>
            <a:pPr>
              <a:lnSpc>
                <a:spcPts val="1950"/>
              </a:lnSpc>
            </a:pPr>
            <a:r>
              <a:rPr sz="1300" b="1">
                <a:solidFill>
                  <a:srgbClr val="8E44AD"/>
                </a:solidFill>
                <a:latin typeface="Arial"/>
              </a:rPr>
              <a:t>● </a:t>
            </a:r>
            <a:r>
              <a:rPr sz="1300">
                <a:solidFill>
                  <a:srgbClr val="2C3E50"/>
                </a:solidFill>
                <a:latin typeface="微软雅黑"/>
              </a:rPr>
              <a:t>部分否定 vs 全部否定</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94360"/>
          </a:xfrm>
          <a:prstGeom prst="rect">
            <a:avLst/>
          </a:prstGeom>
          <a:noFill/>
        </p:spPr>
        <p:txBody>
          <a:bodyPr wrap="square">
            <a:spAutoFit/>
          </a:bodyPr>
          <a:lstStyle/>
          <a:p>
            <a:pPr algn="l">
              <a:lnSpc>
                <a:spcPts val="3120"/>
              </a:lnSpc>
              <a:defRPr sz="2400" b="1">
                <a:solidFill>
                  <a:srgbClr val="FFFFFF"/>
                </a:solidFill>
                <a:latin typeface="微软雅黑"/>
              </a:defRPr>
            </a:pPr>
            <a:r>
              <a:t>Mind Map · 思维导图</a:t>
            </a:r>
          </a:p>
        </p:txBody>
      </p:sp>
      <p:sp>
        <p:nvSpPr>
          <p:cNvPr id="4" name="TextBox 3"/>
          <p:cNvSpPr txBox="1"/>
          <p:nvPr/>
        </p:nvSpPr>
        <p:spPr>
          <a:xfrm>
            <a:off x="6400800" y="182880"/>
            <a:ext cx="2560320" cy="457200"/>
          </a:xfrm>
          <a:prstGeom prst="rect">
            <a:avLst/>
          </a:prstGeom>
          <a:noFill/>
        </p:spPr>
        <p:txBody>
          <a:bodyPr wrap="square">
            <a:spAutoFit/>
          </a:bodyPr>
          <a:lstStyle/>
          <a:p>
            <a:pPr algn="r">
              <a:lnSpc>
                <a:spcPts val="1560"/>
              </a:lnSpc>
              <a:defRPr sz="1200" b="0">
                <a:solidFill>
                  <a:srgbClr val="FFFFFF"/>
                </a:solidFill>
                <a:latin typeface="Arial"/>
              </a:defRPr>
            </a:pPr>
            <a:r>
              <a:t>L2 Summary</a:t>
            </a:r>
          </a:p>
        </p:txBody>
      </p:sp>
      <p:sp>
        <p:nvSpPr>
          <p:cNvPr id="5" name="Rectangle 4"/>
          <p:cNvSpPr/>
          <p:nvPr/>
        </p:nvSpPr>
        <p:spPr>
          <a:xfrm>
            <a:off x="0" y="822960"/>
            <a:ext cx="91440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914400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0"/>
            <a:ext cx="4572000" cy="274320"/>
          </a:xfrm>
          <a:prstGeom prst="rect">
            <a:avLst/>
          </a:prstGeom>
          <a:noFill/>
        </p:spPr>
        <p:txBody>
          <a:bodyPr wrap="square">
            <a:spAutoFit/>
          </a:bodyPr>
          <a:lstStyle/>
          <a:p>
            <a:pPr algn="l">
              <a:lnSpc>
                <a:spcPts val="1170"/>
              </a:lnSpc>
              <a:defRPr sz="900" b="0">
                <a:solidFill>
                  <a:srgbClr val="FFFFFF"/>
                </a:solidFill>
                <a:latin typeface="微软雅黑"/>
              </a:defRPr>
            </a:pPr>
            <a:r>
              <a:t>Level 8A+ · 英文素养系统班 · 专题精讲(一)</a:t>
            </a:r>
          </a:p>
        </p:txBody>
      </p:sp>
      <p:sp>
        <p:nvSpPr>
          <p:cNvPr id="8" name="TextBox 7"/>
          <p:cNvSpPr txBox="1"/>
          <p:nvPr/>
        </p:nvSpPr>
        <p:spPr>
          <a:xfrm>
            <a:off x="457200" y="1097280"/>
            <a:ext cx="8229600" cy="457200"/>
          </a:xfrm>
          <a:prstGeom prst="rect">
            <a:avLst/>
          </a:prstGeom>
          <a:noFill/>
        </p:spPr>
        <p:txBody>
          <a:bodyPr wrap="square">
            <a:spAutoFit/>
          </a:bodyPr>
          <a:lstStyle/>
          <a:p>
            <a:pPr algn="l">
              <a:lnSpc>
                <a:spcPts val="2860"/>
              </a:lnSpc>
              <a:defRPr sz="2200" b="1">
                <a:solidFill>
                  <a:srgbClr val="1B3A5C"/>
                </a:solidFill>
                <a:latin typeface="微软雅黑"/>
              </a:defRPr>
            </a:pPr>
            <a:r>
              <a:t>L2 不定代词知识思维导图</a:t>
            </a:r>
          </a:p>
        </p:txBody>
      </p:sp>
      <p:sp>
        <p:nvSpPr>
          <p:cNvPr id="9" name="Oval 8"/>
          <p:cNvSpPr/>
          <p:nvPr/>
        </p:nvSpPr>
        <p:spPr>
          <a:xfrm>
            <a:off x="3474720" y="2743200"/>
            <a:ext cx="2194560" cy="137160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3017520"/>
            <a:ext cx="2194560" cy="822960"/>
          </a:xfrm>
          <a:prstGeom prst="rect">
            <a:avLst/>
          </a:prstGeom>
          <a:noFill/>
        </p:spPr>
        <p:txBody>
          <a:bodyPr wrap="square">
            <a:spAutoFit/>
          </a:bodyPr>
          <a:lstStyle/>
          <a:p>
            <a:pPr algn="ctr">
              <a:lnSpc>
                <a:spcPts val="2080"/>
              </a:lnSpc>
              <a:defRPr sz="1600" b="1">
                <a:solidFill>
                  <a:srgbClr val="FFFFFF"/>
                </a:solidFill>
                <a:latin typeface="微软雅黑"/>
              </a:defRPr>
            </a:pPr>
            <a:r>
              <a:t>不定代词</a:t>
            </a:r>
            <a:br/>
            <a:r>
              <a:t>Pronouns</a:t>
            </a:r>
          </a:p>
        </p:txBody>
      </p:sp>
      <p:sp>
        <p:nvSpPr>
          <p:cNvPr id="11" name="Rounded Rectangle 10"/>
          <p:cNvSpPr/>
          <p:nvPr/>
        </p:nvSpPr>
        <p:spPr>
          <a:xfrm>
            <a:off x="457200" y="1645920"/>
            <a:ext cx="2286000" cy="109728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737360"/>
            <a:ext cx="2286000" cy="914400"/>
          </a:xfrm>
          <a:prstGeom prst="rect">
            <a:avLst/>
          </a:prstGeom>
          <a:noFill/>
        </p:spPr>
        <p:txBody>
          <a:bodyPr wrap="square">
            <a:spAutoFit/>
          </a:bodyPr>
          <a:lstStyle/>
          <a:p>
            <a:pPr algn="ctr">
              <a:lnSpc>
                <a:spcPts val="1560"/>
              </a:lnSpc>
              <a:defRPr sz="1200" b="1">
                <a:solidFill>
                  <a:srgbClr val="FFFFFF"/>
                </a:solidFill>
                <a:latin typeface="微软雅黑"/>
              </a:defRPr>
            </a:pPr>
            <a:r>
              <a:t>22组</a:t>
            </a:r>
            <a:br/>
            <a:r>
              <a:t>both/either</a:t>
            </a:r>
            <a:br/>
            <a:r>
              <a:t>/neither</a:t>
            </a:r>
          </a:p>
        </p:txBody>
      </p:sp>
      <p:sp>
        <p:nvSpPr>
          <p:cNvPr id="13" name="Rounded Rectangle 12"/>
          <p:cNvSpPr/>
          <p:nvPr/>
        </p:nvSpPr>
        <p:spPr>
          <a:xfrm>
            <a:off x="6583680" y="1645920"/>
            <a:ext cx="2286000" cy="1097280"/>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1737360"/>
            <a:ext cx="2286000" cy="914400"/>
          </a:xfrm>
          <a:prstGeom prst="rect">
            <a:avLst/>
          </a:prstGeom>
          <a:noFill/>
        </p:spPr>
        <p:txBody>
          <a:bodyPr wrap="square">
            <a:spAutoFit/>
          </a:bodyPr>
          <a:lstStyle/>
          <a:p>
            <a:pPr algn="ctr">
              <a:lnSpc>
                <a:spcPts val="1560"/>
              </a:lnSpc>
              <a:defRPr sz="1200" b="1">
                <a:solidFill>
                  <a:srgbClr val="FFFFFF"/>
                </a:solidFill>
                <a:latin typeface="微软雅黑"/>
              </a:defRPr>
            </a:pPr>
            <a:r>
              <a:t>33组</a:t>
            </a:r>
            <a:br/>
            <a:r>
              <a:t>all/any</a:t>
            </a:r>
            <a:br/>
            <a:r>
              <a:t>/none</a:t>
            </a:r>
          </a:p>
        </p:txBody>
      </p:sp>
      <p:sp>
        <p:nvSpPr>
          <p:cNvPr id="15" name="Rounded Rectangle 14"/>
          <p:cNvSpPr/>
          <p:nvPr/>
        </p:nvSpPr>
        <p:spPr>
          <a:xfrm>
            <a:off x="274320" y="4389120"/>
            <a:ext cx="2286000" cy="109728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4480560"/>
            <a:ext cx="2286000" cy="914400"/>
          </a:xfrm>
          <a:prstGeom prst="rect">
            <a:avLst/>
          </a:prstGeom>
          <a:noFill/>
        </p:spPr>
        <p:txBody>
          <a:bodyPr wrap="square">
            <a:spAutoFit/>
          </a:bodyPr>
          <a:lstStyle/>
          <a:p>
            <a:pPr algn="ctr">
              <a:lnSpc>
                <a:spcPts val="1560"/>
              </a:lnSpc>
              <a:defRPr sz="1200" b="1">
                <a:solidFill>
                  <a:srgbClr val="FFFFFF"/>
                </a:solidFill>
                <a:latin typeface="微软雅黑"/>
              </a:defRPr>
            </a:pPr>
            <a:r>
              <a:t>no-类</a:t>
            </a:r>
            <a:br/>
            <a:r>
              <a:t>nobody/nothing</a:t>
            </a:r>
            <a:br/>
            <a:r>
              <a:t>/none</a:t>
            </a:r>
          </a:p>
        </p:txBody>
      </p:sp>
      <p:sp>
        <p:nvSpPr>
          <p:cNvPr id="17" name="Rounded Rectangle 16"/>
          <p:cNvSpPr/>
          <p:nvPr/>
        </p:nvSpPr>
        <p:spPr>
          <a:xfrm>
            <a:off x="6400800" y="4389120"/>
            <a:ext cx="2286000" cy="109728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480560"/>
            <a:ext cx="2286000" cy="914400"/>
          </a:xfrm>
          <a:prstGeom prst="rect">
            <a:avLst/>
          </a:prstGeom>
          <a:noFill/>
        </p:spPr>
        <p:txBody>
          <a:bodyPr wrap="square">
            <a:spAutoFit/>
          </a:bodyPr>
          <a:lstStyle/>
          <a:p>
            <a:pPr algn="ctr">
              <a:lnSpc>
                <a:spcPts val="1560"/>
              </a:lnSpc>
              <a:defRPr sz="1200" b="1">
                <a:solidFill>
                  <a:srgbClr val="FFFFFF"/>
                </a:solidFill>
                <a:latin typeface="微软雅黑"/>
              </a:defRPr>
            </a:pPr>
            <a:r>
              <a:t>other系列</a:t>
            </a:r>
            <a:br/>
            <a:r>
              <a:t>other/another</a:t>
            </a:r>
            <a:br/>
            <a:r>
              <a:t>/the other</a:t>
            </a:r>
          </a:p>
        </p:txBody>
      </p:sp>
      <p:sp>
        <p:nvSpPr>
          <p:cNvPr id="19" name="Rounded Rectangle 18"/>
          <p:cNvSpPr/>
          <p:nvPr/>
        </p:nvSpPr>
        <p:spPr>
          <a:xfrm>
            <a:off x="3200400" y="5029200"/>
            <a:ext cx="2286000" cy="109728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0" y="5120640"/>
            <a:ext cx="2286000" cy="914400"/>
          </a:xfrm>
          <a:prstGeom prst="rect">
            <a:avLst/>
          </a:prstGeom>
          <a:noFill/>
        </p:spPr>
        <p:txBody>
          <a:bodyPr wrap="square">
            <a:spAutoFit/>
          </a:bodyPr>
          <a:lstStyle/>
          <a:p>
            <a:pPr algn="ctr">
              <a:lnSpc>
                <a:spcPts val="1560"/>
              </a:lnSpc>
              <a:defRPr sz="1200" b="1">
                <a:solidFill>
                  <a:srgbClr val="FFFFFF"/>
                </a:solidFill>
                <a:latin typeface="微软雅黑"/>
              </a:defRPr>
            </a:pPr>
            <a:r>
              <a:t>并列连词</a:t>
            </a:r>
            <a:br/>
            <a:r>
              <a:t>both...and</a:t>
            </a:r>
            <a:br/>
            <a:r>
              <a:t>either...or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